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960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Microsoft Learn: Welcome to .NET — https://learn.microsoft.com/en-us/dotnet/welcome
- Microsoft Learn: .NET documentation — https://learn.microsoft.com/en-us/dotnet/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Microsoft Learn: Build apps with .NET — https://learn.microsoft.com/en-us/dotnet/core/apps
- Microsoft Learn: What you can build with C# — https://learn.microsoft.com/en-us/dotnet/csharp/tour-of-csharp/what-you-can-build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Microsoft Learn: .NET Managed languages strategy — https://learn.microsoft.com/en-us/dotnet/fundamentals/languages
- Microsoft Learn: Visual Basic documentation — https://learn.microsoft.com/en-us/dotnet/visual-basic/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Microsoft Learn: A tour of the C# language — overview — https://learn.microsoft.com/en-us/dotnet/csharp/tour-of-csharp/overview
- Microsoft Learn: C# language documentation — https://learn.microsoft.com/en-us/dotnet/csharp/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Microsoft Learn: General structure of a C# program — https://learn.microsoft.com/en-us/dotnet/csharp/fundamentals/program-structure/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Microsoft Learn: C# fundamentals and tutorials — https://learn.microsoft.com/en-us/dotnet/csharp/tour-of-csharp/tutorials/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Microsoft Learn: ASP.NET Core fundamentals overview — https://learn.microsoft.com/en-us/aspnet/core/fundamentals/?view=aspnetcore-10.0
- Microsoft Learn: C# tutorials and fundamentals — https://learn.microsoft.com/en-us/dotnet/csharp/tour-of-csharp/tutorials/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Microsoft Learn: Create a controller-based web API with ASP.NET Core — https://learn.microsoft.com/en-us/aspnet/core/tutorials/first-web-api?view=aspnetcore-10.0
- Microsoft Learn: Create web APIs with ASP.NET Core — https://learn.microsoft.com/en-us/aspnet/core/web-api/?view=aspnetcore-10.0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Microsoft Learn: APIs overview — https://learn.microsoft.com/en-us/aspnet/core/fundamentals/apis?view=aspnetcore-10.0
- Microsoft Learn: Create web APIs with ASP.NET Core — https://learn.microsoft.com/en-us/aspnet/core/web-api/?view=aspnetcore-10.0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Microsoft Learn: Create web APIs with ASP.NET Core — https://learn.microsoft.com/en-us/aspnet/core/web-api/?view=aspnetcore-10.0
- Microsoft Learn: ASP.NET APIs overview — https://learn.microsoft.com/en-us/aspnet/core/fundamentals/apis?view=aspnetcore-10.0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5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713232"/>
            <a:ext cx="5120640" cy="4892040"/>
          </a:xfrm>
          <a:prstGeom prst="roundRect">
            <a:avLst>
              <a:gd name="adj" fmla="val 1495"/>
            </a:avLst>
          </a:prstGeom>
          <a:solidFill>
            <a:srgbClr val="1E293B"/>
          </a:solidFill>
          <a:ln w="19050">
            <a:solidFill>
              <a:srgbClr val="2563EB">
                <a:alpha val="40000"/>
              </a:srgbClr>
            </a:solidFill>
            <a:prstDash val="solid"/>
          </a:ln>
          <a:effectLst>
            <a:outerShdw blurRad="22860" dist="1651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688" y="1078992"/>
            <a:ext cx="438912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0" y="91440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96926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355080" y="14173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.NET and C# Fundamentals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6355080" y="21488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A visual foundation for web API training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55080" y="2743200"/>
            <a:ext cx="521208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Understand the .NET platform and what it can build
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See the main languages that run on .NET and why C# is the focus
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Learn C# basics that matter for web APIs
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Trace controller and Minimal API flow with code callouts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355080" y="5349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201400" y="662025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.NET?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5039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of .NET as the application platform and runtime that lets you build many styles of software with a shared ecosystem.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464040" y="3840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6B6D4"/>
                </a:solidFill>
              </a:rPr>
              <a:t>.NET Fundamentals Companion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E293B">
              <a:alpha val="96000"/>
            </a:srgbClr>
          </a:solidFill>
          <a:ln w="15240">
            <a:solidFill>
              <a:srgbClr val="06B6D4">
                <a:alpha val="40000"/>
              </a:srgbClr>
            </a:solidFill>
            <a:prstDash val="solid"/>
          </a:ln>
          <a:effectLst>
            <a:outerShdw blurRad="17780" dist="1524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808" y="1481328"/>
            <a:ext cx="941832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73936" y="1499616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Platform + runtime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773936" y="1773936"/>
            <a:ext cx="235000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Provides the runtime, core libraries, SDK, tooling, and workloads used to build and run apps.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89120" y="13716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E293B">
              <a:alpha val="96000"/>
            </a:srgbClr>
          </a:solidFill>
          <a:ln w="15240">
            <a:solidFill>
              <a:srgbClr val="10B981">
                <a:alpha val="40000"/>
              </a:srgbClr>
            </a:solidFill>
            <a:prstDash val="solid"/>
          </a:ln>
          <a:effectLst>
            <a:outerShdw blurRad="17780" dist="1524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8848" y="1481328"/>
            <a:ext cx="941832" cy="731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22976" y="1499616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One ecosystem, many workloads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522976" y="1773936"/>
            <a:ext cx="235000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The same platform can power console tools, web APIs, websites, desktop apps, services, cloud apps, mobile, and more.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38160" y="13716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1E293B">
              <a:alpha val="96000"/>
            </a:srgbClr>
          </a:solidFill>
          <a:ln w="15240">
            <a:solidFill>
              <a:srgbClr val="F59E0B">
                <a:alpha val="40000"/>
              </a:srgbClr>
            </a:solidFill>
            <a:prstDash val="solid"/>
          </a:ln>
          <a:effectLst>
            <a:outerShdw blurRad="17780" dist="1524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47888" y="1481328"/>
            <a:ext cx="941832" cy="7315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72016" y="1499616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Shared developer model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9272016" y="1773936"/>
            <a:ext cx="21671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Projects, packages, dependency injection, configuration, logging, testing, and deployment concepts carry across app types.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3657600"/>
            <a:ext cx="10927080" cy="2240280"/>
          </a:xfrm>
          <a:prstGeom prst="roundRect">
            <a:avLst>
              <a:gd name="adj" fmla="val 32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14400" y="4146514"/>
            <a:ext cx="98755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CBD5E1"/>
                </a:solidFill>
              </a:rPr>
              <a:t>.NET gives you the foundation to run and structure the application.</a:t>
            </a:r>
          </a:p>
          <a:p>
            <a:pPr marL="152400" indent="-152400">
              <a:buSzPct val="100000"/>
              <a:buChar char="•"/>
            </a:pP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CBD5E1"/>
                </a:solidFill>
              </a:rPr>
              <a:t>ASP.NET Core gives you the web stack for HTTP APIs and web apps.</a:t>
            </a:r>
          </a:p>
          <a:p>
            <a:pPr marL="152400" indent="-152400">
              <a:buSzPct val="100000"/>
              <a:buChar char="•"/>
            </a:pP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CBD5E1"/>
                </a:solidFill>
              </a:rPr>
              <a:t>C# is the main language we will use to express the application logic.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11201400" y="662025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can you build with .NET?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5039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to show breadth before narrowing the room back to web APIs.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464040" y="3840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0B981"/>
                </a:solidFill>
              </a:rPr>
              <a:t>.NET Fundamentals Companion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32588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1E293B">
              <a:alpha val="96000"/>
            </a:srgbClr>
          </a:solidFill>
          <a:ln w="15240">
            <a:solidFill>
              <a:srgbClr val="06B6D4">
                <a:alpha val="40000"/>
              </a:srgbClr>
            </a:solidFill>
            <a:prstDash val="solid"/>
          </a:ln>
          <a:effectLst>
            <a:outerShdw blurRad="17780" dist="1524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096" y="1435608"/>
            <a:ext cx="941832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92224" y="1453896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Console app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792224" y="1728216"/>
            <a:ext cx="216712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CLI tools, scripts, jobs, and utility programs.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53128" y="132588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1E293B">
              <a:alpha val="96000"/>
            </a:srgbClr>
          </a:solidFill>
          <a:ln w="15240">
            <a:solidFill>
              <a:srgbClr val="2563EB">
                <a:alpha val="40000"/>
              </a:srgbClr>
            </a:solidFill>
            <a:prstDash val="solid"/>
          </a:ln>
          <a:effectLst>
            <a:outerShdw blurRad="17780" dist="1524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2856" y="1435608"/>
            <a:ext cx="941832" cy="731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86984" y="1453896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Web API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586984" y="1728216"/>
            <a:ext cx="216712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HTTP endpoints for React, mobile, integrations, and services.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247888" y="132588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1E293B">
              <a:alpha val="96000"/>
            </a:srgbClr>
          </a:solidFill>
          <a:ln w="15240">
            <a:solidFill>
              <a:srgbClr val="10B981">
                <a:alpha val="40000"/>
              </a:srgbClr>
            </a:solidFill>
            <a:prstDash val="solid"/>
          </a:ln>
          <a:effectLst>
            <a:outerShdw blurRad="17780" dist="1524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57616" y="1435608"/>
            <a:ext cx="941832" cy="7315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81744" y="1453896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Web app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9381744" y="1728216"/>
            <a:ext cx="216712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Server-rendered or component-based sites and internal portals.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58368" y="356616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1E293B">
              <a:alpha val="96000"/>
            </a:srgbClr>
          </a:solidFill>
          <a:ln w="15240">
            <a:solidFill>
              <a:srgbClr val="F59E0B">
                <a:alpha val="40000"/>
              </a:srgbClr>
            </a:solidFill>
            <a:prstDash val="solid"/>
          </a:ln>
          <a:effectLst>
            <a:outerShdw blurRad="17780" dist="1524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96" y="3675888"/>
            <a:ext cx="941832" cy="7315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92224" y="3694176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Desktop app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92224" y="3968496"/>
            <a:ext cx="216712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Windows client software, admin tools, and LOB apps.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53128" y="356616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1E293B">
              <a:alpha val="96000"/>
            </a:srgbClr>
          </a:solidFill>
          <a:ln w="15240">
            <a:solidFill>
              <a:srgbClr val="EC4899">
                <a:alpha val="40000"/>
              </a:srgbClr>
            </a:solidFill>
            <a:prstDash val="solid"/>
          </a:ln>
          <a:effectLst>
            <a:outerShdw blurRad="17780" dist="1524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62856" y="3675888"/>
            <a:ext cx="941832" cy="7315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586984" y="3694176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Mobile app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5586984" y="3968496"/>
            <a:ext cx="216712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Cross-platform app development using .NET mobile workloads.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247888" y="356616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1E293B">
              <a:alpha val="96000"/>
            </a:srgbClr>
          </a:solidFill>
          <a:ln w="15240">
            <a:solidFill>
              <a:srgbClr val="8B5CF6">
                <a:alpha val="40000"/>
              </a:srgbClr>
            </a:solidFill>
            <a:prstDash val="solid"/>
          </a:ln>
          <a:effectLst>
            <a:outerShdw blurRad="17780" dist="1524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57616" y="3675888"/>
            <a:ext cx="941832" cy="7315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381744" y="3694176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Worker / cloud service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9381744" y="3968496"/>
            <a:ext cx="216712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Background processing, schedulers, and cloud-hosted services.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822960" y="598932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BD5E1"/>
                </a:solidFill>
              </a:rPr>
              <a:t>For this bootcamp, we are intentionally zooming in on Web API development, then connecting it to React and MongoDB.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11201400" y="662025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Languages on the .NET platform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5039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gives the room context without turning the session into a language survey.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464040" y="3840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59E0B"/>
                </a:solidFill>
              </a:rPr>
              <a:t>.NET Fundamentals Companion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" y="15544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E293B">
              <a:alpha val="96000"/>
            </a:srgbClr>
          </a:solidFill>
          <a:ln w="15240">
            <a:solidFill>
              <a:srgbClr val="2563EB">
                <a:alpha val="40000"/>
              </a:srgbClr>
            </a:solidFill>
            <a:prstDash val="solid"/>
          </a:ln>
          <a:effectLst>
            <a:outerShdw blurRad="17780" dist="1524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9536" y="1664208"/>
            <a:ext cx="941832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83664" y="1682496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C#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83664" y="1956816"/>
            <a:ext cx="230428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General-purpose, modern, and the strongest fit for ASP.NET Core Web APIs, services, and most line-of-business app work.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98848" y="15544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E293B">
              <a:alpha val="96000"/>
            </a:srgbClr>
          </a:solidFill>
          <a:ln w="15240">
            <a:solidFill>
              <a:srgbClr val="10B981">
                <a:alpha val="40000"/>
              </a:srgbClr>
            </a:solidFill>
            <a:prstDash val="solid"/>
          </a:ln>
          <a:effectLst>
            <a:outerShdw blurRad="17780" dist="1524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8576" y="1664208"/>
            <a:ext cx="941832" cy="731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32704" y="1682496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F#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632704" y="1956816"/>
            <a:ext cx="230428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Functional-first language on .NET. Useful when modeling domains with immutability, pipelines, and functional patterns matters.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247888" y="155448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1E293B">
              <a:alpha val="96000"/>
            </a:srgbClr>
          </a:solidFill>
          <a:ln w="15240">
            <a:solidFill>
              <a:srgbClr val="8B5CF6">
                <a:alpha val="40000"/>
              </a:srgbClr>
            </a:solidFill>
            <a:prstDash val="solid"/>
          </a:ln>
          <a:effectLst>
            <a:outerShdw blurRad="17780" dist="1524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57616" y="1664208"/>
            <a:ext cx="941832" cy="7315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81744" y="1682496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Visual Basic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9381744" y="1956816"/>
            <a:ext cx="193852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Still supported on .NET and useful for existing teams and some business apps, but less common for modern web API greenfield projects.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49808" y="4069080"/>
            <a:ext cx="10698480" cy="1325880"/>
          </a:xfrm>
          <a:prstGeom prst="roundRect">
            <a:avLst>
              <a:gd name="adj" fmla="val 55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60120" y="43342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9E0B"/>
                </a:solidFill>
              </a:rPr>
              <a:t>Training decision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960120" y="462686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We acknowledge the platform supports multiple languages, but we focus on C# because it is the most relevant language for modern ASP.NET Core backend teams.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1201400" y="662025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C# is the focus for Web APIs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5039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room comfortable with the choice before the syntax slides start.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464040" y="3840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563EB"/>
                </a:solidFill>
              </a:rPr>
              <a:t>.NET Fundamentals Companion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371600"/>
            <a:ext cx="4572000" cy="4526280"/>
          </a:xfrm>
          <a:prstGeom prst="roundRect">
            <a:avLst>
              <a:gd name="adj" fmla="val 16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67177"/>
            <a:ext cx="3574558" cy="316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Why teams choose C#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234689"/>
            <a:ext cx="388620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Clean object-oriented model with modern language features</a:t>
            </a:r>
          </a:p>
          <a:p>
            <a:pPr marL="152400" indent="-152400">
              <a:buSzPct val="100000"/>
              <a:buChar char="•"/>
            </a:pP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Excellent fit for ASP.NET Core, dependency injection, configuration, logging, and testing</a:t>
            </a:r>
          </a:p>
          <a:p>
            <a:pPr marL="152400" indent="-152400">
              <a:buSzPct val="100000"/>
              <a:buChar char="•"/>
            </a:pP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Strong tooling and debugging support in VS Code / Visual Studio</a:t>
            </a:r>
          </a:p>
          <a:p>
            <a:pPr marL="152400" indent="-152400">
              <a:buSzPct val="100000"/>
              <a:buChar char="•"/>
            </a:pP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Large ecosystem and broad enterprise adoption</a:t>
            </a:r>
          </a:p>
          <a:p>
            <a:pPr marL="152400" indent="-152400">
              <a:buSzPct val="100000"/>
              <a:buChar char="•"/>
            </a:pP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Good balance between readability and performance for API work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50992" y="1371600"/>
            <a:ext cx="5852160" cy="4526280"/>
          </a:xfrm>
          <a:prstGeom prst="roundRect">
            <a:avLst>
              <a:gd name="adj" fmla="val 1616"/>
            </a:avLst>
          </a:prstGeom>
          <a:solidFill>
            <a:srgbClr val="0B122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1773936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MapGet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"/api/health"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status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"up"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MapPost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"/api/tasks"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CreateTaskRequest request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ITaskService service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service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$"/api/tasks/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897880" y="507492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06B6D4"/>
                </a:solidFill>
              </a:rPr>
              <a:t>Readable enough for beginners, expressive enough for real APIs.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201400" y="662025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C# fundamentals: anatomy of a small program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5039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main entry point.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464040" y="3840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6B6D4"/>
                </a:solidFill>
              </a:rPr>
              <a:t>.NET Fundamentals Companion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5989320" cy="4526280"/>
          </a:xfrm>
          <a:prstGeom prst="roundRect">
            <a:avLst>
              <a:gd name="adj" fmla="val 1616"/>
            </a:avLst>
          </a:prstGeom>
          <a:solidFill>
            <a:srgbClr val="0B1220"/>
          </a:solidFill>
          <a:ln w="13970">
            <a:solidFill>
              <a:srgbClr val="334155"/>
            </a:solidFill>
            <a:prstDash val="solid"/>
          </a:ln>
          <a:effectLst>
            <a:outerShdw blurRad="20320" dist="1778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536192"/>
            <a:ext cx="5660136" cy="427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System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Program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"Team"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$"Hello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total =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71677" y="2288239"/>
            <a:ext cx="1920240" cy="292608"/>
          </a:xfrm>
          <a:prstGeom prst="roundRect">
            <a:avLst>
              <a:gd name="adj" fmla="val 9375"/>
            </a:avLst>
          </a:prstGeom>
          <a:solidFill>
            <a:srgbClr val="06B6D4">
              <a:alpha val="22000"/>
            </a:srgbClr>
          </a:solidFill>
          <a:ln w="1016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6088" y="3127248"/>
            <a:ext cx="2377440" cy="292608"/>
          </a:xfrm>
          <a:prstGeom prst="roundRect">
            <a:avLst>
              <a:gd name="adj" fmla="val 9375"/>
            </a:avLst>
          </a:prstGeom>
          <a:solidFill>
            <a:srgbClr val="10B981">
              <a:alpha val="22000"/>
            </a:srgbClr>
          </a:solidFill>
          <a:ln w="1016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71777" y="3447288"/>
            <a:ext cx="2240280" cy="548640"/>
          </a:xfrm>
          <a:prstGeom prst="roundRect">
            <a:avLst>
              <a:gd name="adj" fmla="val 5000"/>
            </a:avLst>
          </a:prstGeom>
          <a:solidFill>
            <a:srgbClr val="F59E0B">
              <a:alpha val="22000"/>
            </a:srgbClr>
          </a:solidFill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" y="4098751"/>
            <a:ext cx="5245608" cy="653889"/>
          </a:xfrm>
          <a:prstGeom prst="roundRect">
            <a:avLst>
              <a:gd name="adj" fmla="val 8824"/>
            </a:avLst>
          </a:prstGeom>
          <a:solidFill>
            <a:srgbClr val="8B5CF6">
              <a:alpha val="22000"/>
            </a:srgbClr>
          </a:solidFill>
          <a:ln w="1016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1481328"/>
            <a:ext cx="2468880" cy="749808"/>
          </a:xfrm>
          <a:prstGeom prst="roundRect">
            <a:avLst>
              <a:gd name="adj" fmla="val 6098"/>
            </a:avLst>
          </a:prstGeom>
          <a:solidFill>
            <a:srgbClr val="1E293B"/>
          </a:solidFill>
          <a:ln w="17780">
            <a:solidFill>
              <a:srgbClr val="06B6D4"/>
            </a:solidFill>
            <a:prstDash val="solid"/>
          </a:ln>
          <a:effectLst>
            <a:outerShdw blurRad="12700" dist="1016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50608" y="1563624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Namespace import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Bring framework types into scope.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 flipV="1">
            <a:off x="3213202" y="1856232"/>
            <a:ext cx="3827678" cy="585216"/>
          </a:xfrm>
          <a:prstGeom prst="line">
            <a:avLst/>
          </a:prstGeom>
          <a:noFill/>
          <a:ln w="2032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086600" y="2377440"/>
            <a:ext cx="2331720" cy="749808"/>
          </a:xfrm>
          <a:prstGeom prst="roundRect">
            <a:avLst>
              <a:gd name="adj" fmla="val 6098"/>
            </a:avLst>
          </a:prstGeom>
          <a:solidFill>
            <a:srgbClr val="1E293B"/>
          </a:solidFill>
          <a:ln w="17780">
            <a:solidFill>
              <a:srgbClr val="10B981"/>
            </a:solidFill>
            <a:prstDash val="solid"/>
          </a:ln>
          <a:effectLst>
            <a:outerShdw blurRad="12700" dist="1016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96328" y="2459736"/>
            <a:ext cx="2112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Entry point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Execution begins at Main.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 flipV="1">
            <a:off x="4040155" y="2752344"/>
            <a:ext cx="3046445" cy="429936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086600" y="3291840"/>
            <a:ext cx="2560320" cy="841248"/>
          </a:xfrm>
          <a:prstGeom prst="roundRect">
            <a:avLst>
              <a:gd name="adj" fmla="val 5435"/>
            </a:avLst>
          </a:prstGeom>
          <a:solidFill>
            <a:srgbClr val="1E293B"/>
          </a:solidFill>
          <a:ln w="17780">
            <a:solidFill>
              <a:srgbClr val="F59E0B"/>
            </a:solidFill>
            <a:prstDash val="solid"/>
          </a:ln>
          <a:effectLst>
            <a:outerShdw blurRad="12700" dist="1016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96328" y="3374136"/>
            <a:ext cx="2340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Variables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Strongly typed data stored in memory.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66727" y="3694176"/>
            <a:ext cx="2719873" cy="18288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394192" y="4873752"/>
            <a:ext cx="1828800" cy="804672"/>
          </a:xfrm>
          <a:prstGeom prst="roundRect">
            <a:avLst>
              <a:gd name="adj" fmla="val 5682"/>
            </a:avLst>
          </a:prstGeom>
          <a:solidFill>
            <a:srgbClr val="1E293B"/>
          </a:solidFill>
          <a:ln w="17780">
            <a:solidFill>
              <a:srgbClr val="8B5CF6"/>
            </a:solidFill>
            <a:prstDash val="solid"/>
          </a:ln>
          <a:effectLst>
            <a:outerShdw blurRad="12700" dist="1016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503920" y="4956048"/>
            <a:ext cx="16093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Method call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A function runs work and produces output.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96001" y="4334256"/>
            <a:ext cx="2298191" cy="859536"/>
          </a:xfrm>
          <a:prstGeom prst="line">
            <a:avLst/>
          </a:prstGeom>
          <a:noFill/>
          <a:ln w="2032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1201400" y="662025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C# fundamentals: classes, objects, and collections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5039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the shapes your API code will keep using for DTOs, entities, and service methods.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464040" y="3840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0B981"/>
                </a:solidFill>
              </a:rPr>
              <a:t>.NET Fundamentals Companion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1353312"/>
            <a:ext cx="6355080" cy="4645152"/>
          </a:xfrm>
          <a:prstGeom prst="roundRect">
            <a:avLst>
              <a:gd name="adj" fmla="val 1575"/>
            </a:avLst>
          </a:prstGeom>
          <a:solidFill>
            <a:srgbClr val="0B1220"/>
          </a:solidFill>
          <a:ln w="13970">
            <a:solidFill>
              <a:srgbClr val="334155"/>
            </a:solidFill>
            <a:prstDash val="solid"/>
          </a:ln>
          <a:effectLst>
            <a:outerShdw blurRad="20320" dist="1778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517904"/>
            <a:ext cx="602589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sealed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TaskItem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Guid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NewGuid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Title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Status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"New"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TaskItem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TaskItem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Title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"Create API"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Status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"InProgress"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TaskItem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Title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"Wire React"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Status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"New"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146047" y="2084832"/>
            <a:ext cx="2866115" cy="457200"/>
          </a:xfrm>
          <a:prstGeom prst="roundRect">
            <a:avLst>
              <a:gd name="adj" fmla="val 2000"/>
            </a:avLst>
          </a:prstGeom>
          <a:solidFill>
            <a:srgbClr val="10B981">
              <a:alpha val="22000"/>
            </a:srgbClr>
          </a:solidFill>
          <a:ln w="1016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24410" y="3105321"/>
            <a:ext cx="4671590" cy="519342"/>
          </a:xfrm>
          <a:prstGeom prst="roundRect">
            <a:avLst>
              <a:gd name="adj" fmla="val 2459"/>
            </a:avLst>
          </a:prstGeom>
          <a:solidFill>
            <a:srgbClr val="06B6D4">
              <a:alpha val="22000"/>
            </a:srgbClr>
          </a:solidFill>
          <a:ln w="1016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1664208"/>
            <a:ext cx="2560320" cy="768096"/>
          </a:xfrm>
          <a:prstGeom prst="roundRect">
            <a:avLst>
              <a:gd name="adj" fmla="val 5952"/>
            </a:avLst>
          </a:prstGeom>
          <a:solidFill>
            <a:srgbClr val="1E293B"/>
          </a:solidFill>
          <a:ln w="17780">
            <a:solidFill>
              <a:srgbClr val="10B981"/>
            </a:solidFill>
            <a:prstDash val="solid"/>
          </a:ln>
          <a:effectLst>
            <a:outerShdw blurRad="12700" dist="1016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79208" y="1746504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Class definition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A blueprint used to create objects.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67728" y="19568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4121890" y="2048256"/>
            <a:ext cx="3147590" cy="210312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69480" y="2633472"/>
            <a:ext cx="2697480" cy="82296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7780">
            <a:solidFill>
              <a:srgbClr val="2563EB"/>
            </a:solidFill>
            <a:prstDash val="solid"/>
          </a:ln>
          <a:effectLst>
            <a:outerShdw blurRad="12700" dist="1016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79208" y="2715768"/>
            <a:ext cx="24780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Properties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Hold the object state your API cares about.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V="1">
            <a:off x="6205728" y="3044952"/>
            <a:ext cx="1063752" cy="219456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15200" y="3822192"/>
            <a:ext cx="2880360" cy="82296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7780">
            <a:solidFill>
              <a:srgbClr val="06B6D4"/>
            </a:solidFill>
            <a:prstDash val="solid"/>
          </a:ln>
          <a:effectLst>
            <a:outerShdw blurRad="12700" dist="1016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24928" y="3904488"/>
            <a:ext cx="2660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Collection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A List&lt;T&gt; stores many items of the same type.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12438" y="3990423"/>
            <a:ext cx="2802762" cy="243249"/>
          </a:xfrm>
          <a:prstGeom prst="line">
            <a:avLst/>
          </a:prstGeom>
          <a:noFill/>
          <a:ln w="2032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412480" y="5084064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7780">
            <a:solidFill>
              <a:srgbClr val="F59E0B"/>
            </a:solidFill>
            <a:prstDash val="solid"/>
          </a:ln>
          <a:effectLst>
            <a:outerShdw blurRad="12700" dist="1016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22208" y="5166360"/>
            <a:ext cx="1335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Object initialization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Set values when creating instances.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988052" y="5162814"/>
            <a:ext cx="3355848" cy="384048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1201400" y="662025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7</a:t>
            </a:r>
            <a:endParaRPr lang="en-US" sz="900" dirty="0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1C3428B9-7E57-F1B5-D4C7-71D244AC9A69}"/>
              </a:ext>
            </a:extLst>
          </p:cNvPr>
          <p:cNvSpPr/>
          <p:nvPr/>
        </p:nvSpPr>
        <p:spPr>
          <a:xfrm>
            <a:off x="1024095" y="3824151"/>
            <a:ext cx="3314640" cy="350272"/>
          </a:xfrm>
          <a:prstGeom prst="roundRect">
            <a:avLst>
              <a:gd name="adj" fmla="val 2459"/>
            </a:avLst>
          </a:prstGeom>
          <a:solidFill>
            <a:srgbClr val="06B6D4">
              <a:alpha val="22000"/>
            </a:srgbClr>
          </a:solidFill>
          <a:ln w="1016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60DA9884-4ED5-9431-939D-BDC8A3E0D009}"/>
              </a:ext>
            </a:extLst>
          </p:cNvPr>
          <p:cNvSpPr/>
          <p:nvPr/>
        </p:nvSpPr>
        <p:spPr>
          <a:xfrm>
            <a:off x="850391" y="4331665"/>
            <a:ext cx="5904971" cy="771899"/>
          </a:xfrm>
          <a:prstGeom prst="roundRect">
            <a:avLst>
              <a:gd name="adj" fmla="val 2459"/>
            </a:avLst>
          </a:prstGeom>
          <a:solidFill>
            <a:srgbClr val="06B6D4">
              <a:alpha val="22000"/>
            </a:srgbClr>
          </a:solidFill>
          <a:ln w="10160">
            <a:solidFill>
              <a:srgbClr val="06B6D4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C# fundamentals: async and await for API work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5039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web APIs spend time waiting on I/O such as databases, files, or other services.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464040" y="3840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B5CF6"/>
                </a:solidFill>
              </a:rPr>
              <a:t>.NET Fundamentals Companion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353312"/>
            <a:ext cx="6217920" cy="4681728"/>
          </a:xfrm>
          <a:prstGeom prst="roundRect">
            <a:avLst>
              <a:gd name="adj" fmla="val 1563"/>
            </a:avLst>
          </a:prstGeom>
          <a:solidFill>
            <a:srgbClr val="0B1220"/>
          </a:solidFill>
          <a:ln w="13970">
            <a:solidFill>
              <a:srgbClr val="334155"/>
            </a:solidFill>
            <a:prstDash val="solid"/>
          </a:ln>
          <a:effectLst>
            <a:outerShdw blurRad="20320" dist="1778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77824" y="1517904"/>
            <a:ext cx="5888736" cy="442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TaskResponse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CreateTaskRequest request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TaskItem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Title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request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Status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"New"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_repository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TaskResponse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Title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Status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96112" y="1745944"/>
            <a:ext cx="3405300" cy="329184"/>
          </a:xfrm>
          <a:prstGeom prst="roundRect">
            <a:avLst>
              <a:gd name="adj" fmla="val 8333"/>
            </a:avLst>
          </a:prstGeom>
          <a:solidFill>
            <a:srgbClr val="8B5CF6">
              <a:alpha val="22000"/>
            </a:srgbClr>
          </a:solidFill>
          <a:ln w="1016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7611" y="3712557"/>
            <a:ext cx="3622853" cy="329184"/>
          </a:xfrm>
          <a:prstGeom prst="roundRect">
            <a:avLst>
              <a:gd name="adj" fmla="val 8333"/>
            </a:avLst>
          </a:prstGeom>
          <a:solidFill>
            <a:srgbClr val="06B6D4">
              <a:alpha val="22000"/>
            </a:srgbClr>
          </a:solidFill>
          <a:ln w="1016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41425" y="4197189"/>
            <a:ext cx="4114800" cy="1344074"/>
          </a:xfrm>
          <a:prstGeom prst="roundRect">
            <a:avLst>
              <a:gd name="adj" fmla="val 2857"/>
            </a:avLst>
          </a:prstGeom>
          <a:solidFill>
            <a:srgbClr val="10B981">
              <a:alpha val="22000"/>
            </a:srgbClr>
          </a:solidFill>
          <a:ln w="1016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69480" y="1609344"/>
            <a:ext cx="2743200" cy="786384"/>
          </a:xfrm>
          <a:prstGeom prst="roundRect">
            <a:avLst>
              <a:gd name="adj" fmla="val 5814"/>
            </a:avLst>
          </a:prstGeom>
          <a:solidFill>
            <a:srgbClr val="1E293B"/>
          </a:solidFill>
          <a:ln w="17780">
            <a:solidFill>
              <a:srgbClr val="8B5CF6"/>
            </a:solidFill>
            <a:prstDash val="solid"/>
          </a:ln>
          <a:effectLst>
            <a:outerShdw blurRad="12700" dist="1016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79208" y="1691640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Task&lt;T&gt;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Represents an asynchronous operation that returns a value.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26280" y="1901952"/>
            <a:ext cx="2743200" cy="100584"/>
          </a:xfrm>
          <a:prstGeom prst="line">
            <a:avLst/>
          </a:prstGeom>
          <a:noFill/>
          <a:ln w="2032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69480" y="3474720"/>
            <a:ext cx="2743200" cy="786384"/>
          </a:xfrm>
          <a:prstGeom prst="roundRect">
            <a:avLst>
              <a:gd name="adj" fmla="val 5814"/>
            </a:avLst>
          </a:prstGeom>
          <a:solidFill>
            <a:srgbClr val="1E293B"/>
          </a:solidFill>
          <a:ln w="17780">
            <a:solidFill>
              <a:srgbClr val="06B6D4"/>
            </a:solidFill>
            <a:prstDash val="solid"/>
          </a:ln>
          <a:effectLst>
            <a:outerShdw blurRad="12700" dist="1016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79208" y="3557016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await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Pause this method until the I/O work completes.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 flipV="1">
            <a:off x="5309920" y="3867912"/>
            <a:ext cx="1959560" cy="27432"/>
          </a:xfrm>
          <a:prstGeom prst="line">
            <a:avLst/>
          </a:prstGeom>
          <a:noFill/>
          <a:ln w="2032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98080" y="4572000"/>
            <a:ext cx="2880360" cy="841248"/>
          </a:xfrm>
          <a:prstGeom prst="roundRect">
            <a:avLst>
              <a:gd name="adj" fmla="val 5435"/>
            </a:avLst>
          </a:prstGeom>
          <a:solidFill>
            <a:srgbClr val="1E293B"/>
          </a:solidFill>
          <a:ln w="17780">
            <a:solidFill>
              <a:srgbClr val="10B981"/>
            </a:solidFill>
            <a:prstDash val="solid"/>
          </a:ln>
          <a:effectLst>
            <a:outerShdw blurRad="12700" dist="1016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07808" y="4654296"/>
            <a:ext cx="2660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Return DTO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Send a clean response shape back to the API layer.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 flipV="1">
            <a:off x="5565953" y="4992624"/>
            <a:ext cx="1932127" cy="27432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315200" y="563270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i="1" dirty="0">
                <a:solidFill>
                  <a:srgbClr val="CBD5E1"/>
                </a:solidFill>
              </a:rPr>
              <a:t>Why this matters for APIs: waiting efficiently helps the server handle more requests cleanly.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11201400" y="662025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shop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itle"/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</a:rPr>
              <a:t>🛠  Workshop: Hello World Console App</a:t>
            </a:r>
          </a:p>
        </p:txBody>
      </p:sp>
      <p:sp>
        <p:nvSpPr>
          <p:cNvPr id="6" name="Subtitle"/>
          <p:cNvSpPr/>
          <p:nvPr/>
        </p:nvSpPr>
        <p:spPr>
          <a:xfrm>
            <a:off x="502920" y="850000"/>
            <a:ext cx="100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ptos Display" pitchFamily="34" charset="0"/>
              </a:rPr>
              <a:t>Follow these steps to create your first .NET console application</a:t>
            </a:r>
          </a:p>
        </p:txBody>
      </p:sp>
      <p:sp>
        <p:nvSpPr>
          <p:cNvPr id="7" name="Card 01"/>
          <p:cNvSpPr/>
          <p:nvPr/>
        </p:nvSpPr>
        <p:spPr>
          <a:xfrm>
            <a:off x="502920" y="1300000"/>
            <a:ext cx="5394960" cy="9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 wrap="square" lIns="182880" tIns="91440" rIns="182880" bIns="9144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ptos Display" pitchFamily="34" charset="0"/>
              </a:rPr>
              <a:t>STEP 01</a:t>
            </a:r>
            <a:endParaRPr lang="en-US"/>
          </a:p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F1F5F9"/>
                </a:solidFill>
                <a:latin typeface="Aptos Display" pitchFamily="34" charset="0"/>
              </a:rPr>
              <a:t>Install .NET SDK</a:t>
            </a:r>
            <a:endParaRPr lang="en-US"/>
          </a:p>
          <a:p>
            <a:pPr marL="0" indent="0">
              <a:spcBef>
                <a:spcPts val="1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</a:rPr>
              <a:t>Download and install from https://dot.net/download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</a:rPr>
              <a:t>Verify: dotnet --version</a:t>
            </a:r>
          </a:p>
        </p:txBody>
      </p:sp>
      <p:sp>
        <p:nvSpPr>
          <p:cNvPr id="9" name="Card 02"/>
          <p:cNvSpPr/>
          <p:nvPr/>
        </p:nvSpPr>
        <p:spPr>
          <a:xfrm>
            <a:off x="502920" y="2500000"/>
            <a:ext cx="5394960" cy="9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 wrap="square" lIns="182880" tIns="91440" rIns="182880" bIns="9144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ptos Display" pitchFamily="34" charset="0"/>
              </a:rPr>
              <a:t>STEP 02</a:t>
            </a:r>
            <a:endParaRPr lang="en-US"/>
          </a:p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F1F5F9"/>
                </a:solidFill>
                <a:latin typeface="Aptos Display" pitchFamily="34" charset="0"/>
              </a:rPr>
              <a:t>Create a New Console App</a:t>
            </a:r>
            <a:endParaRPr lang="en-US"/>
          </a:p>
          <a:p>
            <a:pPr marL="0" indent="0">
              <a:spcBef>
                <a:spcPts val="1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</a:rPr>
              <a:t>dotnet new console -n HelloWorld</a:t>
            </a:r>
          </a:p>
        </p:txBody>
      </p:sp>
      <p:sp>
        <p:nvSpPr>
          <p:cNvPr id="11" name="Card 03"/>
          <p:cNvSpPr/>
          <p:nvPr/>
        </p:nvSpPr>
        <p:spPr>
          <a:xfrm>
            <a:off x="6300000" y="1300000"/>
            <a:ext cx="5394960" cy="9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 wrap="square" lIns="182880" tIns="91440" rIns="182880" bIns="9144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ptos Display" pitchFamily="34" charset="0"/>
              </a:rPr>
              <a:t>STEP 03</a:t>
            </a:r>
            <a:endParaRPr lang="en-US"/>
          </a:p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F1F5F9"/>
                </a:solidFill>
                <a:latin typeface="Aptos Display" pitchFamily="34" charset="0"/>
              </a:rPr>
              <a:t>Navigate &amp; Review Code</a:t>
            </a:r>
            <a:endParaRPr lang="en-US"/>
          </a:p>
          <a:p>
            <a:pPr marL="0" indent="0">
              <a:spcBef>
                <a:spcPts val="1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</a:rPr>
              <a:t>cd HelloWorld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</a:rPr>
              <a:t>Open Program.cs → Console.WriteLine("Hello, World!");</a:t>
            </a:r>
          </a:p>
        </p:txBody>
      </p:sp>
      <p:sp>
        <p:nvSpPr>
          <p:cNvPr id="13" name="Card 04"/>
          <p:cNvSpPr/>
          <p:nvPr/>
        </p:nvSpPr>
        <p:spPr>
          <a:xfrm>
            <a:off x="6300000" y="2500000"/>
            <a:ext cx="5394960" cy="9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 wrap="square" lIns="182880" tIns="91440" rIns="182880" bIns="9144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ptos Display" pitchFamily="34" charset="0"/>
              </a:rPr>
              <a:t>STEP 04</a:t>
            </a:r>
            <a:endParaRPr lang="en-US"/>
          </a:p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F1F5F9"/>
                </a:solidFill>
                <a:latin typeface="Aptos Display" pitchFamily="34" charset="0"/>
              </a:rPr>
              <a:t>Run the Application</a:t>
            </a:r>
            <a:endParaRPr lang="en-US"/>
          </a:p>
          <a:p>
            <a:pPr marL="0" indent="0">
              <a:spcBef>
                <a:spcPts val="1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</a:rPr>
              <a:t>dotnet run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</a:rPr>
              <a:t>Expected output: Hello, World!</a:t>
            </a:r>
          </a:p>
        </p:txBody>
      </p:sp>
      <p:sp>
        <p:nvSpPr>
          <p:cNvPr id="15" name="Card 05"/>
          <p:cNvSpPr/>
          <p:nvPr/>
        </p:nvSpPr>
        <p:spPr>
          <a:xfrm>
            <a:off x="502920" y="3700000"/>
            <a:ext cx="5394960" cy="9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 wrap="square" lIns="182880" tIns="91440" rIns="182880" bIns="9144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ptos Display" pitchFamily="34" charset="0"/>
              </a:rPr>
              <a:t>STEP 05</a:t>
            </a:r>
            <a:endParaRPr lang="en-US"/>
          </a:p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F1F5F9"/>
                </a:solidFill>
                <a:latin typeface="Aptos Display" pitchFamily="34" charset="0"/>
              </a:rPr>
              <a:t>Modify &amp; Re-run</a:t>
            </a:r>
            <a:endParaRPr lang="en-US"/>
          </a:p>
          <a:p>
            <a:pPr marL="0" indent="0">
              <a:spcBef>
                <a:spcPts val="1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</a:rPr>
              <a:t>Change text to "Hello from .NET!"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</a:rPr>
              <a:t>dotnet run again to see the update</a:t>
            </a:r>
          </a:p>
        </p:txBody>
      </p:sp>
      <p:sp>
        <p:nvSpPr>
          <p:cNvPr id="17" name="Card 06"/>
          <p:cNvSpPr/>
          <p:nvPr/>
        </p:nvSpPr>
        <p:spPr>
          <a:xfrm>
            <a:off x="6300000" y="3700000"/>
            <a:ext cx="5394960" cy="9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 wrap="square" lIns="182880" tIns="91440" rIns="182880" bIns="9144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ptos Display" pitchFamily="34" charset="0"/>
              </a:rPr>
              <a:t>STEP 06</a:t>
            </a:r>
            <a:endParaRPr lang="en-US"/>
          </a:p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F1F5F9"/>
                </a:solidFill>
                <a:latin typeface="Aptos Display" pitchFamily="34" charset="0"/>
              </a:rPr>
              <a:t>Explore Further</a:t>
            </a:r>
            <a:endParaRPr lang="en-US"/>
          </a:p>
          <a:p>
            <a:pPr marL="0" indent="0">
              <a:spcBef>
                <a:spcPts val="1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</a:rPr>
              <a:t>Try adding variables, user input,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</a:rPr>
              <a:t>or a second Console.WriteLine</a:t>
            </a:r>
          </a:p>
        </p:txBody>
      </p:sp>
      <p:sp>
        <p:nvSpPr>
          <p:cNvPr id="19" name="Tip"/>
          <p:cNvSpPr/>
          <p:nvPr/>
        </p:nvSpPr>
        <p:spPr>
          <a:xfrm>
            <a:off x="502920" y="5100000"/>
            <a:ext cx="11100000" cy="40000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 wrap="square" lIns="182880" tIns="0" rIns="18288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Aptos Display" pitchFamily="34" charset="0"/>
              </a:rPr>
              <a:t>💡  Tip: Use dotnet run to compile and execute in one step!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Controller-based Web API flow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5039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to explain explicit structure and why controllers are a good learning baseline.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464040" y="3840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0B981"/>
                </a:solidFill>
              </a:rPr>
              <a:t>.NET Fundamentals Companion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280160"/>
            <a:ext cx="6446520" cy="5120640"/>
          </a:xfrm>
          <a:prstGeom prst="roundRect">
            <a:avLst>
              <a:gd name="adj" fmla="val 1429"/>
            </a:avLst>
          </a:prstGeom>
          <a:solidFill>
            <a:srgbClr val="0B1220"/>
          </a:solidFill>
          <a:ln w="13970">
            <a:solidFill>
              <a:srgbClr val="334155"/>
            </a:solidFill>
            <a:prstDash val="solid"/>
          </a:ln>
          <a:effectLst>
            <a:outerShdw blurRad="20320" dist="1778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444752"/>
            <a:ext cx="6117336" cy="4864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ApiController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"api/tasks"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sealed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TasksController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ControllerBase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readonly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ITaskService _service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TasksController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ITaskService service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_service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service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HttpGet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"{id}"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ActionResult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TaskResponse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GetById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_service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GetByIdAsync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NotFound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13460" y="1792224"/>
            <a:ext cx="2240280" cy="484632"/>
          </a:xfrm>
          <a:prstGeom prst="roundRect">
            <a:avLst>
              <a:gd name="adj" fmla="val 5455"/>
            </a:avLst>
          </a:prstGeom>
          <a:solidFill>
            <a:srgbClr val="06B6D4">
              <a:alpha val="22000"/>
            </a:srgbClr>
          </a:solidFill>
          <a:ln w="1016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9746" y="2626380"/>
            <a:ext cx="4526280" cy="1342115"/>
          </a:xfrm>
          <a:prstGeom prst="roundRect">
            <a:avLst>
              <a:gd name="adj" fmla="val 3191"/>
            </a:avLst>
          </a:prstGeom>
          <a:solidFill>
            <a:srgbClr val="10B981">
              <a:alpha val="22000"/>
            </a:srgbClr>
          </a:solidFill>
          <a:ln w="1016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67028" y="4105656"/>
            <a:ext cx="2514600" cy="329184"/>
          </a:xfrm>
          <a:prstGeom prst="roundRect">
            <a:avLst>
              <a:gd name="adj" fmla="val 8333"/>
            </a:avLst>
          </a:prstGeom>
          <a:solidFill>
            <a:srgbClr val="F59E0B">
              <a:alpha val="22000"/>
            </a:srgbClr>
          </a:solidFill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2727" y="4498848"/>
            <a:ext cx="5138741" cy="1307592"/>
          </a:xfrm>
          <a:prstGeom prst="roundRect">
            <a:avLst>
              <a:gd name="adj" fmla="val 3000"/>
            </a:avLst>
          </a:prstGeom>
          <a:solidFill>
            <a:srgbClr val="8B5CF6">
              <a:alpha val="22000"/>
            </a:srgbClr>
          </a:solidFill>
          <a:ln w="1016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1481328"/>
            <a:ext cx="2743200" cy="841248"/>
          </a:xfrm>
          <a:prstGeom prst="roundRect">
            <a:avLst>
              <a:gd name="adj" fmla="val 5435"/>
            </a:avLst>
          </a:prstGeom>
          <a:solidFill>
            <a:srgbClr val="1E293B"/>
          </a:solidFill>
          <a:ln w="17780">
            <a:solidFill>
              <a:srgbClr val="06B6D4"/>
            </a:solidFill>
            <a:prstDash val="solid"/>
          </a:ln>
          <a:effectLst>
            <a:outerShdw blurRad="12700" dist="1016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24928" y="1563624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Attributes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Tell ASP.NET Core how to route and treat this class.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 flipV="1">
            <a:off x="3363468" y="1901952"/>
            <a:ext cx="3951732" cy="128016"/>
          </a:xfrm>
          <a:prstGeom prst="line">
            <a:avLst/>
          </a:prstGeom>
          <a:noFill/>
          <a:ln w="2032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15200" y="2697480"/>
            <a:ext cx="283464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7780">
            <a:solidFill>
              <a:srgbClr val="10B981"/>
            </a:solidFill>
            <a:prstDash val="solid"/>
          </a:ln>
          <a:effectLst>
            <a:outerShdw blurRad="12700" dist="1016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24928" y="2779776"/>
            <a:ext cx="2615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Dependency injection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The controller receives the service instead of creating it.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55754" y="3127248"/>
            <a:ext cx="1259446" cy="27432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60920" y="3886200"/>
            <a:ext cx="2606040" cy="82296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7780">
            <a:solidFill>
              <a:srgbClr val="F59E0B"/>
            </a:solidFill>
            <a:prstDash val="solid"/>
          </a:ln>
          <a:effectLst>
            <a:outerShdw blurRad="12700" dist="1016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70648" y="3968496"/>
            <a:ext cx="2386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Action method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One endpoint handles one HTTP shape.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97096" y="4215384"/>
            <a:ext cx="3163824" cy="82296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241280" y="4846320"/>
            <a:ext cx="1645920" cy="96012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7780">
            <a:solidFill>
              <a:srgbClr val="8B5CF6"/>
            </a:solidFill>
            <a:prstDash val="solid"/>
          </a:ln>
          <a:effectLst>
            <a:outerShdw blurRad="12700" dist="1016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351008" y="4928616"/>
            <a:ext cx="14264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HTTP response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Return NotFound or Ok based on the service result.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91468" y="5294376"/>
            <a:ext cx="3849812" cy="32004"/>
          </a:xfrm>
          <a:prstGeom prst="line">
            <a:avLst/>
          </a:prstGeom>
          <a:noFill/>
          <a:ln w="2032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1201400" y="662025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Minimal API flow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5039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to show the leaner route-first style while repeating the same underlying ideas.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464040" y="3840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59E0B"/>
                </a:solidFill>
              </a:rPr>
              <a:t>.NET Fundamentals Companion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444752"/>
            <a:ext cx="6446520" cy="4434840"/>
          </a:xfrm>
          <a:prstGeom prst="roundRect">
            <a:avLst>
              <a:gd name="adj" fmla="val 1649"/>
            </a:avLst>
          </a:prstGeom>
          <a:solidFill>
            <a:srgbClr val="0B1220"/>
          </a:solidFill>
          <a:ln w="13970">
            <a:solidFill>
              <a:srgbClr val="334155"/>
            </a:solidFill>
            <a:prstDash val="solid"/>
          </a:ln>
          <a:effectLst>
            <a:outerShdw blurRad="20320" dist="1778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609344"/>
            <a:ext cx="6117336" cy="417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MapPost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"/api/tasks"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CreateTaskRequest request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ITaskService service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IsNullOrWhiteSpace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BadRequest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message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"Title is required"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service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$"/api/tasks/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40664" y="2486328"/>
            <a:ext cx="6117336" cy="402336"/>
          </a:xfrm>
          <a:prstGeom prst="roundRect">
            <a:avLst>
              <a:gd name="adj" fmla="val 6818"/>
            </a:avLst>
          </a:prstGeom>
          <a:solidFill>
            <a:srgbClr val="F59E0B">
              <a:alpha val="22000"/>
            </a:srgbClr>
          </a:solidFill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25296" y="3099816"/>
            <a:ext cx="5623560" cy="658368"/>
          </a:xfrm>
          <a:prstGeom prst="roundRect">
            <a:avLst>
              <a:gd name="adj" fmla="val 4167"/>
            </a:avLst>
          </a:prstGeom>
          <a:solidFill>
            <a:srgbClr val="EF4444">
              <a:alpha val="22000"/>
            </a:srgbClr>
          </a:solidFill>
          <a:ln w="1016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18588" y="3896837"/>
            <a:ext cx="3634740" cy="347472"/>
          </a:xfrm>
          <a:prstGeom prst="roundRect">
            <a:avLst>
              <a:gd name="adj" fmla="val 7895"/>
            </a:avLst>
          </a:prstGeom>
          <a:solidFill>
            <a:srgbClr val="06B6D4">
              <a:alpha val="22000"/>
            </a:srgbClr>
          </a:solidFill>
          <a:ln w="1016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80744" y="4352544"/>
            <a:ext cx="5477256" cy="402336"/>
          </a:xfrm>
          <a:prstGeom prst="roundRect">
            <a:avLst>
              <a:gd name="adj" fmla="val 6818"/>
            </a:avLst>
          </a:prstGeom>
          <a:solidFill>
            <a:srgbClr val="10B981">
              <a:alpha val="22000"/>
            </a:srgbClr>
          </a:solidFill>
          <a:ln w="1016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1691640"/>
            <a:ext cx="297180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7780">
            <a:solidFill>
              <a:srgbClr val="F59E0B"/>
            </a:solidFill>
            <a:prstDash val="solid"/>
          </a:ln>
          <a:effectLst>
            <a:outerShdw blurRad="12700" dist="1016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24928" y="1773936"/>
            <a:ext cx="27523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Route + handler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The endpoint is defined directly in Program.cs or a mapped module.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 flipV="1">
            <a:off x="6940296" y="2148840"/>
            <a:ext cx="374904" cy="457200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15200" y="2743200"/>
            <a:ext cx="2651760" cy="877824"/>
          </a:xfrm>
          <a:prstGeom prst="roundRect">
            <a:avLst>
              <a:gd name="adj" fmla="val 5208"/>
            </a:avLst>
          </a:prstGeom>
          <a:solidFill>
            <a:srgbClr val="1E293B"/>
          </a:solidFill>
          <a:ln w="17780">
            <a:solidFill>
              <a:srgbClr val="EF4444"/>
            </a:solidFill>
            <a:prstDash val="solid"/>
          </a:ln>
          <a:effectLst>
            <a:outerShdw blurRad="12700" dist="1016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24928" y="2825496"/>
            <a:ext cx="24323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Validation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Bad input should fail early with a clear message.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 flipV="1">
            <a:off x="6940296" y="3182112"/>
            <a:ext cx="374904" cy="155448"/>
          </a:xfrm>
          <a:prstGeom prst="line">
            <a:avLst/>
          </a:prstGeom>
          <a:noFill/>
          <a:ln w="2032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15200" y="3794760"/>
            <a:ext cx="2788920" cy="877824"/>
          </a:xfrm>
          <a:prstGeom prst="roundRect">
            <a:avLst>
              <a:gd name="adj" fmla="val 5208"/>
            </a:avLst>
          </a:prstGeom>
          <a:solidFill>
            <a:srgbClr val="1E293B"/>
          </a:solidFill>
          <a:ln w="17780">
            <a:solidFill>
              <a:srgbClr val="06B6D4"/>
            </a:solidFill>
            <a:prstDash val="solid"/>
          </a:ln>
          <a:effectLst>
            <a:outerShdw blurRad="12700" dist="1016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24928" y="3877056"/>
            <a:ext cx="2569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Service call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Lean syntax still benefits from a service boundary.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63056" y="4146804"/>
            <a:ext cx="1152144" cy="86868"/>
          </a:xfrm>
          <a:prstGeom prst="line">
            <a:avLst/>
          </a:prstGeom>
          <a:noFill/>
          <a:ln w="2032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012680" y="4709160"/>
            <a:ext cx="1920240" cy="96012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7780">
            <a:solidFill>
              <a:srgbClr val="10B981"/>
            </a:solidFill>
            <a:prstDash val="solid"/>
          </a:ln>
          <a:effectLst>
            <a:outerShdw blurRad="12700" dist="1016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122408" y="4791456"/>
            <a:ext cx="17007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Created response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</a:rPr>
              <a:t>Use a meaningful status code for successful create operations.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58000" y="4754880"/>
            <a:ext cx="3154680" cy="434340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7333488" y="57972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i="1" dirty="0">
                <a:solidFill>
                  <a:srgbClr val="CBD5E1"/>
                </a:solidFill>
              </a:rPr>
              <a:t>Key lesson: Minimal does not mean structure-free.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11201400" y="662025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 basics team should keep repeating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5039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better your API contract language, the cleaner the frontend and backend collaboration becomes.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464040" y="3840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F4444"/>
                </a:solidFill>
              </a:rPr>
              <a:t>.NET Fundamentals Companion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1E293B">
              <a:alpha val="96000"/>
            </a:srgbClr>
          </a:solidFill>
          <a:ln w="15240">
            <a:solidFill>
              <a:srgbClr val="06B6D4">
                <a:alpha val="40000"/>
              </a:srgbClr>
            </a:solidFill>
            <a:prstDash val="solid"/>
          </a:ln>
          <a:effectLst>
            <a:outerShdw blurRad="17780" dist="1524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1248" y="1618488"/>
            <a:ext cx="941832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65376" y="1636776"/>
            <a:ext cx="886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GET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65376" y="1911096"/>
            <a:ext cx="886968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Read data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Example: list tasks or fetch one task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108960" y="150876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1E293B">
              <a:alpha val="96000"/>
            </a:srgbClr>
          </a:solidFill>
          <a:ln w="15240">
            <a:solidFill>
              <a:srgbClr val="10B981">
                <a:alpha val="40000"/>
              </a:srgbClr>
            </a:solidFill>
            <a:prstDash val="solid"/>
          </a:ln>
          <a:effectLst>
            <a:outerShdw blurRad="17780" dist="1524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18688" y="1618488"/>
            <a:ext cx="941832" cy="731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42816" y="1636776"/>
            <a:ext cx="886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POST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242816" y="1911096"/>
            <a:ext cx="886968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Create new data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Example: add a task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0" y="150876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1E293B">
              <a:alpha val="96000"/>
            </a:srgbClr>
          </a:solidFill>
          <a:ln w="15240">
            <a:solidFill>
              <a:srgbClr val="F59E0B">
                <a:alpha val="40000"/>
              </a:srgbClr>
            </a:solidFill>
            <a:prstDash val="solid"/>
          </a:ln>
          <a:effectLst>
            <a:outerShdw blurRad="17780" dist="1524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96128" y="1618488"/>
            <a:ext cx="941832" cy="7315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0256" y="1636776"/>
            <a:ext cx="886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PUT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620256" y="1911096"/>
            <a:ext cx="886968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Update existing data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Example: replace a task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863840" y="150876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1E293B">
              <a:alpha val="96000"/>
            </a:srgbClr>
          </a:solidFill>
          <a:ln w="15240">
            <a:solidFill>
              <a:srgbClr val="EF4444">
                <a:alpha val="40000"/>
              </a:srgbClr>
            </a:solidFill>
            <a:prstDash val="solid"/>
          </a:ln>
          <a:effectLst>
            <a:outerShdw blurRad="17780" dist="1524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73568" y="1618488"/>
            <a:ext cx="941832" cy="7315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97696" y="1636776"/>
            <a:ext cx="886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DELETE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997696" y="1911096"/>
            <a:ext cx="886968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Remove data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Example: delete a task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777240" y="329184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005839" y="3566160"/>
            <a:ext cx="3034315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Common status codes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005840" y="3858768"/>
            <a:ext cx="23774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55000" lnSpcReduction="20000"/>
          </a:bodyPr>
          <a:lstStyle/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200 OK
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201 Created
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204 No Content
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400 Bad Request
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404 Not </a:t>
            </a:r>
            <a:r>
              <a:rPr lang="en-US" dirty="0">
                <a:solidFill>
                  <a:srgbClr val="F8FAFC"/>
                </a:solidFill>
              </a:rPr>
              <a:t>Found</a:t>
            </a:r>
            <a:endParaRPr lang="en-US" sz="1650" dirty="0"/>
          </a:p>
        </p:txBody>
      </p:sp>
      <p:sp>
        <p:nvSpPr>
          <p:cNvPr id="27" name="Shape 21"/>
          <p:cNvSpPr/>
          <p:nvPr/>
        </p:nvSpPr>
        <p:spPr>
          <a:xfrm>
            <a:off x="6263640" y="329184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492240" y="35661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Contract quality checklist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6492240" y="3858768"/>
            <a:ext cx="41148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55000" lnSpcReduction="20000"/>
          </a:bodyPr>
          <a:lstStyle/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Clear route
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Expected payload
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Expected response shape
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Validation rules
</a:t>
            </a:r>
            <a:endParaRPr lang="en-US" sz="1650" dirty="0"/>
          </a:p>
          <a:p>
            <a:pPr marL="152400" indent="-152400">
              <a:buSzPct val="100000"/>
              <a:buChar char="•"/>
            </a:pPr>
            <a:r>
              <a:rPr lang="en-US" sz="1650" dirty="0">
                <a:solidFill>
                  <a:srgbClr val="F8FAFC"/>
                </a:solidFill>
              </a:rPr>
              <a:t>Failure behavior</a:t>
            </a:r>
            <a:endParaRPr lang="en-US" sz="1650" dirty="0"/>
          </a:p>
        </p:txBody>
      </p:sp>
      <p:sp>
        <p:nvSpPr>
          <p:cNvPr id="31" name="Text 25"/>
          <p:cNvSpPr/>
          <p:nvPr/>
        </p:nvSpPr>
        <p:spPr>
          <a:xfrm>
            <a:off x="11201400" y="662025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finition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BottomBa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itle"/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</a:rPr>
              <a:t>Middleware</a:t>
            </a:r>
          </a:p>
        </p:txBody>
      </p:sp>
      <p:sp>
        <p:nvSpPr>
          <p:cNvPr id="6" name="Subtitle"/>
          <p:cNvSpPr/>
          <p:nvPr/>
        </p:nvSpPr>
        <p:spPr>
          <a:xfrm>
            <a:off x="502920" y="850000"/>
            <a:ext cx="100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0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</a:rPr>
              <a:t>Middleware components form the request/response pipeline in ASP.NET Core. Each component can process, short-circuit, or pass requests to the next component.</a:t>
            </a:r>
          </a:p>
        </p:txBody>
      </p:sp>
      <p:sp>
        <p:nvSpPr>
          <p:cNvPr id="7" name="Card7"/>
          <p:cNvSpPr/>
          <p:nvPr/>
        </p:nvSpPr>
        <p:spPr>
          <a:xfrm>
            <a:off x="502920" y="1450000"/>
            <a:ext cx="5394960" cy="18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Request Pipeline</a:t>
            </a:r>
            <a:endParaRPr lang="en-US"/>
          </a:p>
          <a:p>
            <a:pPr marL="0" indent="0">
              <a:spcBef>
                <a:spcPts val="200"/>
              </a:spcBef>
              <a:buNone/>
            </a:pPr>
            <a:r>
              <a:rPr lang="en-US" sz="600" b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</a:rPr>
              <a:t>─────────────────────────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Middleware executes in order they are added.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Each component chooses whether to pass to the next.</a:t>
            </a:r>
          </a:p>
        </p:txBody>
      </p:sp>
      <p:sp>
        <p:nvSpPr>
          <p:cNvPr id="8" name="Card8"/>
          <p:cNvSpPr/>
          <p:nvPr/>
        </p:nvSpPr>
        <p:spPr>
          <a:xfrm>
            <a:off x="6300000" y="1450000"/>
            <a:ext cx="5394960" cy="18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Built-in Middleware</a:t>
            </a:r>
            <a:endParaRPr lang="en-US"/>
          </a:p>
          <a:p>
            <a:pPr marL="0" indent="0">
              <a:spcBef>
                <a:spcPts val="200"/>
              </a:spcBef>
              <a:buNone/>
            </a:pPr>
            <a:r>
              <a:rPr lang="en-US" sz="600" b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</a:rPr>
              <a:t>─────────────────────────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UseRouting(), UseAuthentication(),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UseAuthorization(), UseStaticFiles()</a:t>
            </a:r>
          </a:p>
        </p:txBody>
      </p:sp>
      <p:sp>
        <p:nvSpPr>
          <p:cNvPr id="9" name="Card9"/>
          <p:cNvSpPr/>
          <p:nvPr/>
        </p:nvSpPr>
        <p:spPr>
          <a:xfrm>
            <a:off x="502920" y="3600000"/>
            <a:ext cx="5394960" cy="18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Custom Middleware</a:t>
            </a:r>
            <a:endParaRPr lang="en-US"/>
          </a:p>
          <a:p>
            <a:pPr marL="0" indent="0">
              <a:spcBef>
                <a:spcPts val="200"/>
              </a:spcBef>
              <a:buNone/>
            </a:pPr>
            <a:r>
              <a:rPr lang="en-US" sz="600" b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</a:rPr>
              <a:t>─────────────────────────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app.Use(async (context, next) =&gt; {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  // before logic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  await next();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  // after logic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});</a:t>
            </a:r>
          </a:p>
        </p:txBody>
      </p:sp>
      <p:sp>
        <p:nvSpPr>
          <p:cNvPr id="10" name="Card10"/>
          <p:cNvSpPr/>
          <p:nvPr/>
        </p:nvSpPr>
        <p:spPr>
          <a:xfrm>
            <a:off x="6300000" y="3600000"/>
            <a:ext cx="5394960" cy="18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Ordering Matters</a:t>
            </a:r>
            <a:endParaRPr lang="en-US"/>
          </a:p>
          <a:p>
            <a:pPr marL="0" indent="0">
              <a:spcBef>
                <a:spcPts val="200"/>
              </a:spcBef>
              <a:buNone/>
            </a:pPr>
            <a:r>
              <a:rPr lang="en-US" sz="600" b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</a:rPr>
              <a:t>─────────────────────────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Exception handling → HTTPS redirect →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Static files → Routing → Auth → Endpoints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finition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BottomBa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itle"/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</a:rPr>
              <a:t>Service Registration &amp; Dependency Injection</a:t>
            </a:r>
          </a:p>
        </p:txBody>
      </p:sp>
      <p:sp>
        <p:nvSpPr>
          <p:cNvPr id="6" name="Subtitle"/>
          <p:cNvSpPr/>
          <p:nvPr/>
        </p:nvSpPr>
        <p:spPr>
          <a:xfrm>
            <a:off x="502920" y="850000"/>
            <a:ext cx="100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0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</a:rPr>
              <a:t>ASP.NET Core has built-in IoC container. Services are registered in Program.cs and injected via constructors automatically.</a:t>
            </a:r>
          </a:p>
        </p:txBody>
      </p:sp>
      <p:sp>
        <p:nvSpPr>
          <p:cNvPr id="7" name="Card7"/>
          <p:cNvSpPr/>
          <p:nvPr/>
        </p:nvSpPr>
        <p:spPr>
          <a:xfrm>
            <a:off x="502920" y="1450000"/>
            <a:ext cx="5394960" cy="18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Service Lifetimes</a:t>
            </a:r>
            <a:endParaRPr lang="en-US"/>
          </a:p>
          <a:p>
            <a:pPr marL="0" indent="0">
              <a:spcBef>
                <a:spcPts val="200"/>
              </a:spcBef>
              <a:buNone/>
            </a:pPr>
            <a:r>
              <a:rPr lang="en-US" sz="600" b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</a:rPr>
              <a:t>─────────────────────────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AddTransient → new instance every time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AddScoped → one per request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AddSingleton → one for app lifetime</a:t>
            </a:r>
          </a:p>
        </p:txBody>
      </p:sp>
      <p:sp>
        <p:nvSpPr>
          <p:cNvPr id="8" name="Card8"/>
          <p:cNvSpPr/>
          <p:nvPr/>
        </p:nvSpPr>
        <p:spPr>
          <a:xfrm>
            <a:off x="6300000" y="1450000"/>
            <a:ext cx="5394960" cy="18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Registration</a:t>
            </a:r>
            <a:endParaRPr lang="en-US"/>
          </a:p>
          <a:p>
            <a:pPr marL="0" indent="0">
              <a:spcBef>
                <a:spcPts val="200"/>
              </a:spcBef>
              <a:buNone/>
            </a:pPr>
            <a:r>
              <a:rPr lang="en-US" sz="600" b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</a:rPr>
              <a:t>─────────────────────────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builder.Services.AddScoped&lt;ITaskService,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  TaskService&gt;();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builder.Services.AddSingleton&lt;MongoClient&gt;();</a:t>
            </a:r>
          </a:p>
        </p:txBody>
      </p:sp>
      <p:sp>
        <p:nvSpPr>
          <p:cNvPr id="9" name="Card9"/>
          <p:cNvSpPr/>
          <p:nvPr/>
        </p:nvSpPr>
        <p:spPr>
          <a:xfrm>
            <a:off x="502920" y="3600000"/>
            <a:ext cx="5394960" cy="18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Constructor Injection</a:t>
            </a:r>
            <a:endParaRPr lang="en-US"/>
          </a:p>
          <a:p>
            <a:pPr marL="0" indent="0">
              <a:spcBef>
                <a:spcPts val="200"/>
              </a:spcBef>
              <a:buNone/>
            </a:pPr>
            <a:r>
              <a:rPr lang="en-US" sz="600" b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</a:rPr>
              <a:t>─────────────────────────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public class TasksController(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  ITaskService taskService) { ... }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Framework resolves dependencies automatically</a:t>
            </a:r>
          </a:p>
        </p:txBody>
      </p:sp>
      <p:sp>
        <p:nvSpPr>
          <p:cNvPr id="10" name="Card10"/>
          <p:cNvSpPr/>
          <p:nvPr/>
        </p:nvSpPr>
        <p:spPr>
          <a:xfrm>
            <a:off x="6300000" y="3600000"/>
            <a:ext cx="5394960" cy="18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Best Practices</a:t>
            </a:r>
            <a:endParaRPr lang="en-US"/>
          </a:p>
          <a:p>
            <a:pPr marL="0" indent="0">
              <a:spcBef>
                <a:spcPts val="200"/>
              </a:spcBef>
              <a:buNone/>
            </a:pPr>
            <a:r>
              <a:rPr lang="en-US" sz="600" b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</a:rPr>
              <a:t>─────────────────────────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Program against interfaces, not implementations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Avoid service locator anti-pattern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Keep registrations in Program.cs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finition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BottomBa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itle"/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</a:rPr>
              <a:t>Configuration &amp; Options Pattern</a:t>
            </a:r>
          </a:p>
        </p:txBody>
      </p:sp>
      <p:sp>
        <p:nvSpPr>
          <p:cNvPr id="6" name="Subtitle"/>
          <p:cNvSpPr/>
          <p:nvPr/>
        </p:nvSpPr>
        <p:spPr>
          <a:xfrm>
            <a:off x="502920" y="850000"/>
            <a:ext cx="100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0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</a:rPr>
              <a:t>ASP.NET Core provides a layered configuration system. The Options pattern binds config sections to strongly-typed C# classes.</a:t>
            </a:r>
          </a:p>
        </p:txBody>
      </p:sp>
      <p:sp>
        <p:nvSpPr>
          <p:cNvPr id="7" name="Card7"/>
          <p:cNvSpPr/>
          <p:nvPr/>
        </p:nvSpPr>
        <p:spPr>
          <a:xfrm>
            <a:off x="502920" y="1450000"/>
            <a:ext cx="5394960" cy="18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Configuration Sources</a:t>
            </a:r>
            <a:endParaRPr lang="en-US"/>
          </a:p>
          <a:p>
            <a:pPr marL="0" indent="0">
              <a:spcBef>
                <a:spcPts val="200"/>
              </a:spcBef>
              <a:buNone/>
            </a:pPr>
            <a:r>
              <a:rPr lang="en-US" sz="600" b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</a:rPr>
              <a:t>─────────────────────────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appsettings.json → appsettings.{Env}.json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→ Environment variables → Command line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Later sources override earlier ones</a:t>
            </a:r>
          </a:p>
        </p:txBody>
      </p:sp>
      <p:sp>
        <p:nvSpPr>
          <p:cNvPr id="8" name="Card8"/>
          <p:cNvSpPr/>
          <p:nvPr/>
        </p:nvSpPr>
        <p:spPr>
          <a:xfrm>
            <a:off x="6300000" y="1450000"/>
            <a:ext cx="5394960" cy="18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Reading Config</a:t>
            </a:r>
            <a:endParaRPr lang="en-US"/>
          </a:p>
          <a:p>
            <a:pPr marL="0" indent="0">
              <a:spcBef>
                <a:spcPts val="200"/>
              </a:spcBef>
              <a:buNone/>
            </a:pPr>
            <a:r>
              <a:rPr lang="en-US" sz="600" b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</a:rPr>
              <a:t>─────────────────────────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builder.Configuration["MongoDb:Database"]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Or inject IConfiguration into services</a:t>
            </a:r>
          </a:p>
        </p:txBody>
      </p:sp>
      <p:sp>
        <p:nvSpPr>
          <p:cNvPr id="9" name="Card9"/>
          <p:cNvSpPr/>
          <p:nvPr/>
        </p:nvSpPr>
        <p:spPr>
          <a:xfrm>
            <a:off x="502920" y="3600000"/>
            <a:ext cx="5394960" cy="18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Options Pattern</a:t>
            </a:r>
            <a:endParaRPr lang="en-US"/>
          </a:p>
          <a:p>
            <a:pPr marL="0" indent="0">
              <a:spcBef>
                <a:spcPts val="200"/>
              </a:spcBef>
              <a:buNone/>
            </a:pPr>
            <a:r>
              <a:rPr lang="en-US" sz="600" b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</a:rPr>
              <a:t>─────────────────────────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builder.Services.Configure&lt;MongoDbSettings&gt;(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  builder.Configuration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    .GetSection("MongoDb"));</a:t>
            </a:r>
          </a:p>
        </p:txBody>
      </p:sp>
      <p:sp>
        <p:nvSpPr>
          <p:cNvPr id="10" name="Card10"/>
          <p:cNvSpPr/>
          <p:nvPr/>
        </p:nvSpPr>
        <p:spPr>
          <a:xfrm>
            <a:off x="6300000" y="3600000"/>
            <a:ext cx="5394960" cy="18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Using Options</a:t>
            </a:r>
            <a:endParaRPr lang="en-US"/>
          </a:p>
          <a:p>
            <a:pPr marL="0" indent="0">
              <a:spcBef>
                <a:spcPts val="200"/>
              </a:spcBef>
              <a:buNone/>
            </a:pPr>
            <a:r>
              <a:rPr lang="en-US" sz="600" b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</a:rPr>
              <a:t>─────────────────────────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public class TaskRepo(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  IOptions&lt;MongoDbSettings&gt; opts) {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  var db = opts.Value.DatabaseName; 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finition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BottomBa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itle"/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</a:rPr>
              <a:t>Swagger &amp; OpenAPI Support</a:t>
            </a:r>
          </a:p>
        </p:txBody>
      </p:sp>
      <p:sp>
        <p:nvSpPr>
          <p:cNvPr id="6" name="Subtitle"/>
          <p:cNvSpPr/>
          <p:nvPr/>
        </p:nvSpPr>
        <p:spPr>
          <a:xfrm>
            <a:off x="502920" y="850000"/>
            <a:ext cx="100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0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</a:rPr>
              <a:t>OpenAPI (formerly Swagger) generates interactive API documentation automatically from your controllers and models.</a:t>
            </a:r>
          </a:p>
        </p:txBody>
      </p:sp>
      <p:sp>
        <p:nvSpPr>
          <p:cNvPr id="7" name="Card7"/>
          <p:cNvSpPr/>
          <p:nvPr/>
        </p:nvSpPr>
        <p:spPr>
          <a:xfrm>
            <a:off x="502920" y="1450000"/>
            <a:ext cx="5394960" cy="18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EC4899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What is OpenAPI?</a:t>
            </a:r>
            <a:endParaRPr lang="en-US"/>
          </a:p>
          <a:p>
            <a:pPr marL="0" indent="0">
              <a:spcBef>
                <a:spcPts val="200"/>
              </a:spcBef>
              <a:buNone/>
            </a:pPr>
            <a:r>
              <a:rPr lang="en-US" sz="600" b="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</a:rPr>
              <a:t>─────────────────────────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A specification for describing REST APIs.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Enables auto-generated docs, client SDKs,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and testing interfaces.</a:t>
            </a:r>
          </a:p>
        </p:txBody>
      </p:sp>
      <p:sp>
        <p:nvSpPr>
          <p:cNvPr id="8" name="Card8"/>
          <p:cNvSpPr/>
          <p:nvPr/>
        </p:nvSpPr>
        <p:spPr>
          <a:xfrm>
            <a:off x="6300000" y="1450000"/>
            <a:ext cx="5394960" cy="18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EC4899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Setup in .NET</a:t>
            </a:r>
            <a:endParaRPr lang="en-US"/>
          </a:p>
          <a:p>
            <a:pPr marL="0" indent="0">
              <a:spcBef>
                <a:spcPts val="200"/>
              </a:spcBef>
              <a:buNone/>
            </a:pPr>
            <a:r>
              <a:rPr lang="en-US" sz="600" b="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</a:rPr>
              <a:t>─────────────────────────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builder.Services.AddOpenApi();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...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app.MapOpenApi();</a:t>
            </a:r>
          </a:p>
        </p:txBody>
      </p:sp>
      <p:sp>
        <p:nvSpPr>
          <p:cNvPr id="9" name="Card9"/>
          <p:cNvSpPr/>
          <p:nvPr/>
        </p:nvSpPr>
        <p:spPr>
          <a:xfrm>
            <a:off x="502920" y="3600000"/>
            <a:ext cx="5394960" cy="18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EC4899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Swagger UI</a:t>
            </a:r>
            <a:endParaRPr lang="en-US"/>
          </a:p>
          <a:p>
            <a:pPr marL="0" indent="0">
              <a:spcBef>
                <a:spcPts val="200"/>
              </a:spcBef>
              <a:buNone/>
            </a:pPr>
            <a:r>
              <a:rPr lang="en-US" sz="600" b="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</a:rPr>
              <a:t>─────────────────────────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Access interactive docs at /swagger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Test endpoints directly in the browser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See request/response schemas</a:t>
            </a:r>
          </a:p>
        </p:txBody>
      </p:sp>
      <p:sp>
        <p:nvSpPr>
          <p:cNvPr id="10" name="Card10"/>
          <p:cNvSpPr/>
          <p:nvPr/>
        </p:nvSpPr>
        <p:spPr>
          <a:xfrm>
            <a:off x="6300000" y="3600000"/>
            <a:ext cx="5394960" cy="18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EC4899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Customization</a:t>
            </a:r>
            <a:endParaRPr lang="en-US"/>
          </a:p>
          <a:p>
            <a:pPr marL="0" indent="0">
              <a:spcBef>
                <a:spcPts val="200"/>
              </a:spcBef>
              <a:buNone/>
            </a:pPr>
            <a:r>
              <a:rPr lang="en-US" sz="600" b="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</a:rPr>
              <a:t>─────────────────────────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Add XML comments for descriptions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Use [ProducesResponseType] attributes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Group endpoints with tags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shop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BottomBa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itle"/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</a:rPr>
              <a:t>Workshop: Middleware Configuration</a:t>
            </a:r>
          </a:p>
        </p:txBody>
      </p:sp>
      <p:sp>
        <p:nvSpPr>
          <p:cNvPr id="6" name="Subtitle"/>
          <p:cNvSpPr/>
          <p:nvPr/>
        </p:nvSpPr>
        <p:spPr>
          <a:xfrm>
            <a:off x="502920" y="850000"/>
            <a:ext cx="100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0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</a:rPr>
              <a:t>Configure the ASP.NET Core middleware pipeline step by step</a:t>
            </a:r>
          </a:p>
        </p:txBody>
      </p:sp>
      <p:sp>
        <p:nvSpPr>
          <p:cNvPr id="7" name="Step01"/>
          <p:cNvSpPr/>
          <p:nvPr/>
        </p:nvSpPr>
        <p:spPr>
          <a:xfrm>
            <a:off x="502920" y="1350000"/>
            <a:ext cx="3400000" cy="19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</a:rPr>
              <a:t>STEP 01</a:t>
            </a:r>
            <a:endParaRPr lang="en-US"/>
          </a:p>
          <a:p>
            <a:pPr marL="0" indent="0">
              <a:spcBef>
                <a:spcPts val="150"/>
              </a:spcBef>
              <a:buNone/>
            </a:pPr>
            <a:r>
              <a:rPr lang="en-US" sz="1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Create a New Web API Project</a:t>
            </a:r>
            <a:endParaRPr lang="en-US"/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dotnet new webapi -n MiddlewareDemo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cd MiddlewareDemo</a:t>
            </a:r>
          </a:p>
        </p:txBody>
      </p:sp>
      <p:sp>
        <p:nvSpPr>
          <p:cNvPr id="8" name="Step02"/>
          <p:cNvSpPr/>
          <p:nvPr/>
        </p:nvSpPr>
        <p:spPr>
          <a:xfrm>
            <a:off x="4200000" y="1350000"/>
            <a:ext cx="3400000" cy="19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</a:rPr>
              <a:t>STEP 02</a:t>
            </a:r>
            <a:endParaRPr lang="en-US"/>
          </a:p>
          <a:p>
            <a:pPr marL="0" indent="0">
              <a:spcBef>
                <a:spcPts val="150"/>
              </a:spcBef>
              <a:buNone/>
            </a:pPr>
            <a:r>
              <a:rPr lang="en-US" sz="1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Open Program.cs</a:t>
            </a:r>
            <a:endParaRPr lang="en-US"/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Review the default middleware pipeline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Note the order of app.Use*() calls</a:t>
            </a:r>
          </a:p>
        </p:txBody>
      </p:sp>
      <p:sp>
        <p:nvSpPr>
          <p:cNvPr id="9" name="Step03"/>
          <p:cNvSpPr/>
          <p:nvPr/>
        </p:nvSpPr>
        <p:spPr>
          <a:xfrm>
            <a:off x="7900000" y="1350000"/>
            <a:ext cx="3400000" cy="19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</a:rPr>
              <a:t>STEP 03</a:t>
            </a:r>
            <a:endParaRPr lang="en-US"/>
          </a:p>
          <a:p>
            <a:pPr marL="0" indent="0">
              <a:spcBef>
                <a:spcPts val="150"/>
              </a:spcBef>
              <a:buNone/>
            </a:pPr>
            <a:r>
              <a:rPr lang="en-US" sz="1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Add Custom Middleware</a:t>
            </a:r>
            <a:endParaRPr lang="en-US"/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app.Use(async (context, next) =&gt; {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  Console.WriteLine($"Request: {context.Request.Path}");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  await next();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  Console.WriteLine($"Response: {context.Response.StatusCode}");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});</a:t>
            </a:r>
          </a:p>
        </p:txBody>
      </p:sp>
      <p:sp>
        <p:nvSpPr>
          <p:cNvPr id="10" name="Step04"/>
          <p:cNvSpPr/>
          <p:nvPr/>
        </p:nvSpPr>
        <p:spPr>
          <a:xfrm>
            <a:off x="502920" y="3600000"/>
            <a:ext cx="3400000" cy="19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</a:rPr>
              <a:t>STEP 04</a:t>
            </a:r>
            <a:endParaRPr lang="en-US"/>
          </a:p>
          <a:p>
            <a:pPr marL="0" indent="0">
              <a:spcBef>
                <a:spcPts val="150"/>
              </a:spcBef>
              <a:buNone/>
            </a:pPr>
            <a:r>
              <a:rPr lang="en-US" sz="1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Add Exception Handling</a:t>
            </a:r>
            <a:endParaRPr lang="en-US"/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app.UseExceptionHandler("/error");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Place it FIRST in the pipeline</a:t>
            </a:r>
          </a:p>
        </p:txBody>
      </p:sp>
      <p:sp>
        <p:nvSpPr>
          <p:cNvPr id="11" name="Step05"/>
          <p:cNvSpPr/>
          <p:nvPr/>
        </p:nvSpPr>
        <p:spPr>
          <a:xfrm>
            <a:off x="4200000" y="3600000"/>
            <a:ext cx="3400000" cy="19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</a:rPr>
              <a:t>STEP 05</a:t>
            </a:r>
            <a:endParaRPr lang="en-US"/>
          </a:p>
          <a:p>
            <a:pPr marL="0" indent="0">
              <a:spcBef>
                <a:spcPts val="150"/>
              </a:spcBef>
              <a:buNone/>
            </a:pPr>
            <a:r>
              <a:rPr lang="en-US" sz="1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Test the Pipeline</a:t>
            </a:r>
            <a:endParaRPr lang="en-US"/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dotnet run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Hit endpoints and observe console logs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Check middleware execution order</a:t>
            </a:r>
          </a:p>
        </p:txBody>
      </p:sp>
      <p:sp>
        <p:nvSpPr>
          <p:cNvPr id="12" name="Step06"/>
          <p:cNvSpPr/>
          <p:nvPr/>
        </p:nvSpPr>
        <p:spPr>
          <a:xfrm>
            <a:off x="7900000" y="3600000"/>
            <a:ext cx="3400000" cy="19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</a:rPr>
              <a:t>STEP 06</a:t>
            </a:r>
            <a:endParaRPr lang="en-US"/>
          </a:p>
          <a:p>
            <a:pPr marL="0" indent="0">
              <a:spcBef>
                <a:spcPts val="150"/>
              </a:spcBef>
              <a:buNone/>
            </a:pPr>
            <a:r>
              <a:rPr lang="en-US" sz="1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Add a Middleware Class</a:t>
            </a:r>
            <a:endParaRPr lang="en-US"/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Create RequestTimingMiddleware.cs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Measure and log request duration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Register with app.UseMiddleware&lt;T&gt;()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shop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BottomBa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itle"/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</a:rPr>
              <a:t>Workshop: Dependency Injection</a:t>
            </a:r>
          </a:p>
        </p:txBody>
      </p:sp>
      <p:sp>
        <p:nvSpPr>
          <p:cNvPr id="6" name="Subtitle"/>
          <p:cNvSpPr/>
          <p:nvPr/>
        </p:nvSpPr>
        <p:spPr>
          <a:xfrm>
            <a:off x="502920" y="850000"/>
            <a:ext cx="100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0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</a:rPr>
              <a:t>Practice registering and injecting services in ASP.NET Core</a:t>
            </a:r>
          </a:p>
        </p:txBody>
      </p:sp>
      <p:sp>
        <p:nvSpPr>
          <p:cNvPr id="7" name="Step01"/>
          <p:cNvSpPr/>
          <p:nvPr/>
        </p:nvSpPr>
        <p:spPr>
          <a:xfrm>
            <a:off x="502920" y="1350000"/>
            <a:ext cx="3400000" cy="19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</a:rPr>
              <a:t>STEP 01</a:t>
            </a:r>
            <a:endParaRPr lang="en-US"/>
          </a:p>
          <a:p>
            <a:pPr marL="0" indent="0">
              <a:spcBef>
                <a:spcPts val="150"/>
              </a:spcBef>
              <a:buNone/>
            </a:pPr>
            <a:r>
              <a:rPr lang="en-US" sz="1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Define an Interface</a:t>
            </a:r>
            <a:endParaRPr lang="en-US"/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public interface IGreetingService {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  string Greet(string name);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}</a:t>
            </a:r>
          </a:p>
        </p:txBody>
      </p:sp>
      <p:sp>
        <p:nvSpPr>
          <p:cNvPr id="8" name="Step02"/>
          <p:cNvSpPr/>
          <p:nvPr/>
        </p:nvSpPr>
        <p:spPr>
          <a:xfrm>
            <a:off x="4200000" y="1350000"/>
            <a:ext cx="3400000" cy="19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</a:rPr>
              <a:t>STEP 02</a:t>
            </a:r>
            <a:endParaRPr lang="en-US"/>
          </a:p>
          <a:p>
            <a:pPr marL="0" indent="0">
              <a:spcBef>
                <a:spcPts val="150"/>
              </a:spcBef>
              <a:buNone/>
            </a:pPr>
            <a:r>
              <a:rPr lang="en-US" sz="1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Implement the Interface</a:t>
            </a:r>
            <a:endParaRPr lang="en-US"/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public class GreetingService : IGreetingService {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  public string Greet(string name)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    =&gt; $"Hello, {name}!";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}</a:t>
            </a:r>
          </a:p>
        </p:txBody>
      </p:sp>
      <p:sp>
        <p:nvSpPr>
          <p:cNvPr id="9" name="Step03"/>
          <p:cNvSpPr/>
          <p:nvPr/>
        </p:nvSpPr>
        <p:spPr>
          <a:xfrm>
            <a:off x="7900000" y="1350000"/>
            <a:ext cx="3400000" cy="19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</a:rPr>
              <a:t>STEP 03</a:t>
            </a:r>
            <a:endParaRPr lang="en-US"/>
          </a:p>
          <a:p>
            <a:pPr marL="0" indent="0">
              <a:spcBef>
                <a:spcPts val="150"/>
              </a:spcBef>
              <a:buNone/>
            </a:pPr>
            <a:r>
              <a:rPr lang="en-US" sz="1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Register the Service</a:t>
            </a:r>
            <a:endParaRPr lang="en-US"/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builder.Services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  .AddScoped&lt;IGreetingService,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    GreetingService&gt;();</a:t>
            </a:r>
          </a:p>
        </p:txBody>
      </p:sp>
      <p:sp>
        <p:nvSpPr>
          <p:cNvPr id="10" name="Step04"/>
          <p:cNvSpPr/>
          <p:nvPr/>
        </p:nvSpPr>
        <p:spPr>
          <a:xfrm>
            <a:off x="502920" y="3600000"/>
            <a:ext cx="3400000" cy="19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</a:rPr>
              <a:t>STEP 04</a:t>
            </a:r>
            <a:endParaRPr lang="en-US"/>
          </a:p>
          <a:p>
            <a:pPr marL="0" indent="0">
              <a:spcBef>
                <a:spcPts val="150"/>
              </a:spcBef>
              <a:buNone/>
            </a:pPr>
            <a:r>
              <a:rPr lang="en-US" sz="1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Inject into a Controller</a:t>
            </a:r>
            <a:endParaRPr lang="en-US"/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public class HelloController(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  IGreetingService svc)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  : ControllerBase { ... }</a:t>
            </a:r>
          </a:p>
        </p:txBody>
      </p:sp>
      <p:sp>
        <p:nvSpPr>
          <p:cNvPr id="11" name="Step05"/>
          <p:cNvSpPr/>
          <p:nvPr/>
        </p:nvSpPr>
        <p:spPr>
          <a:xfrm>
            <a:off x="4200000" y="3600000"/>
            <a:ext cx="3400000" cy="19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</a:rPr>
              <a:t>STEP 05</a:t>
            </a:r>
            <a:endParaRPr lang="en-US"/>
          </a:p>
          <a:p>
            <a:pPr marL="0" indent="0">
              <a:spcBef>
                <a:spcPts val="150"/>
              </a:spcBef>
              <a:buNone/>
            </a:pPr>
            <a:r>
              <a:rPr lang="en-US" sz="1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Test Lifetime Scopes</a:t>
            </a:r>
            <a:endParaRPr lang="en-US"/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Register as Transient, Scoped, Singleton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Inject into multiple places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Observe instance IDs per request</a:t>
            </a:r>
          </a:p>
        </p:txBody>
      </p:sp>
      <p:sp>
        <p:nvSpPr>
          <p:cNvPr id="12" name="Step06"/>
          <p:cNvSpPr/>
          <p:nvPr/>
        </p:nvSpPr>
        <p:spPr>
          <a:xfrm>
            <a:off x="7900000" y="3600000"/>
            <a:ext cx="3400000" cy="19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</a:rPr>
              <a:t>STEP 06</a:t>
            </a:r>
            <a:endParaRPr lang="en-US"/>
          </a:p>
          <a:p>
            <a:pPr marL="0" indent="0">
              <a:spcBef>
                <a:spcPts val="150"/>
              </a:spcBef>
              <a:buNone/>
            </a:pPr>
            <a:r>
              <a:rPr lang="en-US" sz="1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Run &amp; Verify</a:t>
            </a:r>
            <a:endParaRPr lang="en-US"/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dotnet run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curl /api/hello/YourName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Check DI resolution in action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shop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BottomBa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itle"/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</a:rPr>
              <a:t>Workshop: Controllers</a:t>
            </a:r>
          </a:p>
        </p:txBody>
      </p:sp>
      <p:sp>
        <p:nvSpPr>
          <p:cNvPr id="6" name="Subtitle"/>
          <p:cNvSpPr/>
          <p:nvPr/>
        </p:nvSpPr>
        <p:spPr>
          <a:xfrm>
            <a:off x="502920" y="850000"/>
            <a:ext cx="100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0" dirty="0">
                <a:solidFill>
                  <a:srgbClr val="94A3B8"/>
                </a:solidFill>
                <a:latin typeface="Aptos Display" pitchFamily="34" charset="0"/>
                <a:ea typeface="Aptos Display" pitchFamily="34" charset="-122"/>
              </a:rPr>
              <a:t>Build a complete REST API controller with CRUD operations</a:t>
            </a:r>
          </a:p>
        </p:txBody>
      </p:sp>
      <p:sp>
        <p:nvSpPr>
          <p:cNvPr id="7" name="Step01"/>
          <p:cNvSpPr/>
          <p:nvPr/>
        </p:nvSpPr>
        <p:spPr>
          <a:xfrm>
            <a:off x="502920" y="1350000"/>
            <a:ext cx="3400000" cy="19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</a:rPr>
              <a:t>STEP 01</a:t>
            </a:r>
            <a:endParaRPr lang="en-US"/>
          </a:p>
          <a:p>
            <a:pPr marL="0" indent="0">
              <a:spcBef>
                <a:spcPts val="150"/>
              </a:spcBef>
              <a:buNone/>
            </a:pPr>
            <a:r>
              <a:rPr lang="en-US" sz="1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Create a Model</a:t>
            </a:r>
            <a:endParaRPr lang="en-US"/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public class TodoItem {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  public int Id { get; set; }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  public string Title { get; set; }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  public bool IsComplete { get; set; }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}</a:t>
            </a:r>
          </a:p>
        </p:txBody>
      </p:sp>
      <p:sp>
        <p:nvSpPr>
          <p:cNvPr id="8" name="Step02"/>
          <p:cNvSpPr/>
          <p:nvPr/>
        </p:nvSpPr>
        <p:spPr>
          <a:xfrm>
            <a:off x="4200000" y="1350000"/>
            <a:ext cx="3400000" cy="19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</a:rPr>
              <a:t>STEP 02</a:t>
            </a:r>
            <a:endParaRPr lang="en-US"/>
          </a:p>
          <a:p>
            <a:pPr marL="0" indent="0">
              <a:spcBef>
                <a:spcPts val="150"/>
              </a:spcBef>
              <a:buNone/>
            </a:pPr>
            <a:r>
              <a:rPr lang="en-US" sz="1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Create the Controller</a:t>
            </a:r>
            <a:endParaRPr lang="en-US"/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dotnet new classlib is not needed — just add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[ApiController]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[Route("api/[controller]")]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public class TodoController : ControllerBase</a:t>
            </a:r>
          </a:p>
        </p:txBody>
      </p:sp>
      <p:sp>
        <p:nvSpPr>
          <p:cNvPr id="9" name="Step03"/>
          <p:cNvSpPr/>
          <p:nvPr/>
        </p:nvSpPr>
        <p:spPr>
          <a:xfrm>
            <a:off x="7900000" y="1350000"/>
            <a:ext cx="3400000" cy="19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</a:rPr>
              <a:t>STEP 03</a:t>
            </a:r>
            <a:endParaRPr lang="en-US"/>
          </a:p>
          <a:p>
            <a:pPr marL="0" indent="0">
              <a:spcBef>
                <a:spcPts val="150"/>
              </a:spcBef>
              <a:buNone/>
            </a:pPr>
            <a:r>
              <a:rPr lang="en-US" sz="1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Add GET Endpoints</a:t>
            </a:r>
            <a:endParaRPr lang="en-US"/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[HttpGet] GetAll()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[HttpGet("{id}")] GetById(int id)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Return Ok() or NotFound()</a:t>
            </a:r>
          </a:p>
        </p:txBody>
      </p:sp>
      <p:sp>
        <p:nvSpPr>
          <p:cNvPr id="10" name="Step04"/>
          <p:cNvSpPr/>
          <p:nvPr/>
        </p:nvSpPr>
        <p:spPr>
          <a:xfrm>
            <a:off x="502920" y="3600000"/>
            <a:ext cx="3400000" cy="19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</a:rPr>
              <a:t>STEP 04</a:t>
            </a:r>
            <a:endParaRPr lang="en-US"/>
          </a:p>
          <a:p>
            <a:pPr marL="0" indent="0">
              <a:spcBef>
                <a:spcPts val="150"/>
              </a:spcBef>
              <a:buNone/>
            </a:pPr>
            <a:r>
              <a:rPr lang="en-US" sz="1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Add POST / PUT / DELETE</a:t>
            </a:r>
            <a:endParaRPr lang="en-US"/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[HttpPost] Create([FromBody] TodoItem)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[HttpPut("{id}")] Update(...)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[HttpDelete("{id}")] Delete(...)</a:t>
            </a:r>
          </a:p>
        </p:txBody>
      </p:sp>
      <p:sp>
        <p:nvSpPr>
          <p:cNvPr id="11" name="Step05"/>
          <p:cNvSpPr/>
          <p:nvPr/>
        </p:nvSpPr>
        <p:spPr>
          <a:xfrm>
            <a:off x="4200000" y="3600000"/>
            <a:ext cx="3400000" cy="19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</a:rPr>
              <a:t>STEP 05</a:t>
            </a:r>
            <a:endParaRPr lang="en-US"/>
          </a:p>
          <a:p>
            <a:pPr marL="0" indent="0">
              <a:spcBef>
                <a:spcPts val="150"/>
              </a:spcBef>
              <a:buNone/>
            </a:pPr>
            <a:r>
              <a:rPr lang="en-US" sz="1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Add Model Validation</a:t>
            </a:r>
            <a:endParaRPr lang="en-US"/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Use [Required], [StringLength] attributes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Return BadRequest(ModelState)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Test with invalid data</a:t>
            </a:r>
          </a:p>
        </p:txBody>
      </p:sp>
      <p:sp>
        <p:nvSpPr>
          <p:cNvPr id="12" name="Step06"/>
          <p:cNvSpPr/>
          <p:nvPr/>
        </p:nvSpPr>
        <p:spPr>
          <a:xfrm>
            <a:off x="7900000" y="3600000"/>
            <a:ext cx="3400000" cy="1900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  <p:txBody>
          <a:bodyPr wrap="square" lIns="182880" tIns="137160" rIns="18288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</a:rPr>
              <a:t>STEP 06</a:t>
            </a:r>
            <a:endParaRPr lang="en-US"/>
          </a:p>
          <a:p>
            <a:pPr marL="0" indent="0">
              <a:spcBef>
                <a:spcPts val="150"/>
              </a:spcBef>
              <a:buNone/>
            </a:pPr>
            <a:r>
              <a:rPr lang="en-US" sz="1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</a:rPr>
              <a:t>Test with Swagger</a:t>
            </a:r>
            <a:endParaRPr lang="en-US"/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dotnet run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Open /swagger in browser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</a:rPr>
              <a:t>Test all CRUD operations interactively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3226</Words>
  <Application>Microsoft Office PowerPoint</Application>
  <PresentationFormat>Widescreen</PresentationFormat>
  <Paragraphs>392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.NET and C# Fundamentals Companion Deck</dc:title>
  <dc:subject>.NET and C# fundamentals for web API training</dc:subject>
  <dc:creator>OpenAI</dc:creator>
  <cp:lastModifiedBy>Abdul  Rehman</cp:lastModifiedBy>
  <cp:revision>5</cp:revision>
  <dcterms:created xsi:type="dcterms:W3CDTF">2026-04-01T23:38:30Z</dcterms:created>
  <dcterms:modified xsi:type="dcterms:W3CDTF">2026-04-02T01:02:27Z</dcterms:modified>
</cp:coreProperties>
</file>