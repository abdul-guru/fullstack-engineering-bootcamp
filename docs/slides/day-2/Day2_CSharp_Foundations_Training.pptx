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8" r:id="rId4"/>
    <p:sldId id="269" r:id="rId5"/>
    <p:sldId id="270" r:id="rId6"/>
    <p:sldId id="259" r:id="rId7"/>
    <p:sldId id="260" r:id="rId8"/>
    <p:sldId id="271" r:id="rId9"/>
    <p:sldId id="279" r:id="rId10"/>
    <p:sldId id="272" r:id="rId11"/>
    <p:sldId id="262" r:id="rId12"/>
    <p:sldId id="263" r:id="rId13"/>
    <p:sldId id="264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6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656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Open the training by setting the expectation clearly: this is not an attempt to cover all of C# in one sitting. The value is the mental model, the coding habits, and the debugging mindset.
[Sources]
- User-provided theme guide and template used as the visual basis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Spend less than five minutes here. Your job is to show that the session is curated. Students should feel that the path is deliberate and realistic.
[Sources]
- None. Session design and sequencing are original for this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Keep this very plain. C# is the language. .NET is the platform. Students need this separation because it helps them understand tooling, runtime, libraries, and frameworks later.
[Sources]
- Microsoft Learn: Introduction to .NET — https://learn.microsoft.com/en-us/dotnet/core/introduction
- Microsoft Learn: C# documentation — https://learn.microsoft.com/en-us/dotnet/csharp/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Walk slowly through the six steps. This gives students a reusable checklist they can apply even when they do not yet know much syntax.
[Sources]
- None. Original instructional model for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is a high-value discussion slide. Read one weak example, then ask the class how they would improve it before you reveal the stronger side.
[Sources]
- None. This comparison is instructional guidance based on standard software engineering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Read this code from top to bottom. The teaching point is not the calculation itself. The teaching point is separation: Main orchestrates; the method performs focused work.
[Sources]
- None. Original instructional example for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Pause here and let the room work. The key idea is misplaced responsibility: calculation and console output are mixed together. Ask students how they would split those concerns.
[Sources]
- None. Original workshop example for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End with confidence, not with another content dump. Restate the core rule of the day: write code you can explain and debug, not code you only copied.
[Sources]
- None. Original summary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731520"/>
            <a:ext cx="224028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758952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10515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.Net</a:t>
            </a: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and C# Foundations for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 Developers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68096" y="22402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syntax to structured thinking in .NET 10.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907792"/>
            <a:ext cx="822960" cy="301752"/>
          </a:xfrm>
          <a:prstGeom prst="roundRect">
            <a:avLst>
              <a:gd name="adj" fmla="val 24242"/>
            </a:avLst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97180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19072" y="2907792"/>
            <a:ext cx="822960" cy="301752"/>
          </a:xfrm>
          <a:prstGeom prst="roundRect">
            <a:avLst>
              <a:gd name="adj" fmla="val 24242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97180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C#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345643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short, practical session that helps team understand the core pieces of </a:t>
            </a:r>
            <a:r>
              <a:rPr lang="en-US" sz="1400" dirty="0" err="1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</a:t>
            </a: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C#, write cleaner code, and debug with intent.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50608" y="1143000"/>
            <a:ext cx="4069080" cy="4572000"/>
          </a:xfrm>
          <a:prstGeom prst="roundRect">
            <a:avLst>
              <a:gd name="adj" fmla="val 2247"/>
            </a:avLst>
          </a:prstGeom>
          <a:solidFill>
            <a:srgbClr val="13223B"/>
          </a:solidFill>
          <a:ln w="12700">
            <a:solidFill>
              <a:srgbClr val="13223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1600200"/>
            <a:ext cx="288036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16368" y="170843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</a:t>
            </a: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Platform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61120" y="2176272"/>
            <a:ext cx="0" cy="219456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6368" y="2487168"/>
            <a:ext cx="2880360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2623393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C# Programing Language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61120" y="3063240"/>
            <a:ext cx="0" cy="219456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16368" y="3374136"/>
            <a:ext cx="28803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3501030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</a:t>
            </a:r>
            <a:r>
              <a:rPr lang="en-US" sz="1400" b="1" dirty="0" err="1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Jugement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61120" y="3950208"/>
            <a:ext cx="0" cy="219456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16368" y="4261104"/>
            <a:ext cx="288036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4443984"/>
            <a:ext cx="2880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 / Next step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614476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cover today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A short session prioritizing signal, not volume.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</a:t>
            </a:r>
            <a:r>
              <a:rPr lang="en-US" sz="950" b="1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</a:t>
            </a: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Foundations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444752"/>
            <a:ext cx="4892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we will cover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084832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C# and .NET each mean</a:t>
            </a:r>
            <a:endParaRPr lang="en-US" sz="17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mental model behind readable code</a:t>
            </a:r>
            <a:endParaRPr lang="en-US" sz="17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language essentials that matter first</a:t>
            </a:r>
            <a:endParaRPr lang="en-US" sz="17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Clean-code habits team should practice immediately</a:t>
            </a:r>
            <a:endParaRPr lang="en-US" sz="17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console-app demo and review exercises</a:t>
            </a:r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</a:rPr>
              <a:t>Practice projects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44768" y="1444752"/>
            <a:ext cx="514807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7373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intention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208483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should leave with a clear picture of how code is shaped, why good naming and method boundaries matter, and how to investigate bugs instead of guessing.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19088" y="3246120"/>
            <a:ext cx="1234440" cy="301752"/>
          </a:xfrm>
          <a:prstGeom prst="roundRect">
            <a:avLst>
              <a:gd name="adj" fmla="val 2424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096" y="3310128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first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3246120"/>
            <a:ext cx="1005840" cy="301752"/>
          </a:xfrm>
          <a:prstGeom prst="roundRect">
            <a:avLst>
              <a:gd name="adj" fmla="val 24242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3310128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live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24544" y="3246120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8552" y="331012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mistakes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19088" y="3822192"/>
            <a:ext cx="4251960" cy="1444752"/>
          </a:xfrm>
          <a:prstGeom prst="roundRect">
            <a:avLst>
              <a:gd name="adj" fmla="val 379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8FC5F519-639D-2ECA-2AB2-5AAFAA9748B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FF8CBF69-7F89-E4A2-AA22-972452A18AFA}"/>
              </a:ext>
            </a:extLst>
          </p:cNvPr>
          <p:cNvSpPr/>
          <p:nvPr/>
        </p:nvSpPr>
        <p:spPr>
          <a:xfrm>
            <a:off x="685800" y="201168"/>
            <a:ext cx="1373429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DC2FFEA8-0177-D9C0-5F67-AF5C9DB6FF6B}"/>
              </a:ext>
            </a:extLst>
          </p:cNvPr>
          <p:cNvSpPr/>
          <p:nvPr/>
        </p:nvSpPr>
        <p:spPr>
          <a:xfrm>
            <a:off x="758952" y="242316"/>
            <a:ext cx="122712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2563EB"/>
                </a:solidFill>
                <a:latin typeface="Aptos" pitchFamily="34" charset="0"/>
              </a:rPr>
              <a:t>.Net</a:t>
            </a:r>
            <a:endParaRPr lang="en-US" sz="95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908B71AC-A8EB-1362-8C3F-2422F67127D5}"/>
              </a:ext>
            </a:extLst>
          </p:cNvPr>
          <p:cNvSpPr/>
          <p:nvPr/>
        </p:nvSpPr>
        <p:spPr>
          <a:xfrm>
            <a:off x="685800" y="51206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</a:t>
            </a:r>
            <a:r>
              <a:rPr lang="en-US" sz="27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.Net</a:t>
            </a: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7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F135C9FA-C08C-95D1-B7E9-CEC6F3792B67}"/>
              </a:ext>
            </a:extLst>
          </p:cNvPr>
          <p:cNvSpPr/>
          <p:nvPr/>
        </p:nvSpPr>
        <p:spPr>
          <a:xfrm>
            <a:off x="685800" y="932688"/>
            <a:ext cx="940992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Think of .NET as the application platform and runtime that lets you build many styles of software with a shared ecosystem.</a:t>
            </a:r>
            <a:endParaRPr lang="en-US" sz="14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6C0776B9-91AE-874F-0A26-D261A4AB74CD}"/>
              </a:ext>
            </a:extLst>
          </p:cNvPr>
          <p:cNvSpPr/>
          <p:nvPr/>
        </p:nvSpPr>
        <p:spPr>
          <a:xfrm>
            <a:off x="9646920" y="31089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</a:t>
            </a:r>
            <a:r>
              <a:rPr lang="en-US" sz="900" b="1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</a:t>
            </a: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Foundations</a:t>
            </a:r>
            <a:endParaRPr lang="en-US" sz="90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3C57423D-84F4-F8EE-152D-8215D8877A75}"/>
              </a:ext>
            </a:extLst>
          </p:cNvPr>
          <p:cNvSpPr/>
          <p:nvPr/>
        </p:nvSpPr>
        <p:spPr>
          <a:xfrm>
            <a:off x="713232" y="1444752"/>
            <a:ext cx="109728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5207E8D3-814D-405B-0666-D0DAACA4AC3C}"/>
              </a:ext>
            </a:extLst>
          </p:cNvPr>
          <p:cNvSpPr/>
          <p:nvPr/>
        </p:nvSpPr>
        <p:spPr>
          <a:xfrm>
            <a:off x="960119" y="1828800"/>
            <a:ext cx="3061617" cy="2258008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9586C24A-D800-604B-3FB1-A6C6CB268B96}"/>
              </a:ext>
            </a:extLst>
          </p:cNvPr>
          <p:cNvSpPr/>
          <p:nvPr/>
        </p:nvSpPr>
        <p:spPr>
          <a:xfrm>
            <a:off x="1106424" y="19568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1B2551E4-5435-9215-29B4-7AFEE9F367D6}"/>
              </a:ext>
            </a:extLst>
          </p:cNvPr>
          <p:cNvSpPr/>
          <p:nvPr/>
        </p:nvSpPr>
        <p:spPr>
          <a:xfrm>
            <a:off x="1117397" y="24643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+ Runtime</a:t>
            </a:r>
            <a:endParaRPr lang="en-US" sz="155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BBA247A6-4A42-A763-09B6-69B26FDFBD29}"/>
              </a:ext>
            </a:extLst>
          </p:cNvPr>
          <p:cNvSpPr/>
          <p:nvPr/>
        </p:nvSpPr>
        <p:spPr>
          <a:xfrm>
            <a:off x="1182624" y="2811780"/>
            <a:ext cx="2744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/>
              <a:t>Provides the runtime, core libraries, SDK, tooling, and workloads used to build and run apps.</a:t>
            </a: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62B6878F-56FC-D0DA-B491-BF1F8761912B}"/>
              </a:ext>
            </a:extLst>
          </p:cNvPr>
          <p:cNvSpPr/>
          <p:nvPr/>
        </p:nvSpPr>
        <p:spPr>
          <a:xfrm>
            <a:off x="4527400" y="1828800"/>
            <a:ext cx="3025544" cy="2258008"/>
          </a:xfrm>
          <a:prstGeom prst="roundRect">
            <a:avLst>
              <a:gd name="adj" fmla="val 592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2A113A00-4E59-42D7-E9D1-626E09D76176}"/>
              </a:ext>
            </a:extLst>
          </p:cNvPr>
          <p:cNvSpPr/>
          <p:nvPr/>
        </p:nvSpPr>
        <p:spPr>
          <a:xfrm>
            <a:off x="4673704" y="19568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E877EE2B-8AA3-F1FA-72F5-86A113ADCFBA}"/>
              </a:ext>
            </a:extLst>
          </p:cNvPr>
          <p:cNvSpPr/>
          <p:nvPr/>
        </p:nvSpPr>
        <p:spPr>
          <a:xfrm>
            <a:off x="4708657" y="2472619"/>
            <a:ext cx="2769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</a:rPr>
              <a:t>One ecosystem, many workloads</a:t>
            </a:r>
            <a:endParaRPr lang="en-US" sz="155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698B9F99-4492-82C1-3592-6FF45C306596}"/>
              </a:ext>
            </a:extLst>
          </p:cNvPr>
          <p:cNvSpPr/>
          <p:nvPr/>
        </p:nvSpPr>
        <p:spPr>
          <a:xfrm>
            <a:off x="4711082" y="2955756"/>
            <a:ext cx="2633472" cy="76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/>
              <a:t>The same platform can power console tools, web APIs, websites, desktop apps, services, cloud apps, mobile, and more.</a:t>
            </a: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FE40AF0A-7F00-3BBC-1242-FEB46A70A7B7}"/>
              </a:ext>
            </a:extLst>
          </p:cNvPr>
          <p:cNvSpPr/>
          <p:nvPr/>
        </p:nvSpPr>
        <p:spPr>
          <a:xfrm>
            <a:off x="7983832" y="1828800"/>
            <a:ext cx="3025544" cy="2258008"/>
          </a:xfrm>
          <a:prstGeom prst="roundRect">
            <a:avLst>
              <a:gd name="adj" fmla="val 592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824E5DBA-0B0B-07DF-BC09-5F527A6536BA}"/>
              </a:ext>
            </a:extLst>
          </p:cNvPr>
          <p:cNvSpPr/>
          <p:nvPr/>
        </p:nvSpPr>
        <p:spPr>
          <a:xfrm>
            <a:off x="8130136" y="19568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F8899AFD-6C82-96CF-2CCB-8BB49E9ED5B6}"/>
              </a:ext>
            </a:extLst>
          </p:cNvPr>
          <p:cNvSpPr/>
          <p:nvPr/>
        </p:nvSpPr>
        <p:spPr>
          <a:xfrm>
            <a:off x="8191401" y="2388269"/>
            <a:ext cx="2366018" cy="26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</a:rPr>
              <a:t>Shared developer model</a:t>
            </a:r>
            <a:endParaRPr lang="en-US" sz="1550" dirty="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496DCEA6-9E0D-1B14-3D60-ADE3B3FB82F7}"/>
              </a:ext>
            </a:extLst>
          </p:cNvPr>
          <p:cNvSpPr/>
          <p:nvPr/>
        </p:nvSpPr>
        <p:spPr>
          <a:xfrm>
            <a:off x="8218535" y="2690767"/>
            <a:ext cx="27680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/>
              <a:t>Projects, packages, dependency injection, configuration, logging, testing, and deployment concepts carry across app types.</a:t>
            </a:r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5B15BF16-A4A7-4F61-EC91-F4E78C8C2EBB}"/>
              </a:ext>
            </a:extLst>
          </p:cNvPr>
          <p:cNvSpPr/>
          <p:nvPr/>
        </p:nvSpPr>
        <p:spPr>
          <a:xfrm>
            <a:off x="7443216" y="203911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FAE967EB-ED50-B4E8-5AB8-7A3C65FF1EFD}"/>
              </a:ext>
            </a:extLst>
          </p:cNvPr>
          <p:cNvSpPr/>
          <p:nvPr/>
        </p:nvSpPr>
        <p:spPr>
          <a:xfrm>
            <a:off x="960120" y="4375690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/>
              <a:t>.NET gives you the foundation to run and structure the application.</a:t>
            </a:r>
          </a:p>
          <a:p>
            <a:pPr marL="152400" indent="-152400">
              <a:buSzPct val="100000"/>
              <a:buChar char="•"/>
            </a:pP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/>
              <a:t>ASP.NET Core gives you the web stack for HTTP APIs and web apps.</a:t>
            </a:r>
          </a:p>
          <a:p>
            <a:pPr marL="152400" indent="-152400">
              <a:buSzPct val="100000"/>
              <a:buChar char="•"/>
            </a:pP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/>
              <a:t>C# is the main language we will use to express the application logic.</a:t>
            </a:r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E07BD5BB-DC26-7EDB-E11D-B0A6937E4416}"/>
              </a:ext>
            </a:extLst>
          </p:cNvPr>
          <p:cNvSpPr/>
          <p:nvPr/>
        </p:nvSpPr>
        <p:spPr>
          <a:xfrm>
            <a:off x="685800" y="642823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</a:t>
            </a:r>
            <a:r>
              <a:rPr lang="en-US" sz="850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</a:t>
            </a: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foundations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83408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DA03D2-18C4-59E3-6DE0-F66A5A4AF2B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7CB67E-85EE-A626-9B8A-A1A9BE79E7FB}"/>
              </a:ext>
            </a:extLst>
          </p:cNvPr>
          <p:cNvSpPr/>
          <p:nvPr/>
        </p:nvSpPr>
        <p:spPr>
          <a:xfrm>
            <a:off x="685800" y="201168"/>
            <a:ext cx="1373429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F62C5E-B598-E6BB-3547-EC89ED252E08}"/>
              </a:ext>
            </a:extLst>
          </p:cNvPr>
          <p:cNvSpPr/>
          <p:nvPr/>
        </p:nvSpPr>
        <p:spPr>
          <a:xfrm>
            <a:off x="758952" y="242316"/>
            <a:ext cx="122712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41FDEE-19F6-F191-58BD-BFB0D50DFCA4}"/>
              </a:ext>
            </a:extLst>
          </p:cNvPr>
          <p:cNvSpPr/>
          <p:nvPr/>
        </p:nvSpPr>
        <p:spPr>
          <a:xfrm>
            <a:off x="685800" y="51206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can you build with .NET?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051272-705D-5693-45C7-BB2D4368DE6E}"/>
              </a:ext>
            </a:extLst>
          </p:cNvPr>
          <p:cNvSpPr/>
          <p:nvPr/>
        </p:nvSpPr>
        <p:spPr>
          <a:xfrm>
            <a:off x="685800" y="932688"/>
            <a:ext cx="940992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Breadth of </a:t>
            </a:r>
            <a:r>
              <a:rPr lang="en-US" sz="14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.Net</a:t>
            </a: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 platform.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DB6F18-2642-E019-7D16-25B666C2D90B}"/>
              </a:ext>
            </a:extLst>
          </p:cNvPr>
          <p:cNvSpPr/>
          <p:nvPr/>
        </p:nvSpPr>
        <p:spPr>
          <a:xfrm>
            <a:off x="9646920" y="31089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</a:t>
            </a:r>
            <a:r>
              <a:rPr lang="en-US" sz="900" b="1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</a:t>
            </a: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Foundations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4BA037A-7D5B-5362-3BCB-4030B2ED2AD4}"/>
              </a:ext>
            </a:extLst>
          </p:cNvPr>
          <p:cNvSpPr/>
          <p:nvPr/>
        </p:nvSpPr>
        <p:spPr>
          <a:xfrm>
            <a:off x="713232" y="1444752"/>
            <a:ext cx="109728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6E181A1-0329-889D-E677-452FFB68F8EB}"/>
              </a:ext>
            </a:extLst>
          </p:cNvPr>
          <p:cNvSpPr/>
          <p:nvPr/>
        </p:nvSpPr>
        <p:spPr>
          <a:xfrm>
            <a:off x="960119" y="1828800"/>
            <a:ext cx="3061617" cy="1874520"/>
          </a:xfrm>
          <a:prstGeom prst="roundRect">
            <a:avLst>
              <a:gd name="adj" fmla="val 592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0FA7D83-22A1-50F5-18E5-025F96FEC54D}"/>
              </a:ext>
            </a:extLst>
          </p:cNvPr>
          <p:cNvSpPr/>
          <p:nvPr/>
        </p:nvSpPr>
        <p:spPr>
          <a:xfrm>
            <a:off x="1106424" y="1956816"/>
            <a:ext cx="310896" cy="310896"/>
          </a:xfrm>
          <a:prstGeom prst="roundRect">
            <a:avLst>
              <a:gd name="adj" fmla="val 23529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BFFECD8B-5496-868D-329D-CFAD01F0B815}"/>
              </a:ext>
            </a:extLst>
          </p:cNvPr>
          <p:cNvSpPr/>
          <p:nvPr/>
        </p:nvSpPr>
        <p:spPr>
          <a:xfrm>
            <a:off x="1117397" y="2378001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Console app</a:t>
            </a:r>
            <a:endParaRPr lang="en-US" sz="16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5992C84-0504-22CF-B524-77EFF9868113}"/>
              </a:ext>
            </a:extLst>
          </p:cNvPr>
          <p:cNvSpPr/>
          <p:nvPr/>
        </p:nvSpPr>
        <p:spPr>
          <a:xfrm>
            <a:off x="1106424" y="2503774"/>
            <a:ext cx="2744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CLI tools, scripts, jobs, and utility programs.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3D9330C5-0264-42B6-EF04-70441F5849C3}"/>
              </a:ext>
            </a:extLst>
          </p:cNvPr>
          <p:cNvSpPr/>
          <p:nvPr/>
        </p:nvSpPr>
        <p:spPr>
          <a:xfrm>
            <a:off x="4527400" y="1828800"/>
            <a:ext cx="3025544" cy="1874520"/>
          </a:xfrm>
          <a:prstGeom prst="roundRect">
            <a:avLst>
              <a:gd name="adj" fmla="val 592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20DE3716-DBD7-328C-2F7A-E83BEDC24D89}"/>
              </a:ext>
            </a:extLst>
          </p:cNvPr>
          <p:cNvSpPr/>
          <p:nvPr/>
        </p:nvSpPr>
        <p:spPr>
          <a:xfrm>
            <a:off x="4673704" y="1956816"/>
            <a:ext cx="310896" cy="310896"/>
          </a:xfrm>
          <a:prstGeom prst="roundRect">
            <a:avLst>
              <a:gd name="adj" fmla="val 23529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1210BF06-ECFF-6966-97BC-71A8B6F094F2}"/>
              </a:ext>
            </a:extLst>
          </p:cNvPr>
          <p:cNvSpPr/>
          <p:nvPr/>
        </p:nvSpPr>
        <p:spPr>
          <a:xfrm>
            <a:off x="4673704" y="2368670"/>
            <a:ext cx="2166008" cy="21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Web API</a:t>
            </a:r>
            <a:endParaRPr lang="en-US" sz="16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24C69F49-849C-EA21-796E-403B725971C7}"/>
              </a:ext>
            </a:extLst>
          </p:cNvPr>
          <p:cNvSpPr/>
          <p:nvPr/>
        </p:nvSpPr>
        <p:spPr>
          <a:xfrm>
            <a:off x="4673704" y="2634405"/>
            <a:ext cx="2633472" cy="76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HTTP endpoints for React, mobile, integrations, and services.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712A3028-6477-2CE2-861F-3E221B8298E7}"/>
              </a:ext>
            </a:extLst>
          </p:cNvPr>
          <p:cNvSpPr/>
          <p:nvPr/>
        </p:nvSpPr>
        <p:spPr>
          <a:xfrm>
            <a:off x="7983832" y="1828800"/>
            <a:ext cx="3025544" cy="1874520"/>
          </a:xfrm>
          <a:prstGeom prst="roundRect">
            <a:avLst>
              <a:gd name="adj" fmla="val 5926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8EDF35DD-294F-12C1-99F4-EB8E38135702}"/>
              </a:ext>
            </a:extLst>
          </p:cNvPr>
          <p:cNvSpPr/>
          <p:nvPr/>
        </p:nvSpPr>
        <p:spPr>
          <a:xfrm>
            <a:off x="8130136" y="1956816"/>
            <a:ext cx="310896" cy="310896"/>
          </a:xfrm>
          <a:prstGeom prst="roundRect">
            <a:avLst>
              <a:gd name="adj" fmla="val 23529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93515CC9-ADC6-38A5-8AF7-57968F144798}"/>
              </a:ext>
            </a:extLst>
          </p:cNvPr>
          <p:cNvSpPr/>
          <p:nvPr/>
        </p:nvSpPr>
        <p:spPr>
          <a:xfrm>
            <a:off x="8164659" y="2326025"/>
            <a:ext cx="2366018" cy="26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Web app</a:t>
            </a:r>
            <a:endParaRPr lang="en-US" sz="1600" dirty="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4247A6A4-41A4-5579-7E59-E977C5DAF012}"/>
              </a:ext>
            </a:extLst>
          </p:cNvPr>
          <p:cNvSpPr/>
          <p:nvPr/>
        </p:nvSpPr>
        <p:spPr>
          <a:xfrm>
            <a:off x="8130135" y="2550430"/>
            <a:ext cx="27680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Server-rendered or component-based sites and internal portals.</a:t>
            </a:r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E6100EA2-63D6-6140-3B6B-60921152F5E7}"/>
              </a:ext>
            </a:extLst>
          </p:cNvPr>
          <p:cNvSpPr/>
          <p:nvPr/>
        </p:nvSpPr>
        <p:spPr>
          <a:xfrm>
            <a:off x="7443216" y="203911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36">
            <a:extLst>
              <a:ext uri="{FF2B5EF4-FFF2-40B4-BE49-F238E27FC236}">
                <a16:creationId xmlns:a16="http://schemas.microsoft.com/office/drawing/2014/main" id="{C4441564-2647-EC69-09EE-A6D72EA18EA3}"/>
              </a:ext>
            </a:extLst>
          </p:cNvPr>
          <p:cNvSpPr/>
          <p:nvPr/>
        </p:nvSpPr>
        <p:spPr>
          <a:xfrm>
            <a:off x="685800" y="642823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</a:t>
            </a:r>
            <a:r>
              <a:rPr lang="en-US" sz="850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</a:t>
            </a: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different apps</a:t>
            </a:r>
            <a:endParaRPr lang="en-US" sz="85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5E913882-C261-B5F0-90B6-246F4E67A320}"/>
              </a:ext>
            </a:extLst>
          </p:cNvPr>
          <p:cNvSpPr/>
          <p:nvPr/>
        </p:nvSpPr>
        <p:spPr>
          <a:xfrm>
            <a:off x="960119" y="3939382"/>
            <a:ext cx="3061617" cy="1874520"/>
          </a:xfrm>
          <a:prstGeom prst="roundRect">
            <a:avLst>
              <a:gd name="adj" fmla="val 5926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15138A2A-2E95-B2CC-AA81-523686D6F5BD}"/>
              </a:ext>
            </a:extLst>
          </p:cNvPr>
          <p:cNvSpPr/>
          <p:nvPr/>
        </p:nvSpPr>
        <p:spPr>
          <a:xfrm>
            <a:off x="1106424" y="4067398"/>
            <a:ext cx="310896" cy="310896"/>
          </a:xfrm>
          <a:prstGeom prst="roundRect">
            <a:avLst>
              <a:gd name="adj" fmla="val 23529"/>
            </a:avLst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C9B986E4-FA21-86B2-EDA0-1629C1DBCA7E}"/>
              </a:ext>
            </a:extLst>
          </p:cNvPr>
          <p:cNvSpPr/>
          <p:nvPr/>
        </p:nvSpPr>
        <p:spPr>
          <a:xfrm>
            <a:off x="1493980" y="413429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Desktop app</a:t>
            </a: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0EA52826-7CE0-169C-815D-350FC836B39B}"/>
              </a:ext>
            </a:extLst>
          </p:cNvPr>
          <p:cNvSpPr/>
          <p:nvPr/>
        </p:nvSpPr>
        <p:spPr>
          <a:xfrm>
            <a:off x="1106424" y="4614356"/>
            <a:ext cx="2744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Windows client software, admin tools, and LOB apps.</a:t>
            </a:r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24A76F8A-D4EC-109D-405E-7883B2C7F773}"/>
              </a:ext>
            </a:extLst>
          </p:cNvPr>
          <p:cNvSpPr/>
          <p:nvPr/>
        </p:nvSpPr>
        <p:spPr>
          <a:xfrm>
            <a:off x="4527400" y="3939382"/>
            <a:ext cx="3025544" cy="1874520"/>
          </a:xfrm>
          <a:prstGeom prst="roundRect">
            <a:avLst>
              <a:gd name="adj" fmla="val 5926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BD3CDF9D-75C8-EF3A-151E-27A7C742BE3A}"/>
              </a:ext>
            </a:extLst>
          </p:cNvPr>
          <p:cNvSpPr/>
          <p:nvPr/>
        </p:nvSpPr>
        <p:spPr>
          <a:xfrm>
            <a:off x="4673704" y="4067398"/>
            <a:ext cx="310896" cy="310896"/>
          </a:xfrm>
          <a:prstGeom prst="roundRect">
            <a:avLst>
              <a:gd name="adj" fmla="val 23529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31CC684F-4026-E8A5-4605-2B2641B106C0}"/>
              </a:ext>
            </a:extLst>
          </p:cNvPr>
          <p:cNvSpPr/>
          <p:nvPr/>
        </p:nvSpPr>
        <p:spPr>
          <a:xfrm>
            <a:off x="5141168" y="4134298"/>
            <a:ext cx="2302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Mobile app</a:t>
            </a:r>
            <a:endParaRPr lang="en-US" sz="160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164EA705-9AA9-9ED5-C702-BB60118909E2}"/>
              </a:ext>
            </a:extLst>
          </p:cNvPr>
          <p:cNvSpPr/>
          <p:nvPr/>
        </p:nvSpPr>
        <p:spPr>
          <a:xfrm>
            <a:off x="4673704" y="4633016"/>
            <a:ext cx="2633472" cy="76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Cross-platform app development using .NET mobile workloads.</a:t>
            </a:r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604078CF-80C5-B5FC-6C4F-FDE23E9DB032}"/>
              </a:ext>
            </a:extLst>
          </p:cNvPr>
          <p:cNvSpPr/>
          <p:nvPr/>
        </p:nvSpPr>
        <p:spPr>
          <a:xfrm>
            <a:off x="7983832" y="3939382"/>
            <a:ext cx="3025544" cy="1874520"/>
          </a:xfrm>
          <a:prstGeom prst="roundRect">
            <a:avLst>
              <a:gd name="adj" fmla="val 5926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7A9580EE-1EB2-D0A8-5395-F409A9E93E39}"/>
              </a:ext>
            </a:extLst>
          </p:cNvPr>
          <p:cNvSpPr/>
          <p:nvPr/>
        </p:nvSpPr>
        <p:spPr>
          <a:xfrm>
            <a:off x="8130136" y="4067398"/>
            <a:ext cx="310896" cy="310896"/>
          </a:xfrm>
          <a:prstGeom prst="roundRect">
            <a:avLst>
              <a:gd name="adj" fmla="val 23529"/>
            </a:avLst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D0511BE8-6BCE-9B1D-FA42-346AA169B023}"/>
              </a:ext>
            </a:extLst>
          </p:cNvPr>
          <p:cNvSpPr/>
          <p:nvPr/>
        </p:nvSpPr>
        <p:spPr>
          <a:xfrm>
            <a:off x="8532136" y="4098840"/>
            <a:ext cx="2366018" cy="26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Worker / cloud service</a:t>
            </a:r>
            <a:endParaRPr lang="en-US" sz="16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6CA889C8-47B7-E39F-17D2-914374EA02A6}"/>
              </a:ext>
            </a:extLst>
          </p:cNvPr>
          <p:cNvSpPr/>
          <p:nvPr/>
        </p:nvSpPr>
        <p:spPr>
          <a:xfrm>
            <a:off x="8130135" y="4661012"/>
            <a:ext cx="27680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Background processing, schedulers, and cloud-hosted services.</a:t>
            </a:r>
          </a:p>
        </p:txBody>
      </p:sp>
    </p:spTree>
    <p:extLst>
      <p:ext uri="{BB962C8B-B14F-4D97-AF65-F5344CB8AC3E}">
        <p14:creationId xmlns:p14="http://schemas.microsoft.com/office/powerpoint/2010/main" val="198519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19D3FFE1-A0FB-F085-24CD-4BE67DEC4AD2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EAFD064-4144-4335-B3E0-6B6068CBBB24}"/>
              </a:ext>
            </a:extLst>
          </p:cNvPr>
          <p:cNvSpPr/>
          <p:nvPr/>
        </p:nvSpPr>
        <p:spPr>
          <a:xfrm>
            <a:off x="503225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Languages on the .NET platform</a:t>
            </a:r>
            <a:endParaRPr lang="en-US" sz="26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BCAA9290-252E-FF3B-F4A7-2F92B92EFAAA}"/>
              </a:ext>
            </a:extLst>
          </p:cNvPr>
          <p:cNvSpPr/>
          <p:nvPr/>
        </p:nvSpPr>
        <p:spPr>
          <a:xfrm>
            <a:off x="530657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Some programing flavors in </a:t>
            </a:r>
            <a:r>
              <a:rPr lang="en-US" sz="14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.Net</a:t>
            </a: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 platform</a:t>
            </a:r>
            <a:endParaRPr lang="en-US" sz="140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86D505CA-518B-3AB7-0B86-F763C4F03A70}"/>
              </a:ext>
            </a:extLst>
          </p:cNvPr>
          <p:cNvSpPr/>
          <p:nvPr/>
        </p:nvSpPr>
        <p:spPr>
          <a:xfrm>
            <a:off x="750113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1AC5907B-A84C-9F15-75DF-2EEC49E03C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9841" y="1664208"/>
            <a:ext cx="656399" cy="509825"/>
          </a:xfrm>
          <a:prstGeom prst="rect">
            <a:avLst/>
          </a:prstGeom>
        </p:spPr>
      </p:pic>
      <p:sp>
        <p:nvSpPr>
          <p:cNvPr id="34" name="Text 7">
            <a:extLst>
              <a:ext uri="{FF2B5EF4-FFF2-40B4-BE49-F238E27FC236}">
                <a16:creationId xmlns:a16="http://schemas.microsoft.com/office/drawing/2014/main" id="{B1C7D336-F1D9-B06F-85A7-1A2C77F27AF0}"/>
              </a:ext>
            </a:extLst>
          </p:cNvPr>
          <p:cNvSpPr/>
          <p:nvPr/>
        </p:nvSpPr>
        <p:spPr>
          <a:xfrm>
            <a:off x="1641363" y="177580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C#</a:t>
            </a:r>
            <a:endParaRPr lang="en-US" sz="16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68AEF366-5677-ACDE-3B9A-B480DEBAA6A3}"/>
              </a:ext>
            </a:extLst>
          </p:cNvPr>
          <p:cNvSpPr/>
          <p:nvPr/>
        </p:nvSpPr>
        <p:spPr>
          <a:xfrm>
            <a:off x="1625968" y="1956816"/>
            <a:ext cx="2562289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General-purpose, modern, and the strongest fit for ASP.NET Core Web APIs, services, and most line-of-business app work.</a:t>
            </a:r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59AB21BE-6EAC-5BA3-DFF2-D97A15CACE35}"/>
              </a:ext>
            </a:extLst>
          </p:cNvPr>
          <p:cNvSpPr/>
          <p:nvPr/>
        </p:nvSpPr>
        <p:spPr>
          <a:xfrm>
            <a:off x="4499153" y="155448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B1D25539-6F1E-68A7-AF89-2E09E4B8A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8881" y="1664208"/>
            <a:ext cx="656399" cy="509825"/>
          </a:xfrm>
          <a:prstGeom prst="rect">
            <a:avLst/>
          </a:prstGeom>
        </p:spPr>
      </p:pic>
      <p:sp>
        <p:nvSpPr>
          <p:cNvPr id="38" name="Text 10">
            <a:extLst>
              <a:ext uri="{FF2B5EF4-FFF2-40B4-BE49-F238E27FC236}">
                <a16:creationId xmlns:a16="http://schemas.microsoft.com/office/drawing/2014/main" id="{8AD27ACF-D7E8-7439-96B4-29E63386985C}"/>
              </a:ext>
            </a:extLst>
          </p:cNvPr>
          <p:cNvSpPr/>
          <p:nvPr/>
        </p:nvSpPr>
        <p:spPr>
          <a:xfrm>
            <a:off x="5381072" y="1747813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F#</a:t>
            </a:r>
            <a:endParaRPr lang="en-US" sz="16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E73F253F-D8D3-3C8D-5DE6-2F5304CED096}"/>
              </a:ext>
            </a:extLst>
          </p:cNvPr>
          <p:cNvSpPr/>
          <p:nvPr/>
        </p:nvSpPr>
        <p:spPr>
          <a:xfrm>
            <a:off x="5375008" y="1956816"/>
            <a:ext cx="2562289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Functional-first language on .NET. Useful when modeling domains with immutability, pipelines, and functional patterns matters.</a:t>
            </a:r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105DE66E-C71C-A1B6-A379-363ADD68B9D1}"/>
              </a:ext>
            </a:extLst>
          </p:cNvPr>
          <p:cNvSpPr/>
          <p:nvPr/>
        </p:nvSpPr>
        <p:spPr>
          <a:xfrm>
            <a:off x="8248193" y="1554480"/>
            <a:ext cx="3200400" cy="2011680"/>
          </a:xfrm>
          <a:prstGeom prst="roundRect">
            <a:avLst>
              <a:gd name="adj" fmla="val 3636"/>
            </a:avLst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sp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5A3B586F-9128-5972-9CEE-F0E65ECE9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7922" y="1664208"/>
            <a:ext cx="656400" cy="509825"/>
          </a:xfrm>
          <a:prstGeom prst="rect">
            <a:avLst/>
          </a:prstGeom>
        </p:spPr>
      </p:pic>
      <p:sp>
        <p:nvSpPr>
          <p:cNvPr id="42" name="Text 13">
            <a:extLst>
              <a:ext uri="{FF2B5EF4-FFF2-40B4-BE49-F238E27FC236}">
                <a16:creationId xmlns:a16="http://schemas.microsoft.com/office/drawing/2014/main" id="{69AB3CD5-8A5E-A594-5B83-F22AC9BE25FF}"/>
              </a:ext>
            </a:extLst>
          </p:cNvPr>
          <p:cNvSpPr/>
          <p:nvPr/>
        </p:nvSpPr>
        <p:spPr>
          <a:xfrm>
            <a:off x="9111450" y="1710489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Visual Basic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FE802F3E-04F0-B286-DB74-A45CBF31F23C}"/>
              </a:ext>
            </a:extLst>
          </p:cNvPr>
          <p:cNvSpPr/>
          <p:nvPr/>
        </p:nvSpPr>
        <p:spPr>
          <a:xfrm>
            <a:off x="9124051" y="1956816"/>
            <a:ext cx="219652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Still supported on .NET and useful for existing teams and some business apps, but less common for modern web API greenfield projects.</a:t>
            </a: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1146448B-9F81-9459-D690-80EEECCB81B4}"/>
              </a:ext>
            </a:extLst>
          </p:cNvPr>
          <p:cNvSpPr/>
          <p:nvPr/>
        </p:nvSpPr>
        <p:spPr>
          <a:xfrm>
            <a:off x="774304" y="4069080"/>
            <a:ext cx="10698480" cy="1325880"/>
          </a:xfrm>
          <a:prstGeom prst="roundRect">
            <a:avLst>
              <a:gd name="adj" fmla="val 551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059D1F4E-833A-A63A-B1EC-EFA4EF0CCBF2}"/>
              </a:ext>
            </a:extLst>
          </p:cNvPr>
          <p:cNvSpPr/>
          <p:nvPr/>
        </p:nvSpPr>
        <p:spPr>
          <a:xfrm>
            <a:off x="960425" y="4334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</a:rPr>
              <a:t>Training decision</a:t>
            </a:r>
            <a:endParaRPr lang="en-US" sz="17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AED5BF45-4E39-8A47-5668-2F6D87615882}"/>
              </a:ext>
            </a:extLst>
          </p:cNvPr>
          <p:cNvSpPr/>
          <p:nvPr/>
        </p:nvSpPr>
        <p:spPr>
          <a:xfrm>
            <a:off x="960425" y="462686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We acknowledge the platform supports multiple languages, but we focus on C# because it is the most relevant language for modern ASP.NET Core backend teams.</a:t>
            </a:r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A8F54D0D-853A-1976-9430-FB80D9B6A40F}"/>
              </a:ext>
            </a:extLst>
          </p:cNvPr>
          <p:cNvSpPr/>
          <p:nvPr/>
        </p:nvSpPr>
        <p:spPr>
          <a:xfrm>
            <a:off x="11201705" y="66202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4</a:t>
            </a:r>
            <a:endParaRPr lang="en-US" sz="900" dirty="0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F8B47A10-DF6C-714C-E746-6A6868E5B69B}"/>
              </a:ext>
            </a:extLst>
          </p:cNvPr>
          <p:cNvSpPr/>
          <p:nvPr/>
        </p:nvSpPr>
        <p:spPr>
          <a:xfrm>
            <a:off x="9646920" y="31089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</a:t>
            </a:r>
            <a:r>
              <a:rPr lang="en-US" sz="900" b="1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</a:t>
            </a: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Foundations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41857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C# and .NET each mean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Developers often mix the language and the platform together. Separate them early.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389888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6824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011680"/>
            <a:ext cx="3886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C# is the programming language students write.</a:t>
            </a:r>
            <a:endParaRPr lang="en-US" sz="16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is the platform, runtime, SDK, and base libraries that run and support those programs.</a:t>
            </a:r>
            <a:endParaRPr lang="en-US" sz="16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ecosystem can be used for console apps, web APIs, web apps, cloud services, desktop apps, and more.</a:t>
            </a:r>
            <a:endParaRPr lang="en-US" sz="16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this training, the stack is .NET 10 with C# as the main language.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806440" y="1389888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6642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stack, many layers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2029968"/>
            <a:ext cx="4160520" cy="658368"/>
          </a:xfrm>
          <a:prstGeom prst="roundRect">
            <a:avLst>
              <a:gd name="adj" fmla="val 694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2258568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C# language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46520" y="2816352"/>
            <a:ext cx="4160520" cy="804672"/>
          </a:xfrm>
          <a:prstGeom prst="roundRect">
            <a:avLst>
              <a:gd name="adj" fmla="val 5682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3118104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runtime + libraries + SDK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46520" y="3767328"/>
            <a:ext cx="4160520" cy="1243584"/>
          </a:xfrm>
          <a:prstGeom prst="roundRect">
            <a:avLst>
              <a:gd name="adj" fmla="val 3676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4288536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Apps: console, Web API, web, cloud, desktop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108192" y="53035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language skills improve code. Good platform knowledge improves how that code is packaged, run, debugged, and deployed.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developer should think about code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Use a stable mental model so team stop treating code as magic.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41248" y="2148840"/>
            <a:ext cx="1645920" cy="1554480"/>
          </a:xfrm>
          <a:prstGeom prst="roundRect">
            <a:avLst>
              <a:gd name="adj" fmla="val 411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9616" y="23408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9264" y="29992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What data came in?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14600" y="2679192"/>
            <a:ext cx="109728" cy="34747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0048" y="2148840"/>
            <a:ext cx="1645920" cy="1554480"/>
          </a:xfrm>
          <a:prstGeom prst="roundRect">
            <a:avLst>
              <a:gd name="adj" fmla="val 4118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23408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16352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798064" y="29992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What shape is that data?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2679192"/>
            <a:ext cx="109728" cy="34747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8848" y="2148840"/>
            <a:ext cx="1645920" cy="1554480"/>
          </a:xfrm>
          <a:prstGeom prst="roundRect">
            <a:avLst>
              <a:gd name="adj" fmla="val 4118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7216" y="23408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45152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626864" y="29992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What decisions and loops happen?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2679192"/>
            <a:ext cx="109728" cy="34747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7648" y="2148840"/>
            <a:ext cx="1645920" cy="1554480"/>
          </a:xfrm>
          <a:prstGeom prst="roundRect">
            <a:avLst>
              <a:gd name="adj" fmla="val 4118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6016" y="23408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73952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455664" y="29992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What work belongs together?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01000" y="2679192"/>
            <a:ext cx="109728" cy="34747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6448" y="2148840"/>
            <a:ext cx="1645920" cy="1554480"/>
          </a:xfrm>
          <a:prstGeom prst="roundRect">
            <a:avLst>
              <a:gd name="adj" fmla="val 4118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14816" y="23408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302752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Objects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284464" y="29992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Which data and behavior belong together?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829800" y="2679192"/>
            <a:ext cx="109728" cy="34747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85248" y="2148840"/>
            <a:ext cx="1645920" cy="1554480"/>
          </a:xfrm>
          <a:prstGeom prst="roundRect">
            <a:avLst>
              <a:gd name="adj" fmla="val 411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43616" y="23408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131552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0113264" y="29992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What result do we return, print, or store?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4681728"/>
            <a:ext cx="9921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do not jump to syntax first. First identify the data, the decision flow, and the boundaries of responsibility.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68921F-DF0C-0689-231D-B68B1DFBF11F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70B9CEB-2E94-7721-DF9F-0594F47C5B2D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C9D09D1-7DDC-BF6E-C2B7-8774F4FAA2C1}"/>
              </a:ext>
            </a:extLst>
          </p:cNvPr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C# fundamentals: anatomy of a small program</a:t>
            </a:r>
            <a:endParaRPr lang="en-US" sz="2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D764537-3396-E9BD-C211-EFA2A2E3426A}"/>
              </a:ext>
            </a:extLst>
          </p:cNvPr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Application main entry point.</a:t>
            </a:r>
            <a:endParaRPr lang="en-US" sz="1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48EC22B-17C2-8989-2219-F680B5B43B71}"/>
              </a:ext>
            </a:extLst>
          </p:cNvPr>
          <p:cNvSpPr/>
          <p:nvPr/>
        </p:nvSpPr>
        <p:spPr>
          <a:xfrm>
            <a:off x="685799" y="1371600"/>
            <a:ext cx="7441163" cy="4526280"/>
          </a:xfrm>
          <a:prstGeom prst="roundRect">
            <a:avLst>
              <a:gd name="adj" fmla="val 1616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B2E9488-6B46-E509-3FF3-315FD7392455}"/>
              </a:ext>
            </a:extLst>
          </p:cNvPr>
          <p:cNvSpPr/>
          <p:nvPr/>
        </p:nvSpPr>
        <p:spPr>
          <a:xfrm>
            <a:off x="850392" y="1536192"/>
            <a:ext cx="7056742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Program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"Team"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$"Hello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total =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328265A-3CCC-048F-818D-2C973FC63AA0}"/>
              </a:ext>
            </a:extLst>
          </p:cNvPr>
          <p:cNvSpPr/>
          <p:nvPr/>
        </p:nvSpPr>
        <p:spPr>
          <a:xfrm>
            <a:off x="1071677" y="2372218"/>
            <a:ext cx="1920240" cy="292608"/>
          </a:xfrm>
          <a:prstGeom prst="roundRect">
            <a:avLst>
              <a:gd name="adj" fmla="val 9375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2D9F348-CE7E-FE85-45A5-055569484E6B}"/>
              </a:ext>
            </a:extLst>
          </p:cNvPr>
          <p:cNvSpPr/>
          <p:nvPr/>
        </p:nvSpPr>
        <p:spPr>
          <a:xfrm>
            <a:off x="1494081" y="3192565"/>
            <a:ext cx="2377440" cy="292608"/>
          </a:xfrm>
          <a:prstGeom prst="roundRect">
            <a:avLst>
              <a:gd name="adj" fmla="val 9375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15799AB-03FA-09C2-C865-760D59671698}"/>
              </a:ext>
            </a:extLst>
          </p:cNvPr>
          <p:cNvSpPr/>
          <p:nvPr/>
        </p:nvSpPr>
        <p:spPr>
          <a:xfrm>
            <a:off x="1869388" y="3657600"/>
            <a:ext cx="2240280" cy="548640"/>
          </a:xfrm>
          <a:prstGeom prst="roundRect">
            <a:avLst>
              <a:gd name="adj" fmla="val 5000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0729886-AD5D-B99F-C239-DB2D58D713A4}"/>
              </a:ext>
            </a:extLst>
          </p:cNvPr>
          <p:cNvSpPr/>
          <p:nvPr/>
        </p:nvSpPr>
        <p:spPr>
          <a:xfrm>
            <a:off x="1745385" y="4304672"/>
            <a:ext cx="5420526" cy="331335"/>
          </a:xfrm>
          <a:prstGeom prst="roundRect">
            <a:avLst>
              <a:gd name="adj" fmla="val 8824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A72EA68-9942-1C89-3845-1666EFC38FD4}"/>
              </a:ext>
            </a:extLst>
          </p:cNvPr>
          <p:cNvSpPr/>
          <p:nvPr/>
        </p:nvSpPr>
        <p:spPr>
          <a:xfrm>
            <a:off x="8641080" y="1442979"/>
            <a:ext cx="2203704" cy="749808"/>
          </a:xfrm>
          <a:prstGeom prst="roundRect">
            <a:avLst>
              <a:gd name="adj" fmla="val 6098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849C16B-BAF5-8F30-9CE7-A9E3AF2E9609}"/>
              </a:ext>
            </a:extLst>
          </p:cNvPr>
          <p:cNvSpPr/>
          <p:nvPr/>
        </p:nvSpPr>
        <p:spPr>
          <a:xfrm>
            <a:off x="8750808" y="1525275"/>
            <a:ext cx="200627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Namespace import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Bring framework types into scope.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A9D0DD8-BCFC-9C6B-04A2-5A1C6E162FE8}"/>
              </a:ext>
            </a:extLst>
          </p:cNvPr>
          <p:cNvSpPr/>
          <p:nvPr/>
        </p:nvSpPr>
        <p:spPr>
          <a:xfrm flipV="1">
            <a:off x="3213202" y="1892808"/>
            <a:ext cx="5336438" cy="548640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A88E08A-995F-D071-23D7-209C701A6F3C}"/>
              </a:ext>
            </a:extLst>
          </p:cNvPr>
          <p:cNvSpPr/>
          <p:nvPr/>
        </p:nvSpPr>
        <p:spPr>
          <a:xfrm>
            <a:off x="8622792" y="2459736"/>
            <a:ext cx="2221992" cy="749808"/>
          </a:xfrm>
          <a:prstGeom prst="roundRect">
            <a:avLst>
              <a:gd name="adj" fmla="val 6098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22EDED2-8446-BF56-5835-2AF39E5FAB44}"/>
              </a:ext>
            </a:extLst>
          </p:cNvPr>
          <p:cNvSpPr/>
          <p:nvPr/>
        </p:nvSpPr>
        <p:spPr>
          <a:xfrm>
            <a:off x="8732520" y="2542032"/>
            <a:ext cx="2112264" cy="62179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Entry point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Execution begins at Main.</a:t>
            </a:r>
            <a:endParaRPr lang="en-US" sz="14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FF9770B0-4AC3-EE9C-F522-0D4E30E9E30D}"/>
              </a:ext>
            </a:extLst>
          </p:cNvPr>
          <p:cNvSpPr/>
          <p:nvPr/>
        </p:nvSpPr>
        <p:spPr>
          <a:xfrm flipV="1">
            <a:off x="3956176" y="2810930"/>
            <a:ext cx="4593464" cy="548639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7E68C507-5CD0-BDA0-F08F-252A0F5AEDDA}"/>
              </a:ext>
            </a:extLst>
          </p:cNvPr>
          <p:cNvSpPr/>
          <p:nvPr/>
        </p:nvSpPr>
        <p:spPr>
          <a:xfrm>
            <a:off x="8641080" y="3496553"/>
            <a:ext cx="2225727" cy="841248"/>
          </a:xfrm>
          <a:prstGeom prst="roundRect">
            <a:avLst>
              <a:gd name="adj" fmla="val 5435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C49B69F3-3B29-9562-98F6-C9596A340521}"/>
              </a:ext>
            </a:extLst>
          </p:cNvPr>
          <p:cNvSpPr/>
          <p:nvPr/>
        </p:nvSpPr>
        <p:spPr>
          <a:xfrm>
            <a:off x="8750808" y="3578849"/>
            <a:ext cx="2006271" cy="7132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Variables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Strongly typed data stored in memory.</a:t>
            </a:r>
            <a:endParaRPr lang="en-US" sz="14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88B3A822-1DF1-1229-FDCF-95C2CB9357AD}"/>
              </a:ext>
            </a:extLst>
          </p:cNvPr>
          <p:cNvSpPr/>
          <p:nvPr/>
        </p:nvSpPr>
        <p:spPr>
          <a:xfrm>
            <a:off x="4152114" y="3852802"/>
            <a:ext cx="4397526" cy="24253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C10B13A7-AD2F-385F-62C6-EE7C3FC7DB06}"/>
              </a:ext>
            </a:extLst>
          </p:cNvPr>
          <p:cNvSpPr/>
          <p:nvPr/>
        </p:nvSpPr>
        <p:spPr>
          <a:xfrm>
            <a:off x="8622792" y="4871699"/>
            <a:ext cx="2244015" cy="804672"/>
          </a:xfrm>
          <a:prstGeom prst="roundRect">
            <a:avLst>
              <a:gd name="adj" fmla="val 5682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B8912FA3-D4CE-A4E2-5374-486437FA1387}"/>
              </a:ext>
            </a:extLst>
          </p:cNvPr>
          <p:cNvSpPr/>
          <p:nvPr/>
        </p:nvSpPr>
        <p:spPr>
          <a:xfrm>
            <a:off x="8759952" y="4953995"/>
            <a:ext cx="1997127" cy="6766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Method call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A function runs work and produces output.</a:t>
            </a:r>
            <a:endParaRPr lang="en-US" sz="1400" dirty="0"/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C65FEFEA-39A4-FA9C-9750-4C153646E41A}"/>
              </a:ext>
            </a:extLst>
          </p:cNvPr>
          <p:cNvSpPr/>
          <p:nvPr/>
        </p:nvSpPr>
        <p:spPr>
          <a:xfrm>
            <a:off x="2991917" y="4518909"/>
            <a:ext cx="5521147" cy="802899"/>
          </a:xfrm>
          <a:prstGeom prst="line">
            <a:avLst/>
          </a:prstGeom>
          <a:noFill/>
          <a:ln w="2032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D0BE2DB2-A64A-EA3F-E1B0-F8933920BE68}"/>
              </a:ext>
            </a:extLst>
          </p:cNvPr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  <p:sp>
        <p:nvSpPr>
          <p:cNvPr id="29" name="Text 36">
            <a:extLst>
              <a:ext uri="{FF2B5EF4-FFF2-40B4-BE49-F238E27FC236}">
                <a16:creationId xmlns:a16="http://schemas.microsoft.com/office/drawing/2014/main" id="{C516DB86-796E-58D3-28C4-D8872AFCC2B5}"/>
              </a:ext>
            </a:extLst>
          </p:cNvPr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2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018926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1A866800-2D47-5E32-30A3-5390205B6CC2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6" name="Title">
            <a:extLst>
              <a:ext uri="{FF2B5EF4-FFF2-40B4-BE49-F238E27FC236}">
                <a16:creationId xmlns:a16="http://schemas.microsoft.com/office/drawing/2014/main" id="{737F7E89-4E33-DBEB-EF3E-A8B652F58AB1}"/>
              </a:ext>
            </a:extLst>
          </p:cNvPr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Aptos Display" pitchFamily="34" charset="0"/>
                <a:ea typeface="Aptos Display" pitchFamily="34" charset="-122"/>
              </a:rPr>
              <a:t>🛠  Workshop: Hello World Console App</a:t>
            </a:r>
          </a:p>
        </p:txBody>
      </p:sp>
      <p:sp>
        <p:nvSpPr>
          <p:cNvPr id="27" name="Subtitle">
            <a:extLst>
              <a:ext uri="{FF2B5EF4-FFF2-40B4-BE49-F238E27FC236}">
                <a16:creationId xmlns:a16="http://schemas.microsoft.com/office/drawing/2014/main" id="{A409AB44-E201-316C-646D-4F48BB31EC4F}"/>
              </a:ext>
            </a:extLst>
          </p:cNvPr>
          <p:cNvSpPr/>
          <p:nvPr/>
        </p:nvSpPr>
        <p:spPr>
          <a:xfrm>
            <a:off x="502920" y="850000"/>
            <a:ext cx="100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Aptos Display" pitchFamily="34" charset="0"/>
              </a:rPr>
              <a:t>Follow these steps to create your first .NET console application</a:t>
            </a:r>
          </a:p>
        </p:txBody>
      </p:sp>
      <p:sp>
        <p:nvSpPr>
          <p:cNvPr id="28" name="Card 01">
            <a:extLst>
              <a:ext uri="{FF2B5EF4-FFF2-40B4-BE49-F238E27FC236}">
                <a16:creationId xmlns:a16="http://schemas.microsoft.com/office/drawing/2014/main" id="{FCDA4AF2-DC48-2D46-8F20-5E058CA21950}"/>
              </a:ext>
            </a:extLst>
          </p:cNvPr>
          <p:cNvSpPr/>
          <p:nvPr/>
        </p:nvSpPr>
        <p:spPr>
          <a:xfrm>
            <a:off x="502920" y="1281337"/>
            <a:ext cx="5394960" cy="1368361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ptos Display" pitchFamily="34" charset="0"/>
              </a:rPr>
              <a:t>STEP 01</a:t>
            </a:r>
            <a:endParaRPr lang="en-US" sz="2000" dirty="0"/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F1F5F9"/>
                </a:solidFill>
                <a:latin typeface="Aptos Display" pitchFamily="34" charset="0"/>
              </a:rPr>
              <a:t>Install .NET SDK</a:t>
            </a:r>
            <a:endParaRPr lang="en-US" sz="2000" dirty="0"/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</a:rPr>
              <a:t>Download and install from https://dot.net/download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</a:rPr>
              <a:t>Verify: dotnet --version</a:t>
            </a:r>
          </a:p>
        </p:txBody>
      </p:sp>
      <p:sp>
        <p:nvSpPr>
          <p:cNvPr id="29" name="Card 02">
            <a:extLst>
              <a:ext uri="{FF2B5EF4-FFF2-40B4-BE49-F238E27FC236}">
                <a16:creationId xmlns:a16="http://schemas.microsoft.com/office/drawing/2014/main" id="{C61C6C62-D4E4-19A8-E1AD-29C1ABE80B62}"/>
              </a:ext>
            </a:extLst>
          </p:cNvPr>
          <p:cNvSpPr/>
          <p:nvPr/>
        </p:nvSpPr>
        <p:spPr>
          <a:xfrm>
            <a:off x="6294120" y="1279362"/>
            <a:ext cx="5394960" cy="1370336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ptos Display" pitchFamily="34" charset="0"/>
              </a:rPr>
              <a:t>STEP 02</a:t>
            </a:r>
            <a:endParaRPr lang="en-US" sz="2000" dirty="0"/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F1F5F9"/>
                </a:solidFill>
                <a:latin typeface="Aptos Display" pitchFamily="34" charset="0"/>
              </a:rPr>
              <a:t>Create a New Console App</a:t>
            </a:r>
            <a:endParaRPr lang="en-US" sz="2000" dirty="0"/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</a:rPr>
              <a:t>dotnet new console -n HelloWorld</a:t>
            </a:r>
          </a:p>
        </p:txBody>
      </p:sp>
      <p:sp>
        <p:nvSpPr>
          <p:cNvPr id="30" name="Card 03">
            <a:extLst>
              <a:ext uri="{FF2B5EF4-FFF2-40B4-BE49-F238E27FC236}">
                <a16:creationId xmlns:a16="http://schemas.microsoft.com/office/drawing/2014/main" id="{13A3AD4E-6882-BB09-524D-156126140364}"/>
              </a:ext>
            </a:extLst>
          </p:cNvPr>
          <p:cNvSpPr/>
          <p:nvPr/>
        </p:nvSpPr>
        <p:spPr>
          <a:xfrm>
            <a:off x="497040" y="2770668"/>
            <a:ext cx="5394960" cy="1368361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ptos Display" pitchFamily="34" charset="0"/>
              </a:rPr>
              <a:t>STEP 03</a:t>
            </a:r>
            <a:endParaRPr lang="en-US" sz="2000" dirty="0"/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F1F5F9"/>
                </a:solidFill>
                <a:latin typeface="Aptos Display" pitchFamily="34" charset="0"/>
              </a:rPr>
              <a:t>Navigate &amp; Review Code</a:t>
            </a:r>
            <a:endParaRPr lang="en-US" sz="2000" dirty="0"/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</a:rPr>
              <a:t>cd HelloWorld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</a:rPr>
              <a:t>Open Program.cs → Console.WriteLine("Hello, World!");</a:t>
            </a:r>
          </a:p>
        </p:txBody>
      </p:sp>
      <p:sp>
        <p:nvSpPr>
          <p:cNvPr id="31" name="Card 04">
            <a:extLst>
              <a:ext uri="{FF2B5EF4-FFF2-40B4-BE49-F238E27FC236}">
                <a16:creationId xmlns:a16="http://schemas.microsoft.com/office/drawing/2014/main" id="{55A28BFF-0A1A-E493-C414-42B28213D0B7}"/>
              </a:ext>
            </a:extLst>
          </p:cNvPr>
          <p:cNvSpPr/>
          <p:nvPr/>
        </p:nvSpPr>
        <p:spPr>
          <a:xfrm>
            <a:off x="6294120" y="2772092"/>
            <a:ext cx="5394960" cy="1361818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ptos Display" pitchFamily="34" charset="0"/>
              </a:rPr>
              <a:t>STEP 04</a:t>
            </a:r>
            <a:endParaRPr lang="en-US" sz="2000" dirty="0"/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F1F5F9"/>
                </a:solidFill>
                <a:latin typeface="Aptos Display" pitchFamily="34" charset="0"/>
              </a:rPr>
              <a:t>Run the Application</a:t>
            </a:r>
            <a:endParaRPr lang="en-US" sz="2000" dirty="0"/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</a:rPr>
              <a:t>dotnet run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</a:rPr>
              <a:t>Expected output: Hello, World!</a:t>
            </a:r>
          </a:p>
        </p:txBody>
      </p:sp>
      <p:sp>
        <p:nvSpPr>
          <p:cNvPr id="32" name="Card 05">
            <a:extLst>
              <a:ext uri="{FF2B5EF4-FFF2-40B4-BE49-F238E27FC236}">
                <a16:creationId xmlns:a16="http://schemas.microsoft.com/office/drawing/2014/main" id="{2E966928-CBDA-9738-E9AF-628F6483C71D}"/>
              </a:ext>
            </a:extLst>
          </p:cNvPr>
          <p:cNvSpPr/>
          <p:nvPr/>
        </p:nvSpPr>
        <p:spPr>
          <a:xfrm>
            <a:off x="502920" y="4274817"/>
            <a:ext cx="5394960" cy="1329368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ptos Display" pitchFamily="34" charset="0"/>
              </a:rPr>
              <a:t>STEP 05</a:t>
            </a:r>
            <a:endParaRPr lang="en-US" sz="2000" dirty="0"/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F1F5F9"/>
                </a:solidFill>
                <a:latin typeface="Aptos Display" pitchFamily="34" charset="0"/>
              </a:rPr>
              <a:t>Modify &amp; Re-run</a:t>
            </a:r>
            <a:endParaRPr lang="en-US" sz="2000" dirty="0"/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</a:rPr>
              <a:t>Change text to "Hello from .NET!"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</a:rPr>
              <a:t>dotnet run again to see the update</a:t>
            </a:r>
          </a:p>
        </p:txBody>
      </p:sp>
      <p:sp>
        <p:nvSpPr>
          <p:cNvPr id="33" name="Card 06">
            <a:extLst>
              <a:ext uri="{FF2B5EF4-FFF2-40B4-BE49-F238E27FC236}">
                <a16:creationId xmlns:a16="http://schemas.microsoft.com/office/drawing/2014/main" id="{71582F98-EDCA-735B-0A54-BC3934DFA712}"/>
              </a:ext>
            </a:extLst>
          </p:cNvPr>
          <p:cNvSpPr/>
          <p:nvPr/>
        </p:nvSpPr>
        <p:spPr>
          <a:xfrm>
            <a:off x="6294120" y="4268521"/>
            <a:ext cx="5394960" cy="1329368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 wrap="square" lIns="182880" tIns="91440" rIns="182880" bIns="9144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ptos Display" pitchFamily="34" charset="0"/>
              </a:rPr>
              <a:t>STEP 06</a:t>
            </a:r>
            <a:endParaRPr lang="en-US" sz="2000" dirty="0"/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F1F5F9"/>
                </a:solidFill>
                <a:latin typeface="Aptos Display" pitchFamily="34" charset="0"/>
              </a:rPr>
              <a:t>Explore Further</a:t>
            </a:r>
            <a:endParaRPr lang="en-US" sz="2000" dirty="0"/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</a:rPr>
              <a:t>Try adding variables, user input,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</a:rPr>
              <a:t>or a second Console.WriteLine</a:t>
            </a:r>
          </a:p>
        </p:txBody>
      </p:sp>
      <p:sp>
        <p:nvSpPr>
          <p:cNvPr id="34" name="Tip">
            <a:extLst>
              <a:ext uri="{FF2B5EF4-FFF2-40B4-BE49-F238E27FC236}">
                <a16:creationId xmlns:a16="http://schemas.microsoft.com/office/drawing/2014/main" id="{3254B25B-490F-D6A3-E5EA-B856A4AC3A6B}"/>
              </a:ext>
            </a:extLst>
          </p:cNvPr>
          <p:cNvSpPr/>
          <p:nvPr/>
        </p:nvSpPr>
        <p:spPr>
          <a:xfrm>
            <a:off x="502920" y="5883774"/>
            <a:ext cx="11100000" cy="400000"/>
          </a:xfrm>
          <a:prstGeom prst="roundRect">
            <a:avLst>
              <a:gd name="adj" fmla="val 5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82880" tIns="0" rIns="18288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Aptos Display" pitchFamily="34" charset="0"/>
              </a:rPr>
              <a:t>💡  Tip: Use dotnet run to compile and execute in one step!</a:t>
            </a: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BF853B6A-BB6D-6562-BBC5-E29023EDDADB}"/>
              </a:ext>
            </a:extLst>
          </p:cNvPr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6EE300EF-1411-EEA4-7B8C-78257943D03D}"/>
              </a:ext>
            </a:extLst>
          </p:cNvPr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2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36684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2E1CA-C2BC-043A-CA08-579110BBD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ADD401-76E6-7FB1-A906-75ECA333A2F4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C116F08-B5F6-B407-EBA5-580EB1DF23F0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A6CD4A3-8D51-6756-397B-42EFD07A866E}"/>
              </a:ext>
            </a:extLst>
          </p:cNvPr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C# fundamentals: classes, objects, and collections</a:t>
            </a:r>
            <a:endParaRPr lang="en-US" sz="2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7070DC6-83A5-BC96-3685-CA047237A5ED}"/>
              </a:ext>
            </a:extLst>
          </p:cNvPr>
          <p:cNvSpPr/>
          <p:nvPr/>
        </p:nvSpPr>
        <p:spPr>
          <a:xfrm>
            <a:off x="530352" y="8503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These are the shapes your code will keep using for DTOs, entities, and service methods.</a:t>
            </a:r>
            <a:endParaRPr lang="en-US" sz="1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2C5436F-AF81-D11F-D6DC-774D9C6DD96B}"/>
              </a:ext>
            </a:extLst>
          </p:cNvPr>
          <p:cNvSpPr/>
          <p:nvPr/>
        </p:nvSpPr>
        <p:spPr>
          <a:xfrm>
            <a:off x="685799" y="1371600"/>
            <a:ext cx="7441163" cy="4526280"/>
          </a:xfrm>
          <a:prstGeom prst="roundRect">
            <a:avLst>
              <a:gd name="adj" fmla="val 1616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CA75121-8699-B5DA-EBEC-837FCDDDBB9B}"/>
              </a:ext>
            </a:extLst>
          </p:cNvPr>
          <p:cNvSpPr/>
          <p:nvPr/>
        </p:nvSpPr>
        <p:spPr>
          <a:xfrm>
            <a:off x="8641080" y="1442979"/>
            <a:ext cx="2203704" cy="749808"/>
          </a:xfrm>
          <a:prstGeom prst="roundRect">
            <a:avLst>
              <a:gd name="adj" fmla="val 6098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23D257A-2EBC-EF29-AB17-52E77919BEFA}"/>
              </a:ext>
            </a:extLst>
          </p:cNvPr>
          <p:cNvSpPr/>
          <p:nvPr/>
        </p:nvSpPr>
        <p:spPr>
          <a:xfrm>
            <a:off x="8750808" y="1525275"/>
            <a:ext cx="200627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400" dirty="0">
                <a:solidFill>
                  <a:srgbClr val="F8FAFC"/>
                </a:solidFill>
              </a:rPr>
              <a:t>Class definition</a:t>
            </a:r>
            <a:endParaRPr lang="en-US" sz="1400" dirty="0"/>
          </a:p>
          <a:p>
            <a:r>
              <a:rPr lang="en-US" sz="1400" dirty="0">
                <a:solidFill>
                  <a:srgbClr val="F8FAFC"/>
                </a:solidFill>
              </a:rPr>
              <a:t>A blueprint used to create objects.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1422C3D-42A7-2EC9-F5AB-479E10AF4B1D}"/>
              </a:ext>
            </a:extLst>
          </p:cNvPr>
          <p:cNvSpPr/>
          <p:nvPr/>
        </p:nvSpPr>
        <p:spPr>
          <a:xfrm flipV="1">
            <a:off x="4065902" y="1892808"/>
            <a:ext cx="4483737" cy="649224"/>
          </a:xfrm>
          <a:prstGeom prst="line">
            <a:avLst/>
          </a:prstGeom>
          <a:noFill/>
          <a:ln w="2032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3451F11-3142-82C3-4AEE-45E8CC649D81}"/>
              </a:ext>
            </a:extLst>
          </p:cNvPr>
          <p:cNvSpPr/>
          <p:nvPr/>
        </p:nvSpPr>
        <p:spPr>
          <a:xfrm>
            <a:off x="8622792" y="2459736"/>
            <a:ext cx="2221992" cy="749808"/>
          </a:xfrm>
          <a:prstGeom prst="roundRect">
            <a:avLst>
              <a:gd name="adj" fmla="val 6098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92E6413-961B-44B5-AC5F-9D0ECA61783A}"/>
              </a:ext>
            </a:extLst>
          </p:cNvPr>
          <p:cNvSpPr/>
          <p:nvPr/>
        </p:nvSpPr>
        <p:spPr>
          <a:xfrm>
            <a:off x="8732520" y="2542032"/>
            <a:ext cx="2112264" cy="621792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400" dirty="0">
                <a:solidFill>
                  <a:srgbClr val="F8FAFC"/>
                </a:solidFill>
              </a:rPr>
              <a:t>Properties</a:t>
            </a:r>
            <a:endParaRPr lang="en-US" sz="1400" dirty="0"/>
          </a:p>
          <a:p>
            <a:r>
              <a:rPr lang="en-US" sz="1400" dirty="0">
                <a:solidFill>
                  <a:srgbClr val="F8FAFC"/>
                </a:solidFill>
              </a:rPr>
              <a:t>Hold the object state your API cares about.</a:t>
            </a:r>
            <a:endParaRPr lang="en-US" sz="14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7A6B7065-639E-BB1D-F79F-5B91F7BDE7B3}"/>
              </a:ext>
            </a:extLst>
          </p:cNvPr>
          <p:cNvSpPr/>
          <p:nvPr/>
        </p:nvSpPr>
        <p:spPr>
          <a:xfrm flipV="1">
            <a:off x="7458456" y="2810930"/>
            <a:ext cx="1091184" cy="252310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E34CBB56-C34A-0370-384A-7A980DC88635}"/>
              </a:ext>
            </a:extLst>
          </p:cNvPr>
          <p:cNvSpPr/>
          <p:nvPr/>
        </p:nvSpPr>
        <p:spPr>
          <a:xfrm>
            <a:off x="8641080" y="3496553"/>
            <a:ext cx="2225727" cy="841248"/>
          </a:xfrm>
          <a:prstGeom prst="roundRect">
            <a:avLst>
              <a:gd name="adj" fmla="val 5435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569AD59C-5F48-790D-EBC3-485586E14700}"/>
              </a:ext>
            </a:extLst>
          </p:cNvPr>
          <p:cNvSpPr/>
          <p:nvPr/>
        </p:nvSpPr>
        <p:spPr>
          <a:xfrm>
            <a:off x="8750808" y="3578849"/>
            <a:ext cx="200627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F8FAFC"/>
                </a:solidFill>
              </a:rPr>
              <a:t>Collection</a:t>
            </a:r>
            <a:endParaRPr lang="en-US" sz="1400" dirty="0"/>
          </a:p>
          <a:p>
            <a:r>
              <a:rPr lang="en-US" sz="1400" dirty="0">
                <a:solidFill>
                  <a:srgbClr val="F8FAFC"/>
                </a:solidFill>
              </a:rPr>
              <a:t>A List&lt;T&gt; stores many items of the same type.</a:t>
            </a:r>
            <a:endParaRPr lang="en-US" sz="14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93EE09EE-8C2C-E805-E5D8-3DE13F9D9410}"/>
              </a:ext>
            </a:extLst>
          </p:cNvPr>
          <p:cNvSpPr/>
          <p:nvPr/>
        </p:nvSpPr>
        <p:spPr>
          <a:xfrm flipV="1">
            <a:off x="4401810" y="3877055"/>
            <a:ext cx="4147830" cy="120646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87E558A-AD87-0B04-F119-E7081D69271D}"/>
              </a:ext>
            </a:extLst>
          </p:cNvPr>
          <p:cNvSpPr/>
          <p:nvPr/>
        </p:nvSpPr>
        <p:spPr>
          <a:xfrm>
            <a:off x="8622792" y="4871699"/>
            <a:ext cx="2244015" cy="804672"/>
          </a:xfrm>
          <a:prstGeom prst="roundRect">
            <a:avLst>
              <a:gd name="adj" fmla="val 5682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4AB5D92E-39BE-E17C-8B1C-B1DAE9552D8A}"/>
              </a:ext>
            </a:extLst>
          </p:cNvPr>
          <p:cNvSpPr/>
          <p:nvPr/>
        </p:nvSpPr>
        <p:spPr>
          <a:xfrm>
            <a:off x="8759952" y="4953995"/>
            <a:ext cx="19971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F8FAFC"/>
                </a:solidFill>
              </a:rPr>
              <a:t>Object initialization</a:t>
            </a:r>
            <a:endParaRPr lang="en-US" sz="1400" dirty="0"/>
          </a:p>
          <a:p>
            <a:r>
              <a:rPr lang="en-US" sz="1400" dirty="0">
                <a:solidFill>
                  <a:srgbClr val="F8FAFC"/>
                </a:solidFill>
              </a:rPr>
              <a:t>Set values when creating instances.</a:t>
            </a:r>
            <a:endParaRPr lang="en-US" sz="1400" dirty="0"/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E136699C-49BA-2977-0693-8034F000F909}"/>
              </a:ext>
            </a:extLst>
          </p:cNvPr>
          <p:cNvSpPr/>
          <p:nvPr/>
        </p:nvSpPr>
        <p:spPr>
          <a:xfrm>
            <a:off x="1791479" y="4785955"/>
            <a:ext cx="6721586" cy="535853"/>
          </a:xfrm>
          <a:prstGeom prst="line">
            <a:avLst/>
          </a:prstGeom>
          <a:noFill/>
          <a:ln w="2032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600E8590-9CB1-3624-DD5E-7F5952635285}"/>
              </a:ext>
            </a:extLst>
          </p:cNvPr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  <p:sp>
        <p:nvSpPr>
          <p:cNvPr id="29" name="Text 36">
            <a:extLst>
              <a:ext uri="{FF2B5EF4-FFF2-40B4-BE49-F238E27FC236}">
                <a16:creationId xmlns:a16="http://schemas.microsoft.com/office/drawing/2014/main" id="{13D01468-A6EF-D855-72A2-8E10FBA9368A}"/>
              </a:ext>
            </a:extLst>
          </p:cNvPr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2</a:t>
            </a:r>
            <a:endParaRPr lang="en-US" sz="850" dirty="0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0878BD74-C731-05B8-96C5-483AF068F082}"/>
              </a:ext>
            </a:extLst>
          </p:cNvPr>
          <p:cNvSpPr/>
          <p:nvPr/>
        </p:nvSpPr>
        <p:spPr>
          <a:xfrm>
            <a:off x="878385" y="1536566"/>
            <a:ext cx="7164604" cy="4313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TaskItem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Guid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NewGuid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Title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"New"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TaskItem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TaskItem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Title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"Create API"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"InProgress"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TaskItem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Title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"Wire React"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"New"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5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E2B87FD1-56AF-1E70-9E27-FB0DC6EB6F96}"/>
              </a:ext>
            </a:extLst>
          </p:cNvPr>
          <p:cNvSpPr/>
          <p:nvPr/>
        </p:nvSpPr>
        <p:spPr>
          <a:xfrm>
            <a:off x="1136993" y="2400211"/>
            <a:ext cx="2884499" cy="279542"/>
          </a:xfrm>
          <a:prstGeom prst="roundRect">
            <a:avLst>
              <a:gd name="adj" fmla="val 9375"/>
            </a:avLst>
          </a:prstGeom>
          <a:solidFill>
            <a:srgbClr val="06B6D4">
              <a:alpha val="22000"/>
            </a:srgbClr>
          </a:solidFill>
          <a:ln w="1016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1CBE4718-0D69-B188-3F51-2D983A0BCE7E}"/>
              </a:ext>
            </a:extLst>
          </p:cNvPr>
          <p:cNvSpPr/>
          <p:nvPr/>
        </p:nvSpPr>
        <p:spPr>
          <a:xfrm>
            <a:off x="1494080" y="2810930"/>
            <a:ext cx="5891223" cy="674243"/>
          </a:xfrm>
          <a:prstGeom prst="roundRect">
            <a:avLst>
              <a:gd name="adj" fmla="val 9375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1C08BD3E-A803-0104-E143-029427DAFD1E}"/>
              </a:ext>
            </a:extLst>
          </p:cNvPr>
          <p:cNvSpPr/>
          <p:nvPr/>
        </p:nvSpPr>
        <p:spPr>
          <a:xfrm>
            <a:off x="1188720" y="3816396"/>
            <a:ext cx="3103362" cy="389843"/>
          </a:xfrm>
          <a:prstGeom prst="roundRect">
            <a:avLst>
              <a:gd name="adj" fmla="val 5000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73511E37-D96C-64C6-6A95-05DA96D60313}"/>
              </a:ext>
            </a:extLst>
          </p:cNvPr>
          <p:cNvSpPr/>
          <p:nvPr/>
        </p:nvSpPr>
        <p:spPr>
          <a:xfrm>
            <a:off x="1494079" y="4396112"/>
            <a:ext cx="6073047" cy="389843"/>
          </a:xfrm>
          <a:prstGeom prst="roundRect">
            <a:avLst>
              <a:gd name="adj" fmla="val 8824"/>
            </a:avLst>
          </a:prstGeom>
          <a:solidFill>
            <a:srgbClr val="8B5CF6">
              <a:alpha val="22000"/>
            </a:srgbClr>
          </a:solidFill>
          <a:ln w="1016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671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Beginner code vs professional code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Team improve faster when they see what “better” actually looks like.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463040"/>
            <a:ext cx="5047488" cy="4069080"/>
          </a:xfrm>
          <a:prstGeom prst="roundRect">
            <a:avLst>
              <a:gd name="adj" fmla="val 179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2784" y="1463040"/>
            <a:ext cx="5047488" cy="4069080"/>
          </a:xfrm>
          <a:prstGeom prst="roundRect">
            <a:avLst>
              <a:gd name="adj" fmla="val 179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7647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pattern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47104" y="17647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pattern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2084832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names like a, x, temp, or data</a:t>
            </a:r>
            <a:endParaRPr lang="en-US" sz="162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method doing input, calculation, formatting, and printing</a:t>
            </a:r>
            <a:endParaRPr lang="en-US" sz="162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Hardcoded values scattered through the code</a:t>
            </a:r>
            <a:endParaRPr lang="en-US" sz="162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logic copied into many places</a:t>
            </a:r>
            <a:endParaRPr lang="en-US" sz="162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Guessing at bugs instead of inspecting runtime state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6510528" y="2084832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 that reveal intent: customerName, totalAmount, </a:t>
            </a:r>
            <a:r>
              <a:rPr lang="en-US" sz="162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isApproved</a:t>
            </a:r>
            <a:endParaRPr lang="en-US" sz="162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methods with one obvious responsibility</a:t>
            </a:r>
            <a:endParaRPr lang="en-US" sz="162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Constants or variables for values that may change</a:t>
            </a:r>
            <a:endParaRPr lang="en-US" sz="162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methods for repeated work</a:t>
            </a:r>
            <a:endParaRPr lang="en-US" sz="162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Breakpoint, inspect, explain, then fix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CONTENT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C# example with clean boundaries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How boundaries are defined, and responsibilities are implemented</a:t>
            </a:r>
          </a:p>
        </p:txBody>
      </p:sp>
      <p:sp>
        <p:nvSpPr>
          <p:cNvPr id="7" name="Text 5"/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444752"/>
            <a:ext cx="3794760" cy="457200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17556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notice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" y="2066544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method name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stay separate from printing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small rule handled with a simple if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stays easy to scan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133856" y="4937760"/>
            <a:ext cx="3063240" cy="713232"/>
          </a:xfrm>
          <a:prstGeom prst="roundRect">
            <a:avLst>
              <a:gd name="adj" fmla="val 6410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5024" y="51206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a tiny example should model clean naming and method boundaries.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83480" y="1444752"/>
            <a:ext cx="6291072" cy="4572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4" name="Image 0" descr="/mnt/data/day1_deck/good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896528"/>
            <a:ext cx="5760720" cy="366844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Exercise: review this method and fix it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What you have learned apply 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481328"/>
            <a:ext cx="9796210" cy="50292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459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What responsibility is misplaced here, and how would you make the code easier to read and test?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2176272"/>
            <a:ext cx="7724814" cy="3749040"/>
          </a:xfrm>
          <a:prstGeom prst="roundRect">
            <a:avLst>
              <a:gd name="adj" fmla="val 205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11" name="Image 0" descr="/mnt/data/day1_deck/bad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375" y="2432304"/>
            <a:ext cx="6307355" cy="30358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00E4B0-8BDF-3AE4-8B6C-4D655C8BA2E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5F3D2F-B6D1-4D3F-EBCD-341FAA5256DB}"/>
              </a:ext>
            </a:extLst>
          </p:cNvPr>
          <p:cNvSpPr/>
          <p:nvPr/>
        </p:nvSpPr>
        <p:spPr>
          <a:xfrm>
            <a:off x="749808" y="749808"/>
            <a:ext cx="1170432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86A41B-34D2-2F02-BF45-7E40D99C499D}"/>
              </a:ext>
            </a:extLst>
          </p:cNvPr>
          <p:cNvSpPr/>
          <p:nvPr/>
        </p:nvSpPr>
        <p:spPr>
          <a:xfrm>
            <a:off x="822960" y="790956"/>
            <a:ext cx="1024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A5986C-5B0E-F52C-7741-5589D0F878BD}"/>
              </a:ext>
            </a:extLst>
          </p:cNvPr>
          <p:cNvSpPr/>
          <p:nvPr/>
        </p:nvSpPr>
        <p:spPr>
          <a:xfrm>
            <a:off x="749808" y="11704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syntax knowledge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coding judgment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D1DDC4-55AC-DA09-7FC7-03E086CB5FE4}"/>
              </a:ext>
            </a:extLst>
          </p:cNvPr>
          <p:cNvSpPr/>
          <p:nvPr/>
        </p:nvSpPr>
        <p:spPr>
          <a:xfrm>
            <a:off x="768096" y="21762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topic should answer a practical question team face when they start building real features.</a:t>
            </a:r>
            <a:endParaRPr lang="en-US" sz="14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BCB2607-3AAB-CEEE-AFE3-EE0689463CF2}"/>
              </a:ext>
            </a:extLst>
          </p:cNvPr>
          <p:cNvSpPr/>
          <p:nvPr/>
        </p:nvSpPr>
        <p:spPr>
          <a:xfrm>
            <a:off x="7315200" y="128016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13223B"/>
          </a:solidFill>
          <a:ln w="12700">
            <a:solidFill>
              <a:srgbClr val="13223B">
                <a:alpha val="0"/>
              </a:srgbClr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92AB31C-BD75-50A2-FF16-D2D8AE3AA9E5}"/>
              </a:ext>
            </a:extLst>
          </p:cNvPr>
          <p:cNvSpPr/>
          <p:nvPr/>
        </p:nvSpPr>
        <p:spPr>
          <a:xfrm>
            <a:off x="7662672" y="1783080"/>
            <a:ext cx="2788920" cy="384048"/>
          </a:xfrm>
          <a:prstGeom prst="roundRect">
            <a:avLst>
              <a:gd name="adj" fmla="val 14286"/>
            </a:avLst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619772-C3C3-8956-953D-FB0970E89554}"/>
              </a:ext>
            </a:extLst>
          </p:cNvPr>
          <p:cNvSpPr/>
          <p:nvPr/>
        </p:nvSpPr>
        <p:spPr>
          <a:xfrm>
            <a:off x="7763256" y="1892808"/>
            <a:ext cx="2587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behavior clearly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403213D-413F-ABC9-C8E0-3C9D33994F46}"/>
              </a:ext>
            </a:extLst>
          </p:cNvPr>
          <p:cNvSpPr/>
          <p:nvPr/>
        </p:nvSpPr>
        <p:spPr>
          <a:xfrm>
            <a:off x="7662672" y="2615184"/>
            <a:ext cx="2788920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E186A44-06EC-D94B-6675-437897CAA975}"/>
              </a:ext>
            </a:extLst>
          </p:cNvPr>
          <p:cNvSpPr/>
          <p:nvPr/>
        </p:nvSpPr>
        <p:spPr>
          <a:xfrm>
            <a:off x="7763256" y="2724912"/>
            <a:ext cx="2587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data readably</a:t>
            </a:r>
            <a:endParaRPr lang="en-US" sz="11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382510A-206C-DF9D-A2BD-65A2AB451AFF}"/>
              </a:ext>
            </a:extLst>
          </p:cNvPr>
          <p:cNvSpPr/>
          <p:nvPr/>
        </p:nvSpPr>
        <p:spPr>
          <a:xfrm>
            <a:off x="7662672" y="3447288"/>
            <a:ext cx="2788920" cy="384048"/>
          </a:xfrm>
          <a:prstGeom prst="roundRect">
            <a:avLst>
              <a:gd name="adj" fmla="val 14286"/>
            </a:avLst>
          </a:prstGeom>
          <a:solidFill>
            <a:srgbClr val="155E75"/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8A548DD-9AC3-F2C5-11B8-D68C0E364E6F}"/>
              </a:ext>
            </a:extLst>
          </p:cNvPr>
          <p:cNvSpPr/>
          <p:nvPr/>
        </p:nvSpPr>
        <p:spPr>
          <a:xfrm>
            <a:off x="7763256" y="3557016"/>
            <a:ext cx="2587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for I/O safely</a:t>
            </a:r>
            <a:endParaRPr lang="en-US" sz="11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1D46696-4C0E-97E0-AD8F-F7B2F3EA981F}"/>
              </a:ext>
            </a:extLst>
          </p:cNvPr>
          <p:cNvSpPr/>
          <p:nvPr/>
        </p:nvSpPr>
        <p:spPr>
          <a:xfrm>
            <a:off x="7662672" y="4279392"/>
            <a:ext cx="278892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BD2A9D-2E7E-DB8B-39A1-F095F7ADFB0E}"/>
              </a:ext>
            </a:extLst>
          </p:cNvPr>
          <p:cNvSpPr/>
          <p:nvPr/>
        </p:nvSpPr>
        <p:spPr>
          <a:xfrm>
            <a:off x="7763256" y="4389120"/>
            <a:ext cx="2587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with tests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55919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4D9C9B-535E-DA84-4A55-83115A53C96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84DAE4-446D-69F0-B942-401274C30646}"/>
              </a:ext>
            </a:extLst>
          </p:cNvPr>
          <p:cNvSpPr/>
          <p:nvPr/>
        </p:nvSpPr>
        <p:spPr>
          <a:xfrm>
            <a:off x="685800" y="20116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484BD9-6A00-AC42-9AB8-5DF4433C2326}"/>
              </a:ext>
            </a:extLst>
          </p:cNvPr>
          <p:cNvSpPr/>
          <p:nvPr/>
        </p:nvSpPr>
        <p:spPr>
          <a:xfrm>
            <a:off x="758952" y="242316"/>
            <a:ext cx="1042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OOP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E795F7-B625-8AD7-FFC2-70B3E452C043}"/>
              </a:ext>
            </a:extLst>
          </p:cNvPr>
          <p:cNvSpPr/>
          <p:nvPr/>
        </p:nvSpPr>
        <p:spPr>
          <a:xfrm>
            <a:off x="685800" y="51206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behavior, not just data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FA206C-F51B-5F92-8DC8-87A0FD687994}"/>
              </a:ext>
            </a:extLst>
          </p:cNvPr>
          <p:cNvSpPr/>
          <p:nvPr/>
        </p:nvSpPr>
        <p:spPr>
          <a:xfrm>
            <a:off x="685799" y="932688"/>
            <a:ext cx="866347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Good object-oriented design gives each class one reason to exist and a small surface that is easy to explain.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AACBE37-CE1C-30F3-BAAF-CA038DD649D3}"/>
              </a:ext>
            </a:extLst>
          </p:cNvPr>
          <p:cNvSpPr/>
          <p:nvPr/>
        </p:nvSpPr>
        <p:spPr>
          <a:xfrm>
            <a:off x="713232" y="1417320"/>
            <a:ext cx="47548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CAB1EAB-443A-E586-A2CE-F409111D0933}"/>
              </a:ext>
            </a:extLst>
          </p:cNvPr>
          <p:cNvSpPr/>
          <p:nvPr/>
        </p:nvSpPr>
        <p:spPr>
          <a:xfrm>
            <a:off x="960120" y="1828800"/>
            <a:ext cx="4069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A class should own state and the behavior that keeps that state valid</a:t>
            </a:r>
            <a:endParaRPr lang="en-US" sz="16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Favor composition when a class needs help from another service</a:t>
            </a:r>
            <a:endParaRPr lang="en-US" sz="16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Use small methods and good names so the object tells a story</a:t>
            </a:r>
            <a:endParaRPr lang="en-US" sz="16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Do not make classes that only store data while all behavior leaks elsewhere</a:t>
            </a:r>
            <a:endParaRPr lang="en-US"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AC7D2DE-9CD4-A8A2-8445-9FE950F52B0C}"/>
              </a:ext>
            </a:extLst>
          </p:cNvPr>
          <p:cNvSpPr/>
          <p:nvPr/>
        </p:nvSpPr>
        <p:spPr>
          <a:xfrm>
            <a:off x="960120" y="498348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B0B3AF0-8183-069E-83D8-8D130F034457}"/>
              </a:ext>
            </a:extLst>
          </p:cNvPr>
          <p:cNvSpPr/>
          <p:nvPr/>
        </p:nvSpPr>
        <p:spPr>
          <a:xfrm>
            <a:off x="1060704" y="5093208"/>
            <a:ext cx="3639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question: who should own this behavior?</a:t>
            </a:r>
            <a:endParaRPr lang="en-US" sz="11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016571B-4D81-6250-53EE-0474CDB0DAC8}"/>
              </a:ext>
            </a:extLst>
          </p:cNvPr>
          <p:cNvSpPr/>
          <p:nvPr/>
        </p:nvSpPr>
        <p:spPr>
          <a:xfrm>
            <a:off x="5742432" y="1417320"/>
            <a:ext cx="5742432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1C2DB6E-9476-4589-399F-016D0E17B22C}"/>
              </a:ext>
            </a:extLst>
          </p:cNvPr>
          <p:cNvSpPr/>
          <p:nvPr/>
        </p:nvSpPr>
        <p:spPr>
          <a:xfrm>
            <a:off x="6016752" y="1755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example</a:t>
            </a:r>
            <a:endParaRPr lang="en-US" sz="16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831A7C5-797A-A681-CF2A-CD82E0C9B233}"/>
              </a:ext>
            </a:extLst>
          </p:cNvPr>
          <p:cNvSpPr/>
          <p:nvPr/>
        </p:nvSpPr>
        <p:spPr>
          <a:xfrm>
            <a:off x="5998464" y="2011680"/>
            <a:ext cx="5212080" cy="3493008"/>
          </a:xfrm>
          <a:prstGeom prst="roundRect">
            <a:avLst>
              <a:gd name="adj" fmla="val 209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D07BF7E-1E5F-425F-4C1B-B73A890A064A}"/>
              </a:ext>
            </a:extLst>
          </p:cNvPr>
          <p:cNvSpPr/>
          <p:nvPr/>
        </p:nvSpPr>
        <p:spPr>
          <a:xfrm>
            <a:off x="6163056" y="215798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17D3BCE-5660-3124-82EA-67AA4CD65714}"/>
              </a:ext>
            </a:extLst>
          </p:cNvPr>
          <p:cNvSpPr/>
          <p:nvPr/>
        </p:nvSpPr>
        <p:spPr>
          <a:xfrm>
            <a:off x="6236208" y="2208276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C# example</a:t>
            </a: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D697721-9CD8-BE5E-5149-77D7D9724EDD}"/>
              </a:ext>
            </a:extLst>
          </p:cNvPr>
          <p:cNvSpPr/>
          <p:nvPr/>
        </p:nvSpPr>
        <p:spPr>
          <a:xfrm>
            <a:off x="6199632" y="2487168"/>
            <a:ext cx="48097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Order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List&lt;OrderLine&gt; _lines = new();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IReadOnlyList&lt;OrderLine&gt; Lines =&gt; _lines;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AddLine(string sku, int qty, decimal price)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(qty &lt;= 0) throw new ArgumentException();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_lines.Add(new OrderLine(sku, qty, price));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decimal Total() =&gt; _lines.Sum(x =&gt; x.Qty * x.Price);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9B3E57E-88B1-AE86-D6ED-7C478262DC53}"/>
              </a:ext>
            </a:extLst>
          </p:cNvPr>
          <p:cNvSpPr/>
          <p:nvPr/>
        </p:nvSpPr>
        <p:spPr>
          <a:xfrm>
            <a:off x="685800" y="642823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OOP</a:t>
            </a:r>
            <a:endParaRPr lang="en-US" sz="85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6FAA1442-F22E-4DAD-40A6-4E1A9CAAF5E4}"/>
              </a:ext>
            </a:extLst>
          </p:cNvPr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512319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C38DC9-6A05-1410-3BE7-860C32BA497F}"/>
              </a:ext>
            </a:extLst>
          </p:cNvPr>
          <p:cNvSpPr/>
          <p:nvPr/>
        </p:nvSpPr>
        <p:spPr>
          <a:xfrm>
            <a:off x="0" y="-9144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5C3E1ED-A445-F609-1C2D-2FE8A6DFC88F}"/>
              </a:ext>
            </a:extLst>
          </p:cNvPr>
          <p:cNvSpPr/>
          <p:nvPr/>
        </p:nvSpPr>
        <p:spPr>
          <a:xfrm>
            <a:off x="685800" y="201168"/>
            <a:ext cx="1640434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5777C0-D686-9644-612C-6590F57A027A}"/>
              </a:ext>
            </a:extLst>
          </p:cNvPr>
          <p:cNvSpPr/>
          <p:nvPr/>
        </p:nvSpPr>
        <p:spPr>
          <a:xfrm>
            <a:off x="758952" y="242316"/>
            <a:ext cx="149413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COLLECTIONS + LINQ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9AC362-B188-BA65-5BC2-8B5170AA002C}"/>
              </a:ext>
            </a:extLst>
          </p:cNvPr>
          <p:cNvSpPr/>
          <p:nvPr/>
        </p:nvSpPr>
        <p:spPr>
          <a:xfrm>
            <a:off x="685800" y="577005"/>
            <a:ext cx="843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business code is data selection and transformation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3FA5577-61E7-A963-0E4B-4B4A3DED8CAA}"/>
              </a:ext>
            </a:extLst>
          </p:cNvPr>
          <p:cNvSpPr/>
          <p:nvPr/>
        </p:nvSpPr>
        <p:spPr>
          <a:xfrm>
            <a:off x="685800" y="975416"/>
            <a:ext cx="10137710" cy="238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Developers become faster when they learn which collection fits the job and how to express filtering, projection, and grouping clearly.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BC01C60-0002-5D57-1954-24A61A4F681B}"/>
              </a:ext>
            </a:extLst>
          </p:cNvPr>
          <p:cNvSpPr/>
          <p:nvPr/>
        </p:nvSpPr>
        <p:spPr>
          <a:xfrm>
            <a:off x="713232" y="1417320"/>
            <a:ext cx="3977640" cy="4736592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4A6EFEA-237F-0691-0E5D-BE3856EDF958}"/>
              </a:ext>
            </a:extLst>
          </p:cNvPr>
          <p:cNvSpPr/>
          <p:nvPr/>
        </p:nvSpPr>
        <p:spPr>
          <a:xfrm>
            <a:off x="969263" y="1737359"/>
            <a:ext cx="2455071" cy="208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instincts</a:t>
            </a:r>
            <a:endParaRPr lang="en-US" sz="16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BD771AF-365D-A7C8-096C-2EE5D6995BBB}"/>
              </a:ext>
            </a:extLst>
          </p:cNvPr>
          <p:cNvSpPr/>
          <p:nvPr/>
        </p:nvSpPr>
        <p:spPr>
          <a:xfrm>
            <a:off x="950976" y="2084832"/>
            <a:ext cx="3246120" cy="475488"/>
          </a:xfrm>
          <a:prstGeom prst="roundRect">
            <a:avLst>
              <a:gd name="adj" fmla="val 1153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405612B-ED75-375A-BB0F-508A41536BDB}"/>
              </a:ext>
            </a:extLst>
          </p:cNvPr>
          <p:cNvSpPr/>
          <p:nvPr/>
        </p:nvSpPr>
        <p:spPr>
          <a:xfrm>
            <a:off x="1042416" y="22128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EC59C66-7196-ECF3-0D70-02C7AA814492}"/>
              </a:ext>
            </a:extLst>
          </p:cNvPr>
          <p:cNvSpPr/>
          <p:nvPr/>
        </p:nvSpPr>
        <p:spPr>
          <a:xfrm>
            <a:off x="1271016" y="2212848"/>
            <a:ext cx="2807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List&lt;T&gt; for ordered sequences</a:t>
            </a:r>
            <a:endParaRPr lang="en-US" sz="12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B7D028F-597A-5B01-3CB2-6D8B1392C7BF}"/>
              </a:ext>
            </a:extLst>
          </p:cNvPr>
          <p:cNvSpPr/>
          <p:nvPr/>
        </p:nvSpPr>
        <p:spPr>
          <a:xfrm>
            <a:off x="950976" y="2688336"/>
            <a:ext cx="3246120" cy="475488"/>
          </a:xfrm>
          <a:prstGeom prst="roundRect">
            <a:avLst>
              <a:gd name="adj" fmla="val 11538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4D9A0A0-D223-50F3-D96E-EB467AB55A86}"/>
              </a:ext>
            </a:extLst>
          </p:cNvPr>
          <p:cNvSpPr/>
          <p:nvPr/>
        </p:nvSpPr>
        <p:spPr>
          <a:xfrm>
            <a:off x="1042416" y="28163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7EA1640-CB1E-4939-2361-D4894FB07945}"/>
              </a:ext>
            </a:extLst>
          </p:cNvPr>
          <p:cNvSpPr/>
          <p:nvPr/>
        </p:nvSpPr>
        <p:spPr>
          <a:xfrm>
            <a:off x="1271016" y="2816352"/>
            <a:ext cx="2807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Dictionary&lt;TKey,TValue&gt; for lookup</a:t>
            </a:r>
            <a:endParaRPr lang="en-US" sz="12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82346AD-9CA0-EAFF-05E4-27730A815C28}"/>
              </a:ext>
            </a:extLst>
          </p:cNvPr>
          <p:cNvSpPr/>
          <p:nvPr/>
        </p:nvSpPr>
        <p:spPr>
          <a:xfrm>
            <a:off x="950976" y="3291840"/>
            <a:ext cx="3246120" cy="475488"/>
          </a:xfrm>
          <a:prstGeom prst="roundRect">
            <a:avLst>
              <a:gd name="adj" fmla="val 11538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9D79BFB-5A0D-D74C-A68B-25FB33B03F79}"/>
              </a:ext>
            </a:extLst>
          </p:cNvPr>
          <p:cNvSpPr/>
          <p:nvPr/>
        </p:nvSpPr>
        <p:spPr>
          <a:xfrm>
            <a:off x="1042416" y="341985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E3263BA-1D95-AFC9-DECC-6C7C907A67B9}"/>
              </a:ext>
            </a:extLst>
          </p:cNvPr>
          <p:cNvSpPr/>
          <p:nvPr/>
        </p:nvSpPr>
        <p:spPr>
          <a:xfrm>
            <a:off x="1271016" y="3419856"/>
            <a:ext cx="2807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HashSet&lt;T&gt; for uniqueness</a:t>
            </a:r>
            <a:endParaRPr lang="en-US" sz="12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89CE4C0-9BC8-5018-7428-47F61E05B503}"/>
              </a:ext>
            </a:extLst>
          </p:cNvPr>
          <p:cNvSpPr/>
          <p:nvPr/>
        </p:nvSpPr>
        <p:spPr>
          <a:xfrm>
            <a:off x="950976" y="4114800"/>
            <a:ext cx="3246120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6182440-C089-CADE-0F42-6DAEB44A636F}"/>
              </a:ext>
            </a:extLst>
          </p:cNvPr>
          <p:cNvSpPr/>
          <p:nvPr/>
        </p:nvSpPr>
        <p:spPr>
          <a:xfrm>
            <a:off x="1051560" y="4224528"/>
            <a:ext cx="3044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Readable LINQ beats clever LINQ.</a:t>
            </a:r>
            <a:endParaRPr lang="en-US" sz="11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5E24B1E-E40D-A7B2-F4B0-79D52716A633}"/>
              </a:ext>
            </a:extLst>
          </p:cNvPr>
          <p:cNvSpPr/>
          <p:nvPr/>
        </p:nvSpPr>
        <p:spPr>
          <a:xfrm>
            <a:off x="969264" y="4709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query steps as a narrative: filter → sort → project.</a:t>
            </a:r>
            <a:endParaRPr lang="en-US" sz="14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BDF3736-AB47-1C20-00B6-BD1309BCC9EB}"/>
              </a:ext>
            </a:extLst>
          </p:cNvPr>
          <p:cNvSpPr/>
          <p:nvPr/>
        </p:nvSpPr>
        <p:spPr>
          <a:xfrm>
            <a:off x="4956048" y="1417320"/>
            <a:ext cx="6492240" cy="4736592"/>
          </a:xfrm>
          <a:prstGeom prst="roundRect">
            <a:avLst>
              <a:gd name="adj" fmla="val 15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EDA5359-FFE3-327C-7F03-01671E00EC60}"/>
              </a:ext>
            </a:extLst>
          </p:cNvPr>
          <p:cNvSpPr/>
          <p:nvPr/>
        </p:nvSpPr>
        <p:spPr>
          <a:xfrm>
            <a:off x="5230368" y="1828800"/>
            <a:ext cx="594360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64C13D9-15BC-DCBA-22F5-A5D91ADDF4CB}"/>
              </a:ext>
            </a:extLst>
          </p:cNvPr>
          <p:cNvSpPr/>
          <p:nvPr/>
        </p:nvSpPr>
        <p:spPr>
          <a:xfrm>
            <a:off x="5394960" y="197510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2087C3F-5569-E5CF-8C54-4AD32A5106B2}"/>
              </a:ext>
            </a:extLst>
          </p:cNvPr>
          <p:cNvSpPr/>
          <p:nvPr/>
        </p:nvSpPr>
        <p:spPr>
          <a:xfrm>
            <a:off x="5468112" y="2025396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LINQ flow</a:t>
            </a:r>
            <a:endParaRPr lang="en-US" sz="9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5029BF9-F5E4-BBB3-1CA2-C2683B247312}"/>
              </a:ext>
            </a:extLst>
          </p:cNvPr>
          <p:cNvSpPr/>
          <p:nvPr/>
        </p:nvSpPr>
        <p:spPr>
          <a:xfrm>
            <a:off x="5431536" y="2304288"/>
            <a:ext cx="5541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summaries = orders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.Where(o =&gt; o.Total() &gt; 100)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.OrderByDescending(o =&gt; o.Total())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.Select(o =&gt; new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Customer = o.CustomerName,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Amount = o.Total()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.ToList();</a:t>
            </a:r>
            <a:endParaRPr lang="en-US" sz="12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AEDD3A8-4153-856A-3C9B-4409DB7CAE0A}"/>
              </a:ext>
            </a:extLst>
          </p:cNvPr>
          <p:cNvSpPr/>
          <p:nvPr/>
        </p:nvSpPr>
        <p:spPr>
          <a:xfrm>
            <a:off x="5248656" y="45262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point</a:t>
            </a:r>
            <a:endParaRPr lang="en-US" sz="16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3831547-74CB-4246-2FB7-9EDDC7FD42A9}"/>
              </a:ext>
            </a:extLst>
          </p:cNvPr>
          <p:cNvSpPr/>
          <p:nvPr/>
        </p:nvSpPr>
        <p:spPr>
          <a:xfrm>
            <a:off x="5248656" y="49026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Projection is where you shape data for output or UI</a:t>
            </a:r>
            <a:endParaRPr lang="en-US" sz="14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query becomes hard to explain, split it into named steps</a:t>
            </a:r>
            <a:endParaRPr lang="en-US" sz="14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D41F92C-8D3F-E82F-6F7C-86828DCC0FC4}"/>
              </a:ext>
            </a:extLst>
          </p:cNvPr>
          <p:cNvSpPr/>
          <p:nvPr/>
        </p:nvSpPr>
        <p:spPr>
          <a:xfrm>
            <a:off x="685800" y="642823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collections and LINQ</a:t>
            </a:r>
            <a:endParaRPr lang="en-US" sz="85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0446B5C9-4E6E-136D-35B8-16EF14059AE6}"/>
              </a:ext>
            </a:extLst>
          </p:cNvPr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128699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2FAC48-D3AB-2305-169C-BC97328F579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084B80-4B45-AC6D-1BA9-1507E51B5255}"/>
              </a:ext>
            </a:extLst>
          </p:cNvPr>
          <p:cNvSpPr/>
          <p:nvPr/>
        </p:nvSpPr>
        <p:spPr>
          <a:xfrm>
            <a:off x="685800" y="20116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2C45C0-57AC-5F92-7BF8-A1595405149A}"/>
              </a:ext>
            </a:extLst>
          </p:cNvPr>
          <p:cNvSpPr/>
          <p:nvPr/>
        </p:nvSpPr>
        <p:spPr>
          <a:xfrm>
            <a:off x="758952" y="242316"/>
            <a:ext cx="1042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ASYNC/AWAIT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46A99A-F0CC-56A5-5EE5-FCDD0DB2784C}"/>
              </a:ext>
            </a:extLst>
          </p:cNvPr>
          <p:cNvSpPr/>
          <p:nvPr/>
        </p:nvSpPr>
        <p:spPr>
          <a:xfrm>
            <a:off x="685800" y="51206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async to wait on I/O without blocking the flow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57B6E5-0FE8-804F-ED20-5B6995822B7E}"/>
              </a:ext>
            </a:extLst>
          </p:cNvPr>
          <p:cNvSpPr/>
          <p:nvPr/>
        </p:nvSpPr>
        <p:spPr>
          <a:xfrm>
            <a:off x="685800" y="932688"/>
            <a:ext cx="10835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This topic is easier when developers see it as a control-flow tool for database, API, and file operations—not a magic speed button.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D2C9A69-E371-986A-E608-4E54C347D4B6}"/>
              </a:ext>
            </a:extLst>
          </p:cNvPr>
          <p:cNvSpPr/>
          <p:nvPr/>
        </p:nvSpPr>
        <p:spPr>
          <a:xfrm>
            <a:off x="713232" y="1417320"/>
            <a:ext cx="4663440" cy="470916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95D3789-8A48-75A3-3895-7912B967A6E2}"/>
              </a:ext>
            </a:extLst>
          </p:cNvPr>
          <p:cNvSpPr/>
          <p:nvPr/>
        </p:nvSpPr>
        <p:spPr>
          <a:xfrm>
            <a:off x="969264" y="1737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model</a:t>
            </a:r>
            <a:endParaRPr lang="en-US" sz="16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E81ECAB-B30E-A716-B885-DFE92EA74109}"/>
              </a:ext>
            </a:extLst>
          </p:cNvPr>
          <p:cNvSpPr/>
          <p:nvPr/>
        </p:nvSpPr>
        <p:spPr>
          <a:xfrm>
            <a:off x="969264" y="2084832"/>
            <a:ext cx="2066544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ED45D0C-B2E9-87DB-B7CF-0C24A1F0F852}"/>
              </a:ext>
            </a:extLst>
          </p:cNvPr>
          <p:cNvSpPr/>
          <p:nvPr/>
        </p:nvSpPr>
        <p:spPr>
          <a:xfrm>
            <a:off x="1115568" y="22128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74A4E5C-37D3-A7F1-FDC6-41B86DDE289A}"/>
              </a:ext>
            </a:extLst>
          </p:cNvPr>
          <p:cNvSpPr/>
          <p:nvPr/>
        </p:nvSpPr>
        <p:spPr>
          <a:xfrm>
            <a:off x="1115568" y="229514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A2AA8DA-78B1-9C28-93AE-E02EB9C15033}"/>
              </a:ext>
            </a:extLst>
          </p:cNvPr>
          <p:cNvSpPr/>
          <p:nvPr/>
        </p:nvSpPr>
        <p:spPr>
          <a:xfrm>
            <a:off x="1115568" y="26151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I/O</a:t>
            </a:r>
            <a:endParaRPr lang="en-US" sz="15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B8EDA76-3902-DA3D-5250-F6B64A84A939}"/>
              </a:ext>
            </a:extLst>
          </p:cNvPr>
          <p:cNvSpPr/>
          <p:nvPr/>
        </p:nvSpPr>
        <p:spPr>
          <a:xfrm>
            <a:off x="1115568" y="284378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database, HTTP, or file work</a:t>
            </a:r>
            <a:endParaRPr lang="en-US" sz="11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983553D-9C4D-2706-574B-7587CF6420DE}"/>
              </a:ext>
            </a:extLst>
          </p:cNvPr>
          <p:cNvSpPr/>
          <p:nvPr/>
        </p:nvSpPr>
        <p:spPr>
          <a:xfrm>
            <a:off x="969264" y="3456432"/>
            <a:ext cx="2066544" cy="1234440"/>
          </a:xfrm>
          <a:prstGeom prst="roundRect">
            <a:avLst>
              <a:gd name="adj" fmla="val 592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F257D65-1BFC-F0EE-EBED-EABC30E1DB30}"/>
              </a:ext>
            </a:extLst>
          </p:cNvPr>
          <p:cNvSpPr/>
          <p:nvPr/>
        </p:nvSpPr>
        <p:spPr>
          <a:xfrm>
            <a:off x="1115568" y="35844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E754C04-AAFF-A978-3CD2-B6A2DED293FF}"/>
              </a:ext>
            </a:extLst>
          </p:cNvPr>
          <p:cNvSpPr/>
          <p:nvPr/>
        </p:nvSpPr>
        <p:spPr>
          <a:xfrm>
            <a:off x="1115568" y="366674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7848DBD-1CB8-7A4C-B78F-7E5CECA59204}"/>
              </a:ext>
            </a:extLst>
          </p:cNvPr>
          <p:cNvSpPr/>
          <p:nvPr/>
        </p:nvSpPr>
        <p:spPr>
          <a:xfrm>
            <a:off x="1115568" y="39867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</a:t>
            </a:r>
            <a:endParaRPr lang="en-US" sz="15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62472C4-1B1D-14F3-1342-7FE1A4A335DD}"/>
              </a:ext>
            </a:extLst>
          </p:cNvPr>
          <p:cNvSpPr/>
          <p:nvPr/>
        </p:nvSpPr>
        <p:spPr>
          <a:xfrm>
            <a:off x="1115568" y="421538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the thread while work is in flight</a:t>
            </a:r>
            <a:endParaRPr lang="en-US" sz="11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C5975A5-C476-BDB6-65B0-7D703F51B161}"/>
              </a:ext>
            </a:extLst>
          </p:cNvPr>
          <p:cNvSpPr/>
          <p:nvPr/>
        </p:nvSpPr>
        <p:spPr>
          <a:xfrm>
            <a:off x="969264" y="4828032"/>
            <a:ext cx="2066544" cy="1234440"/>
          </a:xfrm>
          <a:prstGeom prst="roundRect">
            <a:avLst>
              <a:gd name="adj" fmla="val 592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4289534-AD46-FC9C-C0F9-7EF95FA5602F}"/>
              </a:ext>
            </a:extLst>
          </p:cNvPr>
          <p:cNvSpPr/>
          <p:nvPr/>
        </p:nvSpPr>
        <p:spPr>
          <a:xfrm>
            <a:off x="1115568" y="49560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7311AFB-57C9-BAA3-545E-BF72ADBB7344}"/>
              </a:ext>
            </a:extLst>
          </p:cNvPr>
          <p:cNvSpPr/>
          <p:nvPr/>
        </p:nvSpPr>
        <p:spPr>
          <a:xfrm>
            <a:off x="1115568" y="503834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0E8B947-0570-B634-F794-22E15C6D9F4E}"/>
              </a:ext>
            </a:extLst>
          </p:cNvPr>
          <p:cNvSpPr/>
          <p:nvPr/>
        </p:nvSpPr>
        <p:spPr>
          <a:xfrm>
            <a:off x="1115568" y="53583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</a:t>
            </a:r>
            <a:endParaRPr lang="en-US" sz="15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2D2D6EC-4397-827E-787F-B8AC18EE3C25}"/>
              </a:ext>
            </a:extLst>
          </p:cNvPr>
          <p:cNvSpPr/>
          <p:nvPr/>
        </p:nvSpPr>
        <p:spPr>
          <a:xfrm>
            <a:off x="1115568" y="558698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when the result returns</a:t>
            </a:r>
            <a:endParaRPr lang="en-US" sz="11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331F617-771E-617B-2AD2-AAC7A0B2C99B}"/>
              </a:ext>
            </a:extLst>
          </p:cNvPr>
          <p:cNvSpPr/>
          <p:nvPr/>
        </p:nvSpPr>
        <p:spPr>
          <a:xfrm>
            <a:off x="5596128" y="1417320"/>
            <a:ext cx="587044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A230A9C-8930-E71D-A756-A029E78613E3}"/>
              </a:ext>
            </a:extLst>
          </p:cNvPr>
          <p:cNvSpPr/>
          <p:nvPr/>
        </p:nvSpPr>
        <p:spPr>
          <a:xfrm>
            <a:off x="5888736" y="1828800"/>
            <a:ext cx="5285232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76382BE-F2FB-A57D-7AAD-D3EBF6D27491}"/>
              </a:ext>
            </a:extLst>
          </p:cNvPr>
          <p:cNvSpPr/>
          <p:nvPr/>
        </p:nvSpPr>
        <p:spPr>
          <a:xfrm>
            <a:off x="6053328" y="197510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8F864C9-9D5A-76A5-20CF-379B6DEBD104}"/>
              </a:ext>
            </a:extLst>
          </p:cNvPr>
          <p:cNvSpPr/>
          <p:nvPr/>
        </p:nvSpPr>
        <p:spPr>
          <a:xfrm>
            <a:off x="6126480" y="2025396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example</a:t>
            </a:r>
            <a:endParaRPr lang="en-US" sz="9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9482033-B125-14DC-9F52-709D3806934A}"/>
              </a:ext>
            </a:extLst>
          </p:cNvPr>
          <p:cNvSpPr/>
          <p:nvPr/>
        </p:nvSpPr>
        <p:spPr>
          <a:xfrm>
            <a:off x="6089904" y="2304288"/>
            <a:ext cx="4882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Task&lt;OrderDto?&gt; GetOrderAsync(int id)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entity = await _db.Orders.FindAsync(id);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(entity is null) return null;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OrderDto(entity.Id, entity.CustomerName, entity.Total);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5FFA77D-ACFC-85A3-BAFB-55AE638C38A9}"/>
              </a:ext>
            </a:extLst>
          </p:cNvPr>
          <p:cNvSpPr/>
          <p:nvPr/>
        </p:nvSpPr>
        <p:spPr>
          <a:xfrm>
            <a:off x="5888736" y="4279392"/>
            <a:ext cx="5266944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F0E4ABA-B44A-9AA0-FF23-FD2648727763}"/>
              </a:ext>
            </a:extLst>
          </p:cNvPr>
          <p:cNvSpPr/>
          <p:nvPr/>
        </p:nvSpPr>
        <p:spPr>
          <a:xfrm>
            <a:off x="5989320" y="4389120"/>
            <a:ext cx="5065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.Result and .Wait() in normal application flow.</a:t>
            </a:r>
            <a:endParaRPr lang="en-US" sz="11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BCE7E55-14D9-6036-1BBC-A83E78B522F9}"/>
              </a:ext>
            </a:extLst>
          </p:cNvPr>
          <p:cNvSpPr/>
          <p:nvPr/>
        </p:nvSpPr>
        <p:spPr>
          <a:xfrm>
            <a:off x="5888736" y="4801161"/>
            <a:ext cx="5248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asynchronous methods with the Async suffix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whole call chain async when the dependency is async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async primarily for I/O-bound work, not as decoration</a:t>
            </a:r>
            <a:endParaRPr lang="en-US" sz="142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BE47F45-3A97-6A34-841D-3DA350D990D9}"/>
              </a:ext>
            </a:extLst>
          </p:cNvPr>
          <p:cNvSpPr/>
          <p:nvPr/>
        </p:nvSpPr>
        <p:spPr>
          <a:xfrm>
            <a:off x="685800" y="642823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async and await</a:t>
            </a:r>
            <a:endParaRPr lang="en-US" sz="85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B4AE420C-FFA9-5AF2-4BFB-9815F2C02315}"/>
              </a:ext>
            </a:extLst>
          </p:cNvPr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214570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C56F0F-3F48-D1F9-D7A5-F883A7B84CF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569282-E9E8-CB3C-5BD3-E34D3E8BFC81}"/>
              </a:ext>
            </a:extLst>
          </p:cNvPr>
          <p:cNvSpPr/>
          <p:nvPr/>
        </p:nvSpPr>
        <p:spPr>
          <a:xfrm>
            <a:off x="685800" y="20116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6D8115-B286-8689-C702-A4ECECD71CB9}"/>
              </a:ext>
            </a:extLst>
          </p:cNvPr>
          <p:cNvSpPr/>
          <p:nvPr/>
        </p:nvSpPr>
        <p:spPr>
          <a:xfrm>
            <a:off x="758952" y="242316"/>
            <a:ext cx="1042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449FFFB-63F5-3039-76E3-D2C38464A701}"/>
              </a:ext>
            </a:extLst>
          </p:cNvPr>
          <p:cNvSpPr/>
          <p:nvPr/>
        </p:nvSpPr>
        <p:spPr>
          <a:xfrm>
            <a:off x="685800" y="51206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is fast feedback on behavior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307E1CD-714A-2F01-33FB-3307E923799E}"/>
              </a:ext>
            </a:extLst>
          </p:cNvPr>
          <p:cNvSpPr/>
          <p:nvPr/>
        </p:nvSpPr>
        <p:spPr>
          <a:xfrm>
            <a:off x="685800" y="932688"/>
            <a:ext cx="9445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Developers do not need a giant testing taxonomy first. They need to see one focused test that checks a clear rule.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BC6BD7D-60EA-97DF-CAC2-84A05449486E}"/>
              </a:ext>
            </a:extLst>
          </p:cNvPr>
          <p:cNvSpPr/>
          <p:nvPr/>
        </p:nvSpPr>
        <p:spPr>
          <a:xfrm>
            <a:off x="713232" y="1417320"/>
            <a:ext cx="4617720" cy="4736592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F888BC-E2EA-8FE5-F6F3-08F21B91FA12}"/>
              </a:ext>
            </a:extLst>
          </p:cNvPr>
          <p:cNvSpPr/>
          <p:nvPr/>
        </p:nvSpPr>
        <p:spPr>
          <a:xfrm>
            <a:off x="969264" y="1737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test first</a:t>
            </a:r>
            <a:endParaRPr lang="en-US" sz="16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7CFBFB5-31B3-C5DD-BA5E-EC703370460C}"/>
              </a:ext>
            </a:extLst>
          </p:cNvPr>
          <p:cNvSpPr/>
          <p:nvPr/>
        </p:nvSpPr>
        <p:spPr>
          <a:xfrm>
            <a:off x="969264" y="208483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 business rules with clear inputs and outputs</a:t>
            </a:r>
            <a:endParaRPr lang="en-US" sz="16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branches and edge cases</a:t>
            </a:r>
            <a:endParaRPr lang="en-US" sz="16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service methods before wide end-to-end flows</a:t>
            </a:r>
            <a:endParaRPr lang="en-US" sz="16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that would be painful to verify manually every time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61FABB6-6520-C334-1ECE-DF4E55C5F6BF}"/>
              </a:ext>
            </a:extLst>
          </p:cNvPr>
          <p:cNvSpPr/>
          <p:nvPr/>
        </p:nvSpPr>
        <p:spPr>
          <a:xfrm>
            <a:off x="969264" y="4754880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9124C72-B23E-632B-8DB1-64E7D17F05A0}"/>
              </a:ext>
            </a:extLst>
          </p:cNvPr>
          <p:cNvSpPr/>
          <p:nvPr/>
        </p:nvSpPr>
        <p:spPr>
          <a:xfrm>
            <a:off x="1069848" y="4864608"/>
            <a:ext cx="3547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the test name should read like a requirement.</a:t>
            </a:r>
            <a:endParaRPr lang="en-US" sz="11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1494CAA-44E1-3E76-0F2E-4D9B7D05ECCF}"/>
              </a:ext>
            </a:extLst>
          </p:cNvPr>
          <p:cNvSpPr/>
          <p:nvPr/>
        </p:nvSpPr>
        <p:spPr>
          <a:xfrm>
            <a:off x="5486400" y="1417320"/>
            <a:ext cx="5980176" cy="4736592"/>
          </a:xfrm>
          <a:prstGeom prst="roundRect">
            <a:avLst>
              <a:gd name="adj" fmla="val 15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23D25DD-E919-2B2F-CCE8-517B38C717C8}"/>
              </a:ext>
            </a:extLst>
          </p:cNvPr>
          <p:cNvSpPr/>
          <p:nvPr/>
        </p:nvSpPr>
        <p:spPr>
          <a:xfrm>
            <a:off x="5797296" y="1828800"/>
            <a:ext cx="5376672" cy="2761488"/>
          </a:xfrm>
          <a:prstGeom prst="roundRect">
            <a:avLst>
              <a:gd name="adj" fmla="val 264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5B34E54-1B48-E8AB-FE99-1ADFB9DFEB18}"/>
              </a:ext>
            </a:extLst>
          </p:cNvPr>
          <p:cNvSpPr/>
          <p:nvPr/>
        </p:nvSpPr>
        <p:spPr>
          <a:xfrm>
            <a:off x="5961888" y="197510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712EB28-ABAB-3F89-7038-BD74291BA45E}"/>
              </a:ext>
            </a:extLst>
          </p:cNvPr>
          <p:cNvSpPr/>
          <p:nvPr/>
        </p:nvSpPr>
        <p:spPr>
          <a:xfrm>
            <a:off x="6035040" y="2025396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xUnit example</a:t>
            </a: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2B23938-A4F1-4F9A-A9A9-4EFA50B02C93}"/>
              </a:ext>
            </a:extLst>
          </p:cNvPr>
          <p:cNvSpPr/>
          <p:nvPr/>
        </p:nvSpPr>
        <p:spPr>
          <a:xfrm>
            <a:off x="5998464" y="2304288"/>
            <a:ext cx="497433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[Fact]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Total_returns_sum_of_order_lines()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order = new Order();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order.AddLine("A-1", 2, 10m);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order.AddLine("B-2", 1, 25m);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total = order.Total();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Assert.Equal(45m, total);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B8BB01E-8C52-16AB-2064-DB1953261400}"/>
              </a:ext>
            </a:extLst>
          </p:cNvPr>
          <p:cNvSpPr/>
          <p:nvPr/>
        </p:nvSpPr>
        <p:spPr>
          <a:xfrm>
            <a:off x="5833872" y="491947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Arrange the object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once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 one meaningful outcome</a:t>
            </a:r>
            <a:endParaRPr lang="en-US" sz="142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2F687D3-16F1-12C0-DB77-72CD8F8ACD89}"/>
              </a:ext>
            </a:extLst>
          </p:cNvPr>
          <p:cNvSpPr/>
          <p:nvPr/>
        </p:nvSpPr>
        <p:spPr>
          <a:xfrm>
            <a:off x="685800" y="642823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testing</a:t>
            </a:r>
            <a:endParaRPr lang="en-US" sz="85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A1AD22A2-2AB1-DC80-EA06-11B88B4E5D40}"/>
              </a:ext>
            </a:extLst>
          </p:cNvPr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748937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D85A4A-92B6-6866-ABAA-31F7C522A75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E5F219-739F-CF1F-098A-7BBEE8BEA9A6}"/>
              </a:ext>
            </a:extLst>
          </p:cNvPr>
          <p:cNvSpPr/>
          <p:nvPr/>
        </p:nvSpPr>
        <p:spPr>
          <a:xfrm>
            <a:off x="685800" y="20116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E5BA37E-78C2-634C-DEDA-B5C19BAD892E}"/>
              </a:ext>
            </a:extLst>
          </p:cNvPr>
          <p:cNvSpPr/>
          <p:nvPr/>
        </p:nvSpPr>
        <p:spPr>
          <a:xfrm>
            <a:off x="758952" y="242316"/>
            <a:ext cx="1042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88BAD1-7E65-5076-3BED-7856610C5EB5}"/>
              </a:ext>
            </a:extLst>
          </p:cNvPr>
          <p:cNvSpPr/>
          <p:nvPr/>
        </p:nvSpPr>
        <p:spPr>
          <a:xfrm>
            <a:off x="685800" y="51206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habits vs maintainable habits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386420-CA62-0654-BE5F-10A1EDCA2AC7}"/>
              </a:ext>
            </a:extLst>
          </p:cNvPr>
          <p:cNvSpPr/>
          <p:nvPr/>
        </p:nvSpPr>
        <p:spPr>
          <a:xfrm>
            <a:off x="685800" y="93268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This is where team becomes explicit across all fundamentals.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B06C040-B215-065A-5F0B-BE5B8FE251CA}"/>
              </a:ext>
            </a:extLst>
          </p:cNvPr>
          <p:cNvSpPr/>
          <p:nvPr/>
        </p:nvSpPr>
        <p:spPr>
          <a:xfrm>
            <a:off x="749808" y="1536192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D33F442-9C90-A027-7861-09D08DB9EA7B}"/>
              </a:ext>
            </a:extLst>
          </p:cNvPr>
          <p:cNvSpPr/>
          <p:nvPr/>
        </p:nvSpPr>
        <p:spPr>
          <a:xfrm>
            <a:off x="6199632" y="1536192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40F1746-015B-5B1E-1E0A-B2F26217D957}"/>
              </a:ext>
            </a:extLst>
          </p:cNvPr>
          <p:cNvSpPr/>
          <p:nvPr/>
        </p:nvSpPr>
        <p:spPr>
          <a:xfrm>
            <a:off x="1024128" y="1828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early habit</a:t>
            </a:r>
            <a:endParaRPr lang="en-US" sz="16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FFCA42-DF5F-E7DB-679F-A3EA22FB1D33}"/>
              </a:ext>
            </a:extLst>
          </p:cNvPr>
          <p:cNvSpPr/>
          <p:nvPr/>
        </p:nvSpPr>
        <p:spPr>
          <a:xfrm>
            <a:off x="6473952" y="1828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Maintainable habit</a:t>
            </a:r>
            <a:endParaRPr lang="en-US" sz="16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26A3F7-5AB9-A610-4F86-9AD38939CE18}"/>
              </a:ext>
            </a:extLst>
          </p:cNvPr>
          <p:cNvSpPr/>
          <p:nvPr/>
        </p:nvSpPr>
        <p:spPr>
          <a:xfrm>
            <a:off x="1005840" y="2212848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large class that does everything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Loops and if-statements scattered everywhere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Blocking async calls because “it works”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tests until the end, if any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Tiny exercises that never grow into projects</a:t>
            </a:r>
            <a:endParaRPr lang="en-US" sz="15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63DD091-1A9E-33CC-5C3C-845F03C6A0EB}"/>
              </a:ext>
            </a:extLst>
          </p:cNvPr>
          <p:cNvSpPr/>
          <p:nvPr/>
        </p:nvSpPr>
        <p:spPr>
          <a:xfrm>
            <a:off x="6446520" y="2212848"/>
            <a:ext cx="43159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 with focused responsibility and explicit behavior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Collections and LINQ used as clear data narratives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async flow for I/O-bound work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Small, fast tests around behavior changes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Projects that combine design, data flow, and verification</a:t>
            </a:r>
            <a:endParaRPr lang="en-US" sz="15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7616DEE-6E31-CA5A-6B80-87FAF2DD5603}"/>
              </a:ext>
            </a:extLst>
          </p:cNvPr>
          <p:cNvSpPr/>
          <p:nvPr/>
        </p:nvSpPr>
        <p:spPr>
          <a:xfrm>
            <a:off x="685800" y="642823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comparison</a:t>
            </a:r>
            <a:endParaRPr lang="en-US" sz="8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F019001-20D7-39F5-8739-7497DA448578}"/>
              </a:ext>
            </a:extLst>
          </p:cNvPr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792611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027755-F321-E231-7A53-9245EA35825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3991C5-B120-ED83-1684-13B40F186237}"/>
              </a:ext>
            </a:extLst>
          </p:cNvPr>
          <p:cNvSpPr/>
          <p:nvPr/>
        </p:nvSpPr>
        <p:spPr>
          <a:xfrm>
            <a:off x="685800" y="201168"/>
            <a:ext cx="1373429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B2105C-31CE-E727-1B39-D1CFDC9257D2}"/>
              </a:ext>
            </a:extLst>
          </p:cNvPr>
          <p:cNvSpPr/>
          <p:nvPr/>
        </p:nvSpPr>
        <p:spPr>
          <a:xfrm>
            <a:off x="758952" y="242316"/>
            <a:ext cx="122712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PROJECTS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07A74D-215F-C372-458B-62C0EC9D2D6C}"/>
              </a:ext>
            </a:extLst>
          </p:cNvPr>
          <p:cNvSpPr/>
          <p:nvPr/>
        </p:nvSpPr>
        <p:spPr>
          <a:xfrm>
            <a:off x="685800" y="51206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Projects assignments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FB4F0A6-1509-0974-A434-4DBCC5839CA3}"/>
              </a:ext>
            </a:extLst>
          </p:cNvPr>
          <p:cNvSpPr/>
          <p:nvPr/>
        </p:nvSpPr>
        <p:spPr>
          <a:xfrm>
            <a:off x="685799" y="979342"/>
            <a:ext cx="9269963" cy="236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The best practice projects are small enough to finish but rich enough to exercise design, data work, async flow, and tests.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89134F1-AC06-1521-5E50-EE59EC33B835}"/>
              </a:ext>
            </a:extLst>
          </p:cNvPr>
          <p:cNvSpPr/>
          <p:nvPr/>
        </p:nvSpPr>
        <p:spPr>
          <a:xfrm>
            <a:off x="713232" y="1444752"/>
            <a:ext cx="109728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A6A0F8A-8D09-9EB8-6705-215B641FF3FA}"/>
              </a:ext>
            </a:extLst>
          </p:cNvPr>
          <p:cNvSpPr/>
          <p:nvPr/>
        </p:nvSpPr>
        <p:spPr>
          <a:xfrm>
            <a:off x="960120" y="1828800"/>
            <a:ext cx="2066544" cy="1664208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43058E2-33DC-849A-A1C3-CC7AEA0DE132}"/>
              </a:ext>
            </a:extLst>
          </p:cNvPr>
          <p:cNvSpPr/>
          <p:nvPr/>
        </p:nvSpPr>
        <p:spPr>
          <a:xfrm>
            <a:off x="1106424" y="19568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8165E04-B1DA-F0FD-7DC5-C97166D28A13}"/>
              </a:ext>
            </a:extLst>
          </p:cNvPr>
          <p:cNvSpPr/>
          <p:nvPr/>
        </p:nvSpPr>
        <p:spPr>
          <a:xfrm>
            <a:off x="1106424" y="203911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767810-A3FF-CAC2-BA5D-B75504423634}"/>
              </a:ext>
            </a:extLst>
          </p:cNvPr>
          <p:cNvSpPr/>
          <p:nvPr/>
        </p:nvSpPr>
        <p:spPr>
          <a:xfrm>
            <a:off x="1106424" y="2359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Tracker API</a:t>
            </a:r>
            <a:endParaRPr lang="en-US" sz="15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0DE0A74-5F17-53ED-7646-92501A45CC51}"/>
              </a:ext>
            </a:extLst>
          </p:cNvPr>
          <p:cNvSpPr/>
          <p:nvPr/>
        </p:nvSpPr>
        <p:spPr>
          <a:xfrm>
            <a:off x="1106424" y="2578419"/>
            <a:ext cx="1773936" cy="774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Classes, List&lt;T&gt;, filtering, async repository, unit tests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3EBF77B-9E01-F103-B771-EE1873EC000C}"/>
              </a:ext>
            </a:extLst>
          </p:cNvPr>
          <p:cNvSpPr/>
          <p:nvPr/>
        </p:nvSpPr>
        <p:spPr>
          <a:xfrm>
            <a:off x="3072384" y="1828800"/>
            <a:ext cx="2066544" cy="1664208"/>
          </a:xfrm>
          <a:prstGeom prst="roundRect">
            <a:avLst>
              <a:gd name="adj" fmla="val 592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3867C36-7A97-34A5-B3C5-55B82BC181C7}"/>
              </a:ext>
            </a:extLst>
          </p:cNvPr>
          <p:cNvSpPr/>
          <p:nvPr/>
        </p:nvSpPr>
        <p:spPr>
          <a:xfrm>
            <a:off x="3218688" y="19568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65F5B8F-D344-90C6-22C2-A971FBF6677E}"/>
              </a:ext>
            </a:extLst>
          </p:cNvPr>
          <p:cNvSpPr/>
          <p:nvPr/>
        </p:nvSpPr>
        <p:spPr>
          <a:xfrm>
            <a:off x="3218688" y="203911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31A27B1-AC6C-E129-11AC-D0711AE0DB3D}"/>
              </a:ext>
            </a:extLst>
          </p:cNvPr>
          <p:cNvSpPr/>
          <p:nvPr/>
        </p:nvSpPr>
        <p:spPr>
          <a:xfrm>
            <a:off x="3218688" y="2359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Catalog</a:t>
            </a:r>
            <a:endParaRPr lang="en-US" sz="15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AE97A82-E127-BF1D-E081-3006B7F8269D}"/>
              </a:ext>
            </a:extLst>
          </p:cNvPr>
          <p:cNvSpPr/>
          <p:nvPr/>
        </p:nvSpPr>
        <p:spPr>
          <a:xfrm>
            <a:off x="3218688" y="258775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Search and projection with LINQ, validation, test coverage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91F456E-6E06-B54F-373A-FAB17EAA2750}"/>
              </a:ext>
            </a:extLst>
          </p:cNvPr>
          <p:cNvSpPr/>
          <p:nvPr/>
        </p:nvSpPr>
        <p:spPr>
          <a:xfrm>
            <a:off x="5184648" y="1828800"/>
            <a:ext cx="2066544" cy="1664208"/>
          </a:xfrm>
          <a:prstGeom prst="roundRect">
            <a:avLst>
              <a:gd name="adj" fmla="val 592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B6D6618-AD51-4825-40ED-C58F8E469A0E}"/>
              </a:ext>
            </a:extLst>
          </p:cNvPr>
          <p:cNvSpPr/>
          <p:nvPr/>
        </p:nvSpPr>
        <p:spPr>
          <a:xfrm>
            <a:off x="5330952" y="19568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8B85ACD-3B26-B7F0-C8ED-1D6F0006E6EE}"/>
              </a:ext>
            </a:extLst>
          </p:cNvPr>
          <p:cNvSpPr/>
          <p:nvPr/>
        </p:nvSpPr>
        <p:spPr>
          <a:xfrm>
            <a:off x="5330952" y="203911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C1F8229-47F9-C57B-F537-CCE28CCA853B}"/>
              </a:ext>
            </a:extLst>
          </p:cNvPr>
          <p:cNvSpPr/>
          <p:nvPr/>
        </p:nvSpPr>
        <p:spPr>
          <a:xfrm>
            <a:off x="5330952" y="2359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Planner</a:t>
            </a:r>
            <a:endParaRPr lang="en-US" sz="15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E3BC268-786C-E875-C4AA-E5F34EE5D09B}"/>
              </a:ext>
            </a:extLst>
          </p:cNvPr>
          <p:cNvSpPr/>
          <p:nvPr/>
        </p:nvSpPr>
        <p:spPr>
          <a:xfrm>
            <a:off x="5330952" y="258775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Domain rules, grouping, totals, edge-case tests</a:t>
            </a:r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E29AD51-A262-2499-FA8D-C107372EF1E9}"/>
              </a:ext>
            </a:extLst>
          </p:cNvPr>
          <p:cNvSpPr/>
          <p:nvPr/>
        </p:nvSpPr>
        <p:spPr>
          <a:xfrm>
            <a:off x="7296912" y="1828800"/>
            <a:ext cx="2066544" cy="1664208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53A67E8-50F7-1032-B0A8-14C5422440D2}"/>
              </a:ext>
            </a:extLst>
          </p:cNvPr>
          <p:cNvSpPr/>
          <p:nvPr/>
        </p:nvSpPr>
        <p:spPr>
          <a:xfrm>
            <a:off x="7443216" y="19568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6534"/>
          </a:solidFill>
          <a:ln w="12700">
            <a:solidFill>
              <a:srgbClr val="166534">
                <a:alpha val="0"/>
              </a:srgbClr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8EE8007-43B3-01D2-79C6-0E6D52AC67EA}"/>
              </a:ext>
            </a:extLst>
          </p:cNvPr>
          <p:cNvSpPr/>
          <p:nvPr/>
        </p:nvSpPr>
        <p:spPr>
          <a:xfrm>
            <a:off x="7443216" y="203911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7089441-0097-4D7C-9795-11DF7DF834CE}"/>
              </a:ext>
            </a:extLst>
          </p:cNvPr>
          <p:cNvSpPr/>
          <p:nvPr/>
        </p:nvSpPr>
        <p:spPr>
          <a:xfrm>
            <a:off x="7443216" y="2359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Console App</a:t>
            </a:r>
            <a:endParaRPr lang="en-US" sz="15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7B20283-E6DF-9A99-622C-CA40D3E9F264}"/>
              </a:ext>
            </a:extLst>
          </p:cNvPr>
          <p:cNvSpPr/>
          <p:nvPr/>
        </p:nvSpPr>
        <p:spPr>
          <a:xfrm>
            <a:off x="7443216" y="258775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OOP modeling plus collections before web work</a:t>
            </a:r>
            <a:endParaRPr lang="en-US" sz="14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A861048-23B2-5238-75C2-5C92FF8CD990}"/>
              </a:ext>
            </a:extLst>
          </p:cNvPr>
          <p:cNvSpPr/>
          <p:nvPr/>
        </p:nvSpPr>
        <p:spPr>
          <a:xfrm>
            <a:off x="9409176" y="1828800"/>
            <a:ext cx="2066544" cy="1664208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7AFB7CC-8CC9-EB32-5B8A-530A9C59464A}"/>
              </a:ext>
            </a:extLst>
          </p:cNvPr>
          <p:cNvSpPr/>
          <p:nvPr/>
        </p:nvSpPr>
        <p:spPr>
          <a:xfrm>
            <a:off x="9555480" y="195681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5C8DBA0-43DA-23DE-C141-FBD0616AAB43}"/>
              </a:ext>
            </a:extLst>
          </p:cNvPr>
          <p:cNvSpPr/>
          <p:nvPr/>
        </p:nvSpPr>
        <p:spPr>
          <a:xfrm>
            <a:off x="9555480" y="203911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41E6794-CBA0-3C92-68A6-3531E508188D}"/>
              </a:ext>
            </a:extLst>
          </p:cNvPr>
          <p:cNvSpPr/>
          <p:nvPr/>
        </p:nvSpPr>
        <p:spPr>
          <a:xfrm>
            <a:off x="9555480" y="2359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Import Tool</a:t>
            </a:r>
            <a:endParaRPr lang="en-US" sz="15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4CA2853-2457-EBB8-6B67-7BD7B6D57764}"/>
              </a:ext>
            </a:extLst>
          </p:cNvPr>
          <p:cNvSpPr/>
          <p:nvPr/>
        </p:nvSpPr>
        <p:spPr>
          <a:xfrm>
            <a:off x="9555480" y="2587752"/>
            <a:ext cx="1773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Async I/O, parsing, validation, testable helpers</a:t>
            </a:r>
            <a:endParaRPr lang="en-US" sz="14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6E0A901-B9D7-07A0-4B9D-5EE969D92F9D}"/>
              </a:ext>
            </a:extLst>
          </p:cNvPr>
          <p:cNvSpPr/>
          <p:nvPr/>
        </p:nvSpPr>
        <p:spPr>
          <a:xfrm>
            <a:off x="960120" y="3657600"/>
            <a:ext cx="3061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rule for project scope</a:t>
            </a:r>
            <a:endParaRPr lang="en-US" sz="16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E549D48-62D0-F9F9-8A1B-AAFE7E505F29}"/>
              </a:ext>
            </a:extLst>
          </p:cNvPr>
          <p:cNvSpPr/>
          <p:nvPr/>
        </p:nvSpPr>
        <p:spPr>
          <a:xfrm>
            <a:off x="960120" y="4133088"/>
            <a:ext cx="6336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domain, one main workflow, one small data model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one query or transformation with LINQ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one async path if the project touches files, HTTP, or data access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three tests that prove real behavior</a:t>
            </a:r>
            <a:endParaRPr lang="en-US" sz="152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FE747AF-099A-B469-F549-4F62011F6245}"/>
              </a:ext>
            </a:extLst>
          </p:cNvPr>
          <p:cNvSpPr/>
          <p:nvPr/>
        </p:nvSpPr>
        <p:spPr>
          <a:xfrm>
            <a:off x="7452360" y="4617720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41929A9-1440-A0F1-5D0E-24602D0D908A}"/>
              </a:ext>
            </a:extLst>
          </p:cNvPr>
          <p:cNvSpPr/>
          <p:nvPr/>
        </p:nvSpPr>
        <p:spPr>
          <a:xfrm>
            <a:off x="7552944" y="4727448"/>
            <a:ext cx="3410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Finishing a small project is more valuable than starting a large one.</a:t>
            </a:r>
            <a:endParaRPr lang="en-US" sz="11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ACF3643-3420-130A-2EB1-FCAE8A972C67}"/>
              </a:ext>
            </a:extLst>
          </p:cNvPr>
          <p:cNvSpPr/>
          <p:nvPr/>
        </p:nvSpPr>
        <p:spPr>
          <a:xfrm>
            <a:off x="685800" y="642823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project ideas</a:t>
            </a:r>
            <a:endParaRPr lang="en-US" sz="85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A4EC517C-CEDC-5412-F952-1E0A871CE07B}"/>
              </a:ext>
            </a:extLst>
          </p:cNvPr>
          <p:cNvSpPr/>
          <p:nvPr/>
        </p:nvSpPr>
        <p:spPr>
          <a:xfrm>
            <a:off x="9966960" y="310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C# Foundations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624044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7498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77724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1234440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team should leave with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41248" y="2148840"/>
            <a:ext cx="5257800" cy="530352"/>
          </a:xfrm>
          <a:prstGeom prst="roundRect">
            <a:avLst>
              <a:gd name="adj" fmla="val 8621"/>
            </a:avLst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32257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distinction between C# and .NET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41248" y="2935224"/>
            <a:ext cx="5257800" cy="530352"/>
          </a:xfrm>
          <a:prstGeom prst="roundRect">
            <a:avLst>
              <a:gd name="adj" fmla="val 8621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310896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mental model for shaping code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41248" y="3721608"/>
            <a:ext cx="5257800" cy="530352"/>
          </a:xfrm>
          <a:prstGeom prst="roundRect">
            <a:avLst>
              <a:gd name="adj" fmla="val 8621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89534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habits for naming, methods, and separation of responsibilities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41248" y="4507992"/>
            <a:ext cx="5257800" cy="530352"/>
          </a:xfrm>
          <a:prstGeom prst="roundRect">
            <a:avLst>
              <a:gd name="adj" fmla="val 8621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468172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maintainable code habits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0" y="1572768"/>
            <a:ext cx="3657600" cy="3429000"/>
          </a:xfrm>
          <a:prstGeom prst="roundRect">
            <a:avLst>
              <a:gd name="adj" fmla="val 2667"/>
            </a:avLst>
          </a:prstGeom>
          <a:solidFill>
            <a:srgbClr val="13223B"/>
          </a:solidFill>
          <a:ln w="12700">
            <a:solidFill>
              <a:srgbClr val="13223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901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 for Day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35240" y="2304288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language basics into how .NET is used to build simple backend APIs with good boundaries and beginner-friendly structure.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7635240" y="3749040"/>
            <a:ext cx="2880360" cy="621792"/>
          </a:xfrm>
          <a:prstGeom prst="roundRect">
            <a:avLst>
              <a:gd name="adj" fmla="val 7353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39319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the core message: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code that you can explain.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6172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3113</Words>
  <Application>Microsoft Office PowerPoint</Application>
  <PresentationFormat>Widescreen</PresentationFormat>
  <Paragraphs>388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1 - C# Foundations for Professional Developers</dc:title>
  <dc:subject>Day 1 training slides for .NET 10 and C#</dc:subject>
  <dc:creator>OpenAI</dc:creator>
  <cp:lastModifiedBy>Abdul  Rehman</cp:lastModifiedBy>
  <cp:revision>20</cp:revision>
  <dcterms:created xsi:type="dcterms:W3CDTF">2026-04-05T09:23:35Z</dcterms:created>
  <dcterms:modified xsi:type="dcterms:W3CDTF">2026-04-05T17:13:59Z</dcterms:modified>
</cp:coreProperties>
</file>