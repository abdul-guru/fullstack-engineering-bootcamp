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1" r:id="rId5"/>
    <p:sldId id="268" r:id="rId6"/>
    <p:sldId id="280" r:id="rId7"/>
    <p:sldId id="281" r:id="rId8"/>
    <p:sldId id="260" r:id="rId9"/>
    <p:sldId id="263" r:id="rId10"/>
    <p:sldId id="267" r:id="rId11"/>
    <p:sldId id="269" r:id="rId12"/>
    <p:sldId id="262" r:id="rId13"/>
    <p:sldId id="271" r:id="rId14"/>
    <p:sldId id="270" r:id="rId15"/>
    <p:sldId id="272" r:id="rId16"/>
    <p:sldId id="273" r:id="rId17"/>
    <p:sldId id="264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1303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opening slide should make Day 2 feel like a continuation, not a new course. Connect it explicitly to Day 1: now the language moves into a simple backend surface.
[Sources]
- User-provided theme guide and template used as the visual basis for this deck.
- ASP.NET Core documentation hub: https://learn.microsoft.com/en-us/aspnet/core/?view=aspnetcore-10.0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Set the expectation that today is about seeing the shape of a backend. That keeps students from getting lost in setup details.
[Sources]
- None. Session design and sequencing are original for this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Say the flow out loud three times: request, endpoint, validation, service, response. This will anchor the rest of the deck.
[Sources]
- ASP.NET Core fundamentals overview: https://learn.microsoft.com/en-us/aspnet/core/fundamentals/?view=aspnetcore-10.0
- APIs overview: https://learn.microsoft.com/en-us/aspnet/core/fundamentals/apis?view=aspnetcore-10.0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If students remember only one architecture rule, let it be this: endpoints coordinate, DTOs shape input, services own business logic.
[Sources]
- Dependency injection in ASP.NET Core: https://learn.microsoft.com/en-us/aspnet/core/fundamentals/dependency-injection?view=aspnetcore-10.0
- Model validation in ASP.NET Core MVC and Razor Pages: https://learn.microsoft.com/en-us/aspnet/core/mvc/models/validation?view=aspnetcore-10.0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Keep this balanced. Microsoft documents both approaches, and the current APIs overview recommends Minimal APIs for new fast HTTP APIs. That makes Minimal APIs a strong choice for a short workshop, but controllers are still valid and common.
[Sources]
- APIs overview: https://learn.microsoft.com/en-us/aspnet/core/fundamentals/apis?view=aspnetcore-10.0
- Create web APIs with ASP.NET Core: https://learn.microsoft.com/en-us/aspnet/core/web-api/?view=aspnetcore-10.0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Read only the important lines. The real teaching value is not the full syntax. It is the separation between startup, endpoint, validation, service, and response.
[Sources]
- Tutorial: Create a Minimal API with ASP.NET Core: https://learn.microsoft.com/en-us/aspnet/core/tutorials/min-web-api?view=aspnetcore-10.0
- Minimal APIs quick reference: https://learn.microsoft.com/en-us/aspnet/core/fundamentals/minimal-apis?view=aspnetcore-10.0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Do not go deep into lifetimes unless the audience is already familiar with backend concepts. In a short workshop, DI should feel like a clean handoff mechanism.
[Sources]
- Dependency injection in ASP.NET Core: https://learn.microsoft.com/en-us/aspnet/core/fundamentals/dependency-injection?view=aspnetcore-10.0
- Dependency injection overview in .NET: https://learn.microsoft.com/en-us/dotnet/core/extensions/dependency-injection/overview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code is intentionally mixed: endpoint logic, validation, database use, and response all sit together. The class should discuss which responsibility to move first.
[Sources]
- None. Original workshop example for this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731520"/>
            <a:ext cx="23317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758952"/>
            <a:ext cx="2221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49808" y="105156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ASP.NET Core API Basics</a:t>
            </a:r>
            <a:endParaRPr lang="en-US" sz="2900" dirty="0"/>
          </a:p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Clean Boundaries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68096" y="217627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C# language basics into simple backend thinking in .NET 10.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86384" y="2852928"/>
            <a:ext cx="822960" cy="301752"/>
          </a:xfrm>
          <a:prstGeom prst="roundRect">
            <a:avLst>
              <a:gd name="adj" fmla="val 24242"/>
            </a:avLst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916936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 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19072" y="2852928"/>
            <a:ext cx="1301496" cy="301752"/>
          </a:xfrm>
          <a:prstGeom prst="roundRect">
            <a:avLst>
              <a:gd name="adj" fmla="val 24242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916936"/>
            <a:ext cx="11839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ASP.NET 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41520" y="2852928"/>
            <a:ext cx="1554480" cy="301752"/>
          </a:xfrm>
          <a:prstGeom prst="roundRect">
            <a:avLst>
              <a:gd name="adj" fmla="val 24242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5528" y="2916936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API workshop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68096" y="340156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a full backend course. The goal is to show how requests, endpoints, services, validation, and responses fit together.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50608" y="1143000"/>
            <a:ext cx="4069080" cy="4572000"/>
          </a:xfrm>
          <a:prstGeom prst="roundRect">
            <a:avLst>
              <a:gd name="adj" fmla="val 2247"/>
            </a:avLst>
          </a:prstGeom>
          <a:solidFill>
            <a:srgbClr val="13223B"/>
          </a:solidFill>
          <a:ln w="12700">
            <a:solidFill>
              <a:srgbClr val="13223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16368" y="1600200"/>
            <a:ext cx="2880360" cy="566928"/>
          </a:xfrm>
          <a:prstGeom prst="roundRect">
            <a:avLst>
              <a:gd name="adj" fmla="val 9677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6368" y="1783080"/>
            <a:ext cx="2880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/ Route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2176272"/>
            <a:ext cx="0" cy="219456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16368" y="2487168"/>
            <a:ext cx="2880360" cy="566928"/>
          </a:xfrm>
          <a:prstGeom prst="roundRect">
            <a:avLst>
              <a:gd name="adj" fmla="val 9677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16368" y="2670048"/>
            <a:ext cx="2880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/ DTO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61120" y="3063240"/>
            <a:ext cx="0" cy="219456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16368" y="3374136"/>
            <a:ext cx="288036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3557016"/>
            <a:ext cx="2880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/ Dependency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61120" y="3950208"/>
            <a:ext cx="0" cy="219456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16368" y="4261104"/>
            <a:ext cx="28803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16368" y="4443984"/>
            <a:ext cx="2880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/ Review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" y="614476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</a:t>
            </a:r>
            <a:endParaRPr lang="en-US" sz="900" dirty="0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1B1ACDF5-54C7-E15A-D296-D7B78FACA49E}"/>
              </a:ext>
            </a:extLst>
          </p:cNvPr>
          <p:cNvSpPr/>
          <p:nvPr/>
        </p:nvSpPr>
        <p:spPr>
          <a:xfrm>
            <a:off x="3233808" y="2849880"/>
            <a:ext cx="1217417" cy="301752"/>
          </a:xfrm>
          <a:prstGeom prst="roundRect">
            <a:avLst>
              <a:gd name="adj" fmla="val 24242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69FB46FB-7750-942E-23F8-5D4D846379B3}"/>
              </a:ext>
            </a:extLst>
          </p:cNvPr>
          <p:cNvSpPr/>
          <p:nvPr/>
        </p:nvSpPr>
        <p:spPr>
          <a:xfrm>
            <a:off x="3297816" y="2913888"/>
            <a:ext cx="1107457" cy="128016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Controllers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cover today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 in </a:t>
            </a:r>
            <a:r>
              <a:rPr lang="en-US" sz="1350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Asp.Net</a:t>
            </a: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829800" y="310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444752"/>
            <a:ext cx="48920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we will cover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084832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an HTTP request reaches an endpoint</a:t>
            </a:r>
            <a:endParaRPr lang="en-US" sz="168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APIs vs controllers at a beginner level</a:t>
            </a:r>
            <a:endParaRPr lang="en-US" sz="168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DTOs, validation, and response thinking</a:t>
            </a:r>
            <a:endParaRPr lang="en-US" sz="168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injection and service boundaries</a:t>
            </a:r>
            <a:endParaRPr lang="en-US" sz="168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80" dirty="0">
                <a:solidFill>
                  <a:srgbClr val="334155"/>
                </a:solidFill>
                <a:latin typeface="Aptos" pitchFamily="34" charset="0"/>
              </a:rPr>
              <a:t>Exercise and workshop</a:t>
            </a:r>
            <a:endParaRPr lang="en-US" sz="1680" dirty="0"/>
          </a:p>
        </p:txBody>
      </p:sp>
      <p:sp>
        <p:nvSpPr>
          <p:cNvPr id="11" name="Shape 9"/>
          <p:cNvSpPr/>
          <p:nvPr/>
        </p:nvSpPr>
        <p:spPr>
          <a:xfrm>
            <a:off x="6144768" y="1444752"/>
            <a:ext cx="5148072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7373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intention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9088" y="2084832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should leave with a simple, explainable model of how an ASP.NET Core API is shaped. The win is architectural clarity, not framework trivia.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19088" y="3246120"/>
            <a:ext cx="1143000" cy="301752"/>
          </a:xfrm>
          <a:prstGeom prst="roundRect">
            <a:avLst>
              <a:gd name="adj" fmla="val 24242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3096" y="3310128"/>
            <a:ext cx="1014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99248" y="3246120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63256" y="3310128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boundaries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53728" y="3246120"/>
            <a:ext cx="1325880" cy="301752"/>
          </a:xfrm>
          <a:prstGeom prst="roundRect">
            <a:avLst>
              <a:gd name="adj" fmla="val 24242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7736" y="3310128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and review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19088" y="3822192"/>
            <a:ext cx="4251960" cy="1444752"/>
          </a:xfrm>
          <a:prstGeom prst="roundRect">
            <a:avLst>
              <a:gd name="adj" fmla="val 379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</a:rPr>
              <a:t>MENTAL MODEL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API mental model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backbone of the whole session.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829800" y="310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0120" y="1993392"/>
            <a:ext cx="1828800" cy="2084832"/>
          </a:xfrm>
          <a:prstGeom prst="roundRect">
            <a:avLst>
              <a:gd name="adj" fmla="val 3500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73352" y="22128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88136" y="257860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1069848" y="288950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JSON or route data comes in from the client.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52928" y="2862072"/>
            <a:ext cx="128016" cy="38404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72968" y="1993392"/>
            <a:ext cx="1828800" cy="2084832"/>
          </a:xfrm>
          <a:prstGeom prst="roundRect">
            <a:avLst>
              <a:gd name="adj" fmla="val 3500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22128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00984" y="257860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3282696" y="288950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route handler receives the request and decides what to do next.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65776" y="2862072"/>
            <a:ext cx="128016" cy="38404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85816" y="1993392"/>
            <a:ext cx="1828800" cy="2084832"/>
          </a:xfrm>
          <a:prstGeom prst="roundRect">
            <a:avLst>
              <a:gd name="adj" fmla="val 3500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22128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13832" y="257860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5495544" y="288950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bad input early, before business work starts.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78624" y="2862072"/>
            <a:ext cx="128016" cy="38404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98664" y="1993392"/>
            <a:ext cx="1828800" cy="2084832"/>
          </a:xfrm>
          <a:prstGeom prst="roundRect">
            <a:avLst>
              <a:gd name="adj" fmla="val 3500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11896" y="22128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726680" y="257860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7708392" y="288950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business logic into a focused service or method.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491472" y="2862072"/>
            <a:ext cx="128016" cy="38404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11512" y="1993392"/>
            <a:ext cx="1828800" cy="2084832"/>
          </a:xfrm>
          <a:prstGeom prst="roundRect">
            <a:avLst>
              <a:gd name="adj" fmla="val 3500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24744" y="221284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939528" y="257860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9921240" y="2889504"/>
            <a:ext cx="1609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the right HTTP result with a clear shape.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17320" y="480060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Rule: </a:t>
            </a:r>
            <a:r>
              <a:rPr lang="en-US" sz="155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team </a:t>
            </a: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narrate the request lifecycle, the framework becomes much less intimidating.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</a:rPr>
              <a:t>BOUNDRIES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boundaries team should understand first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boundaries make even a tiny API easier to reason about.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829800" y="310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444752"/>
            <a:ext cx="3246120" cy="45262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71416" y="1444752"/>
            <a:ext cx="3246120" cy="45262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74152" y="1444752"/>
            <a:ext cx="3200400" cy="45262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1719072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121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/ endpoint 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24712" y="2505456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HTTP input</a:t>
            </a:r>
            <a:endParaRPr lang="en-US" sz="14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 URL and verb</a:t>
            </a:r>
            <a:endParaRPr lang="en-US" sz="14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an HTTP result</a:t>
            </a:r>
            <a:endParaRPr lang="en-US" sz="14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stay thin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4709160" y="1719072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2121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 / validation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727448" y="2505456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expected request shape</a:t>
            </a:r>
            <a:endParaRPr lang="en-US" sz="14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Rejects invalid input early</a:t>
            </a:r>
            <a:endParaRPr lang="en-US" sz="14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Prevents messy data from flowing inward</a:t>
            </a:r>
            <a:endParaRPr lang="en-US" sz="14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clarity for clients and tests</a:t>
            </a:r>
            <a:endParaRPr lang="en-US" sz="1430" dirty="0"/>
          </a:p>
        </p:txBody>
      </p:sp>
      <p:sp>
        <p:nvSpPr>
          <p:cNvPr id="17" name="Shape 15"/>
          <p:cNvSpPr/>
          <p:nvPr/>
        </p:nvSpPr>
        <p:spPr>
          <a:xfrm>
            <a:off x="8311896" y="1719072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0184" y="212140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/ logic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30184" y="2505456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the business decision</a:t>
            </a:r>
            <a:endParaRPr lang="en-US" sz="14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Avoids route-level duplication</a:t>
            </a:r>
            <a:endParaRPr lang="en-US" sz="14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reuse and testability</a:t>
            </a:r>
            <a:endParaRPr lang="en-US" sz="14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endpoints readable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0A15F8-2ABA-C943-BB94-648153595AF7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1FC9A2-B756-3CA5-C467-78119411AFBC}"/>
              </a:ext>
            </a:extLst>
          </p:cNvPr>
          <p:cNvSpPr/>
          <p:nvPr/>
        </p:nvSpPr>
        <p:spPr>
          <a:xfrm>
            <a:off x="685952" y="201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8DAEA80-605C-D034-ADB6-AF7BA407EFC4}"/>
              </a:ext>
            </a:extLst>
          </p:cNvPr>
          <p:cNvSpPr/>
          <p:nvPr/>
        </p:nvSpPr>
        <p:spPr>
          <a:xfrm>
            <a:off x="740816" y="22860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08B1564-103D-BAEE-B988-A840E9C10625}"/>
              </a:ext>
            </a:extLst>
          </p:cNvPr>
          <p:cNvSpPr/>
          <p:nvPr/>
        </p:nvSpPr>
        <p:spPr>
          <a:xfrm>
            <a:off x="676808" y="4937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Routes and path design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3E91DD-1742-BA07-EA08-43E5D10A16C6}"/>
              </a:ext>
            </a:extLst>
          </p:cNvPr>
          <p:cNvSpPr/>
          <p:nvPr/>
        </p:nvSpPr>
        <p:spPr>
          <a:xfrm>
            <a:off x="685952" y="932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answers both how routes are defined and what route naming practices are worth teaching.</a:t>
            </a:r>
            <a:endParaRPr lang="en-US" sz="133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1501B38-B463-38CF-B629-FC7DBBB8B306}"/>
              </a:ext>
            </a:extLst>
          </p:cNvPr>
          <p:cNvSpPr/>
          <p:nvPr/>
        </p:nvSpPr>
        <p:spPr>
          <a:xfrm>
            <a:off x="9784232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69DF50E-1533-00C9-10DA-A20194FC8D98}"/>
              </a:ext>
            </a:extLst>
          </p:cNvPr>
          <p:cNvSpPr/>
          <p:nvPr/>
        </p:nvSpPr>
        <p:spPr>
          <a:xfrm>
            <a:off x="868832" y="1463040"/>
            <a:ext cx="5047488" cy="4069080"/>
          </a:xfrm>
          <a:prstGeom prst="roundRect">
            <a:avLst>
              <a:gd name="adj" fmla="val 1798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AC42406-BF31-0F45-5C5C-5E8E964B2D43}"/>
              </a:ext>
            </a:extLst>
          </p:cNvPr>
          <p:cNvSpPr/>
          <p:nvPr/>
        </p:nvSpPr>
        <p:spPr>
          <a:xfrm>
            <a:off x="6272936" y="1463040"/>
            <a:ext cx="5047488" cy="4069080"/>
          </a:xfrm>
          <a:prstGeom prst="roundRect">
            <a:avLst>
              <a:gd name="adj" fmla="val 179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CDE9A1B-5EB4-0EEE-34EA-5E2371818010}"/>
              </a:ext>
            </a:extLst>
          </p:cNvPr>
          <p:cNvSpPr/>
          <p:nvPr/>
        </p:nvSpPr>
        <p:spPr>
          <a:xfrm>
            <a:off x="1143152" y="17647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1A9E529-8704-D2ED-AA54-0E96DDD21C47}"/>
              </a:ext>
            </a:extLst>
          </p:cNvPr>
          <p:cNvSpPr/>
          <p:nvPr/>
        </p:nvSpPr>
        <p:spPr>
          <a:xfrm>
            <a:off x="6547256" y="17647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C4BF7FE-5197-1A02-41B5-137D335F2622}"/>
              </a:ext>
            </a:extLst>
          </p:cNvPr>
          <p:cNvSpPr/>
          <p:nvPr/>
        </p:nvSpPr>
        <p:spPr>
          <a:xfrm>
            <a:off x="1115720" y="2084832"/>
            <a:ext cx="4160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names in URLs: /api/</a:t>
            </a:r>
            <a:r>
              <a:rPr lang="en-US" sz="155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getTasks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casing or unstable naming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Putting filters into path segments unnecessarily: /</a:t>
            </a:r>
            <a:r>
              <a:rPr lang="en-US" sz="155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/tasks/status/open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route conventions developers cannot explain</a:t>
            </a:r>
            <a:endParaRPr lang="en-US" sz="155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One-off route patterns across controllers</a:t>
            </a:r>
            <a:endParaRPr lang="en-US" sz="15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B215651-F07F-82E6-3438-6A9A7BC013D4}"/>
              </a:ext>
            </a:extLst>
          </p:cNvPr>
          <p:cNvSpPr/>
          <p:nvPr/>
        </p:nvSpPr>
        <p:spPr>
          <a:xfrm>
            <a:off x="6510680" y="2084832"/>
            <a:ext cx="4160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Resource-oriented routes: /api/tasks</a:t>
            </a:r>
            <a:endParaRPr lang="en-US" sz="154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route parameters for identity: /api/tasks/{</a:t>
            </a:r>
            <a:r>
              <a:rPr lang="en-US" sz="154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id:int</a:t>
            </a: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} or /</a:t>
            </a:r>
            <a:r>
              <a:rPr lang="en-US" sz="154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/tasks/{</a:t>
            </a:r>
            <a:r>
              <a:rPr lang="en-US" sz="154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id:int</a:t>
            </a: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}/history </a:t>
            </a:r>
            <a:endParaRPr lang="en-US" sz="154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query strings for filtering or paging: /</a:t>
            </a:r>
            <a:r>
              <a:rPr lang="en-US" sz="154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</a:t>
            </a:r>
            <a:r>
              <a:rPr lang="en-US" sz="154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tasks?staus</a:t>
            </a: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=open</a:t>
            </a:r>
            <a:endParaRPr lang="en-US" sz="154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attribute routing for REST APIs</a:t>
            </a:r>
            <a:endParaRPr lang="en-US" sz="154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route templates consistent across the project</a:t>
            </a:r>
            <a:endParaRPr lang="en-US" sz="154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A66C60B-8A1B-DE03-5FEB-E3334DBC53DD}"/>
              </a:ext>
            </a:extLst>
          </p:cNvPr>
          <p:cNvSpPr/>
          <p:nvPr/>
        </p:nvSpPr>
        <p:spPr>
          <a:xfrm>
            <a:off x="3154831" y="5743323"/>
            <a:ext cx="64017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rule: the route should tell a predictable story before developers ever read the method body.</a:t>
            </a:r>
            <a:endParaRPr lang="en-US" sz="118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1FFB1E-C904-09AD-97EB-22D8A2A6AD1B}"/>
              </a:ext>
            </a:extLst>
          </p:cNvPr>
          <p:cNvSpPr/>
          <p:nvPr/>
        </p:nvSpPr>
        <p:spPr>
          <a:xfrm>
            <a:off x="685952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11670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BE1820-8634-CA11-8490-0289CE1B44BE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F8C5C11-5DAB-9731-DF63-91C1486BEFD4}"/>
              </a:ext>
            </a:extLst>
          </p:cNvPr>
          <p:cNvSpPr/>
          <p:nvPr/>
        </p:nvSpPr>
        <p:spPr>
          <a:xfrm>
            <a:off x="563235" y="62357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right HTTP verb for the job</a:t>
            </a:r>
            <a:endParaRPr lang="en-US" sz="2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86B08F0-0B79-3F1F-47FC-B6905BBA1AD3}"/>
              </a:ext>
            </a:extLst>
          </p:cNvPr>
          <p:cNvSpPr/>
          <p:nvPr/>
        </p:nvSpPr>
        <p:spPr>
          <a:xfrm>
            <a:off x="572379" y="101677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semantics help humans and clients understand intent faster.</a:t>
            </a:r>
            <a:endParaRPr lang="en-US" sz="1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64A84A6-E1CA-09E9-6BFB-A5E87AC46509}"/>
              </a:ext>
            </a:extLst>
          </p:cNvPr>
          <p:cNvSpPr/>
          <p:nvPr/>
        </p:nvSpPr>
        <p:spPr>
          <a:xfrm>
            <a:off x="705612" y="1796796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51E8B30-3426-C336-A781-0805A8052E04}"/>
              </a:ext>
            </a:extLst>
          </p:cNvPr>
          <p:cNvSpPr/>
          <p:nvPr/>
        </p:nvSpPr>
        <p:spPr>
          <a:xfrm>
            <a:off x="797052" y="20894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GET</a:t>
            </a:r>
            <a:endParaRPr lang="en-US" sz="2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B3C704C-8B10-2D38-4532-8777936AE5E2}"/>
              </a:ext>
            </a:extLst>
          </p:cNvPr>
          <p:cNvSpPr/>
          <p:nvPr/>
        </p:nvSpPr>
        <p:spPr>
          <a:xfrm>
            <a:off x="833628" y="2665476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97386"/>
                </a:solidFill>
              </a:rPr>
              <a:t>Read data or fetch a representation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A9429A-EA5B-F12F-2EDA-A0B41C3856D4}"/>
              </a:ext>
            </a:extLst>
          </p:cNvPr>
          <p:cNvSpPr/>
          <p:nvPr/>
        </p:nvSpPr>
        <p:spPr>
          <a:xfrm>
            <a:off x="2973324" y="1796796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A50E8A7-5DF0-03DE-5F98-99E5C6500232}"/>
              </a:ext>
            </a:extLst>
          </p:cNvPr>
          <p:cNvSpPr/>
          <p:nvPr/>
        </p:nvSpPr>
        <p:spPr>
          <a:xfrm>
            <a:off x="3064764" y="20894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POST</a:t>
            </a:r>
            <a:endParaRPr lang="en-US" sz="2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FA0B51D-D829-F8C7-1D5A-E5CB38A36A73}"/>
              </a:ext>
            </a:extLst>
          </p:cNvPr>
          <p:cNvSpPr/>
          <p:nvPr/>
        </p:nvSpPr>
        <p:spPr>
          <a:xfrm>
            <a:off x="3101340" y="2665476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97386"/>
                </a:solidFill>
              </a:rPr>
              <a:t>Create a new resource or trigger creation behavior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C98B8057-37D2-8112-3D3F-F24AF2A041CE}"/>
              </a:ext>
            </a:extLst>
          </p:cNvPr>
          <p:cNvSpPr/>
          <p:nvPr/>
        </p:nvSpPr>
        <p:spPr>
          <a:xfrm>
            <a:off x="5241036" y="1796796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FFF3D8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EB2431E-B995-5125-F17F-2595EC0FA556}"/>
              </a:ext>
            </a:extLst>
          </p:cNvPr>
          <p:cNvSpPr/>
          <p:nvPr/>
        </p:nvSpPr>
        <p:spPr>
          <a:xfrm>
            <a:off x="5332476" y="20894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PUT</a:t>
            </a:r>
            <a:endParaRPr lang="en-US" sz="24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2CCCA76-D13C-DF74-10DE-9C48981A5438}"/>
              </a:ext>
            </a:extLst>
          </p:cNvPr>
          <p:cNvSpPr/>
          <p:nvPr/>
        </p:nvSpPr>
        <p:spPr>
          <a:xfrm>
            <a:off x="5369052" y="2665476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97386"/>
                </a:solidFill>
              </a:rPr>
              <a:t>Replace or update a full resource representation</a:t>
            </a:r>
            <a:endParaRPr lang="en-US" sz="14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BD99350-C5AD-9CC1-4CD9-AC9AD98C3E44}"/>
              </a:ext>
            </a:extLst>
          </p:cNvPr>
          <p:cNvSpPr/>
          <p:nvPr/>
        </p:nvSpPr>
        <p:spPr>
          <a:xfrm>
            <a:off x="7508748" y="1796796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FDECF0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3530284-2886-D3A8-E407-1E106766E883}"/>
              </a:ext>
            </a:extLst>
          </p:cNvPr>
          <p:cNvSpPr/>
          <p:nvPr/>
        </p:nvSpPr>
        <p:spPr>
          <a:xfrm>
            <a:off x="7600188" y="20894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PATCH</a:t>
            </a:r>
            <a:endParaRPr lang="en-US" sz="24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9189416-677F-D842-C853-3A4764264B89}"/>
              </a:ext>
            </a:extLst>
          </p:cNvPr>
          <p:cNvSpPr/>
          <p:nvPr/>
        </p:nvSpPr>
        <p:spPr>
          <a:xfrm>
            <a:off x="7636764" y="2665476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97386"/>
                </a:solidFill>
              </a:rPr>
              <a:t>Apply a partial change when the contract is truly partial</a:t>
            </a:r>
            <a:endParaRPr lang="en-US" sz="14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3158DF02-6A3D-99A6-625A-C1F7B16915CF}"/>
              </a:ext>
            </a:extLst>
          </p:cNvPr>
          <p:cNvSpPr/>
          <p:nvPr/>
        </p:nvSpPr>
        <p:spPr>
          <a:xfrm>
            <a:off x="9776460" y="1796796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EAF0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8F72764-8C1E-5601-5CF9-34D6249906DD}"/>
              </a:ext>
            </a:extLst>
          </p:cNvPr>
          <p:cNvSpPr/>
          <p:nvPr/>
        </p:nvSpPr>
        <p:spPr>
          <a:xfrm>
            <a:off x="9867900" y="2089404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172033"/>
                </a:solidFill>
              </a:rPr>
              <a:t>DELETE</a:t>
            </a:r>
            <a:endParaRPr lang="en-US" sz="24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F7D414D-64A1-AA59-95F7-6CCAA23B5600}"/>
              </a:ext>
            </a:extLst>
          </p:cNvPr>
          <p:cNvSpPr/>
          <p:nvPr/>
        </p:nvSpPr>
        <p:spPr>
          <a:xfrm>
            <a:off x="9904476" y="2665476"/>
            <a:ext cx="1709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97386"/>
                </a:solidFill>
              </a:rPr>
              <a:t>Remove a resource or mark it deleted</a:t>
            </a:r>
            <a:endParaRPr lang="en-US" sz="14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A763C021-21C4-744F-F3EA-999AE174DF8C}"/>
              </a:ext>
            </a:extLst>
          </p:cNvPr>
          <p:cNvSpPr/>
          <p:nvPr/>
        </p:nvSpPr>
        <p:spPr>
          <a:xfrm>
            <a:off x="824484" y="4311396"/>
            <a:ext cx="10424160" cy="12938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6C4D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C4FAEB60-8625-73F2-27C6-1155F832826C}"/>
              </a:ext>
            </a:extLst>
          </p:cNvPr>
          <p:cNvSpPr/>
          <p:nvPr/>
        </p:nvSpPr>
        <p:spPr>
          <a:xfrm>
            <a:off x="1034796" y="4473930"/>
            <a:ext cx="1938528" cy="212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697386"/>
                </a:solidFill>
              </a:rPr>
              <a:t>Why this matters</a:t>
            </a:r>
            <a:endParaRPr lang="en-US" sz="14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03E7459-53FD-A6BD-D946-8F49517AC647}"/>
              </a:ext>
            </a:extLst>
          </p:cNvPr>
          <p:cNvSpPr/>
          <p:nvPr/>
        </p:nvSpPr>
        <p:spPr>
          <a:xfrm>
            <a:off x="1007364" y="4822343"/>
            <a:ext cx="9875520" cy="69932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verbs match intent, the frontend and testers can predict API behavior with less explanation.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Semantics are part of the contract. Inconsistent verb usage usually signals deeper design confusion.</a:t>
            </a:r>
            <a:endParaRPr lang="en-US" sz="1400" dirty="0"/>
          </a:p>
        </p:txBody>
      </p:sp>
      <p:sp>
        <p:nvSpPr>
          <p:cNvPr id="23" name="Slide Number Placeholder 0">
            <a:extLst>
              <a:ext uri="{FF2B5EF4-FFF2-40B4-BE49-F238E27FC236}">
                <a16:creationId xmlns:a16="http://schemas.microsoft.com/office/drawing/2014/main" id="{9C55F30F-4B95-C5A9-4A8B-F480FC22D396}"/>
              </a:ext>
            </a:extLst>
          </p:cNvPr>
          <p:cNvSpPr>
            <a:spLocks noGrp="1"/>
          </p:cNvSpPr>
          <p:nvPr/>
        </p:nvSpPr>
        <p:spPr>
          <a:xfrm>
            <a:off x="11596116" y="640537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lc="http://schemas.openxmlformats.org/drawingml/2006/lockedCanvas" val="0"/>
            </a:ext>
          </a:extLst>
        </p:spPr>
        <p:txBody>
          <a:bodyPr/>
          <a:lstStyle>
            <a:lvl1pPr marL="0" algn="l" defTabSz="914400" rtl="0" eaLnBrk="1" latinLnBrk="0" hangingPunct="1">
              <a:defRPr sz="650" kern="12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b="0"/>
              <a:pPr algn="l"/>
              <a:t>6</a:t>
            </a:fld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493C4411-D47E-DC5A-03E2-DB666EC47141}"/>
              </a:ext>
            </a:extLst>
          </p:cNvPr>
          <p:cNvSpPr/>
          <p:nvPr/>
        </p:nvSpPr>
        <p:spPr>
          <a:xfrm>
            <a:off x="9784232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885111DD-EA2E-927B-DF12-ADB0EF48D0F6}"/>
              </a:ext>
            </a:extLst>
          </p:cNvPr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D51008A2-D536-7F12-6B0F-772327569EF6}"/>
              </a:ext>
            </a:extLst>
          </p:cNvPr>
          <p:cNvSpPr/>
          <p:nvPr/>
        </p:nvSpPr>
        <p:spPr>
          <a:xfrm>
            <a:off x="685952" y="201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C28842DE-790E-D66A-23CE-56CABAF9807D}"/>
              </a:ext>
            </a:extLst>
          </p:cNvPr>
          <p:cNvSpPr/>
          <p:nvPr/>
        </p:nvSpPr>
        <p:spPr>
          <a:xfrm>
            <a:off x="740816" y="22860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575140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C8AFC3A-7CD2-56E7-9E08-B17356A94FC2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E2188F1-60A7-C163-05AB-CE4F22D50D9A}"/>
              </a:ext>
            </a:extLst>
          </p:cNvPr>
          <p:cNvSpPr/>
          <p:nvPr/>
        </p:nvSpPr>
        <p:spPr>
          <a:xfrm>
            <a:off x="581897" y="5675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Status codes that matter most</a:t>
            </a:r>
            <a:endParaRPr lang="en-US" sz="23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173EB37-6D5B-9A31-158F-007750D70B9A}"/>
              </a:ext>
            </a:extLst>
          </p:cNvPr>
          <p:cNvSpPr/>
          <p:nvPr/>
        </p:nvSpPr>
        <p:spPr>
          <a:xfrm>
            <a:off x="591041" y="960784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most common response outcomes intentionally and consistently.</a:t>
            </a:r>
            <a:endParaRPr lang="en-US" sz="12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2DC1619-AD6B-BA63-6A14-8FA096304E4C}"/>
              </a:ext>
            </a:extLst>
          </p:cNvPr>
          <p:cNvSpPr/>
          <p:nvPr/>
        </p:nvSpPr>
        <p:spPr>
          <a:xfrm>
            <a:off x="687324" y="1385316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E8F1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35ADB41-87A6-4C52-9E22-12F411A559A3}"/>
              </a:ext>
            </a:extLst>
          </p:cNvPr>
          <p:cNvSpPr/>
          <p:nvPr/>
        </p:nvSpPr>
        <p:spPr>
          <a:xfrm>
            <a:off x="851916" y="152247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200 OK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2A67BA8-3C6A-5AFB-9446-92128516D79F}"/>
              </a:ext>
            </a:extLst>
          </p:cNvPr>
          <p:cNvSpPr/>
          <p:nvPr/>
        </p:nvSpPr>
        <p:spPr>
          <a:xfrm>
            <a:off x="2308302" y="1522476"/>
            <a:ext cx="31796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697386"/>
                </a:solidFill>
              </a:rPr>
              <a:t>Successful read or successful action with a body</a:t>
            </a:r>
            <a:endParaRPr lang="en-US" sz="14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E2D44B7-D064-829E-333D-E574FA388435}"/>
              </a:ext>
            </a:extLst>
          </p:cNvPr>
          <p:cNvSpPr/>
          <p:nvPr/>
        </p:nvSpPr>
        <p:spPr>
          <a:xfrm>
            <a:off x="6265164" y="1385316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DFF7F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5ED4536-9B67-5896-BEB8-B668F36A8544}"/>
              </a:ext>
            </a:extLst>
          </p:cNvPr>
          <p:cNvSpPr/>
          <p:nvPr/>
        </p:nvSpPr>
        <p:spPr>
          <a:xfrm>
            <a:off x="6429756" y="152247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201 Created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034B04E-46C6-E044-E124-ED967548E320}"/>
              </a:ext>
            </a:extLst>
          </p:cNvPr>
          <p:cNvSpPr/>
          <p:nvPr/>
        </p:nvSpPr>
        <p:spPr>
          <a:xfrm>
            <a:off x="8093964" y="152247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697386"/>
                </a:solidFill>
              </a:rPr>
              <a:t>New resource created; often return the created representation</a:t>
            </a:r>
            <a:endParaRPr lang="en-US" sz="14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ABAAD07-6CD5-0DFC-6B3F-917D62050399}"/>
              </a:ext>
            </a:extLst>
          </p:cNvPr>
          <p:cNvSpPr/>
          <p:nvPr/>
        </p:nvSpPr>
        <p:spPr>
          <a:xfrm>
            <a:off x="687324" y="2711196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F3D8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B125E7D-BCCC-829C-E8D0-F1AEA5A42A27}"/>
              </a:ext>
            </a:extLst>
          </p:cNvPr>
          <p:cNvSpPr/>
          <p:nvPr/>
        </p:nvSpPr>
        <p:spPr>
          <a:xfrm>
            <a:off x="851916" y="28483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204 No Content</a:t>
            </a:r>
            <a:endParaRPr lang="en-US" sz="14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0C76A27-C061-5477-82A2-DF1E6EB6F447}"/>
              </a:ext>
            </a:extLst>
          </p:cNvPr>
          <p:cNvSpPr/>
          <p:nvPr/>
        </p:nvSpPr>
        <p:spPr>
          <a:xfrm>
            <a:off x="2308302" y="2848356"/>
            <a:ext cx="31796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697386"/>
                </a:solidFill>
              </a:rPr>
              <a:t>Successful update/delete with no response body needed</a:t>
            </a:r>
            <a:endParaRPr lang="en-US" sz="14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2F3E08F-68C0-9550-036E-09D3E3AD004F}"/>
              </a:ext>
            </a:extLst>
          </p:cNvPr>
          <p:cNvSpPr/>
          <p:nvPr/>
        </p:nvSpPr>
        <p:spPr>
          <a:xfrm>
            <a:off x="6265164" y="2711196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DECF0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C69F84B-5CDA-94AB-FCC4-6FB29A2503B6}"/>
              </a:ext>
            </a:extLst>
          </p:cNvPr>
          <p:cNvSpPr/>
          <p:nvPr/>
        </p:nvSpPr>
        <p:spPr>
          <a:xfrm>
            <a:off x="6429756" y="28483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400 Bad Request</a:t>
            </a:r>
            <a:endParaRPr lang="en-US" sz="14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7A6F426-E75C-E99E-20F2-99545ADCE595}"/>
              </a:ext>
            </a:extLst>
          </p:cNvPr>
          <p:cNvSpPr/>
          <p:nvPr/>
        </p:nvSpPr>
        <p:spPr>
          <a:xfrm>
            <a:off x="8093964" y="284835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697386"/>
                </a:solidFill>
              </a:rPr>
              <a:t>Client sent invalid data or malformed input</a:t>
            </a:r>
            <a:endParaRPr lang="en-US" sz="14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FB0E1FF-82B0-E3A8-A3B4-8C1260D6A995}"/>
              </a:ext>
            </a:extLst>
          </p:cNvPr>
          <p:cNvSpPr/>
          <p:nvPr/>
        </p:nvSpPr>
        <p:spPr>
          <a:xfrm>
            <a:off x="687324" y="4037076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EAF0FF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A4F25C4-1E42-C5E8-51BC-197BC024FFF0}"/>
              </a:ext>
            </a:extLst>
          </p:cNvPr>
          <p:cNvSpPr/>
          <p:nvPr/>
        </p:nvSpPr>
        <p:spPr>
          <a:xfrm>
            <a:off x="851916" y="41742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404 Not Found</a:t>
            </a:r>
            <a:endParaRPr lang="en-US" sz="14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F4D8BC5-239F-A073-D340-96796B6C1EA0}"/>
              </a:ext>
            </a:extLst>
          </p:cNvPr>
          <p:cNvSpPr/>
          <p:nvPr/>
        </p:nvSpPr>
        <p:spPr>
          <a:xfrm>
            <a:off x="2308302" y="4174236"/>
            <a:ext cx="31796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697386"/>
                </a:solidFill>
              </a:rPr>
              <a:t>Requested resource does not exist</a:t>
            </a:r>
            <a:endParaRPr lang="en-US" sz="140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A746C754-C15D-23B9-7019-CADE1160FFA4}"/>
              </a:ext>
            </a:extLst>
          </p:cNvPr>
          <p:cNvSpPr/>
          <p:nvPr/>
        </p:nvSpPr>
        <p:spPr>
          <a:xfrm>
            <a:off x="6265164" y="4037076"/>
            <a:ext cx="5120640" cy="960120"/>
          </a:xfrm>
          <a:prstGeom prst="roundRect">
            <a:avLst>
              <a:gd name="adj" fmla="val 5714"/>
            </a:avLst>
          </a:prstGeom>
          <a:solidFill>
            <a:srgbClr val="FFE1E1"/>
          </a:solidFill>
          <a:ln w="12700">
            <a:solidFill>
              <a:srgbClr val="AFC1E5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5FCB77B-06BF-B849-2BB1-703F77933A1D}"/>
              </a:ext>
            </a:extLst>
          </p:cNvPr>
          <p:cNvSpPr/>
          <p:nvPr/>
        </p:nvSpPr>
        <p:spPr>
          <a:xfrm>
            <a:off x="6429756" y="417423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72033"/>
                </a:solidFill>
              </a:rPr>
              <a:t>500 Internal Server Error</a:t>
            </a:r>
            <a:endParaRPr lang="en-US" sz="14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7CECAB8-D634-BC39-B67B-6B95F73BDB38}"/>
              </a:ext>
            </a:extLst>
          </p:cNvPr>
          <p:cNvSpPr/>
          <p:nvPr/>
        </p:nvSpPr>
        <p:spPr>
          <a:xfrm>
            <a:off x="8093964" y="41742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697386"/>
                </a:solidFill>
              </a:rPr>
              <a:t>Unexpected unhandled server failure</a:t>
            </a:r>
            <a:endParaRPr lang="en-US" sz="14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B2EA4E5C-3AD6-1EC0-C66B-BC535EDDA0EF}"/>
              </a:ext>
            </a:extLst>
          </p:cNvPr>
          <p:cNvSpPr/>
          <p:nvPr/>
        </p:nvSpPr>
        <p:spPr>
          <a:xfrm>
            <a:off x="824484" y="5545836"/>
            <a:ext cx="10469880" cy="384048"/>
          </a:xfrm>
          <a:prstGeom prst="roundRect">
            <a:avLst>
              <a:gd name="adj" fmla="val 7143"/>
            </a:avLst>
          </a:prstGeom>
          <a:solidFill>
            <a:srgbClr val="081736"/>
          </a:solidFill>
          <a:ln w="12700">
            <a:solidFill>
              <a:srgbClr val="0817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FBE6A62-A756-75F3-3ECF-307F4784D77C}"/>
              </a:ext>
            </a:extLst>
          </p:cNvPr>
          <p:cNvSpPr/>
          <p:nvPr/>
        </p:nvSpPr>
        <p:spPr>
          <a:xfrm>
            <a:off x="1007364" y="5637276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You do not need every status code memorized. You do need predictable meaning across the API surface.</a:t>
            </a:r>
            <a:endParaRPr lang="en-US" sz="108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848BAD4-2323-0BB4-B51C-3793903CA122}"/>
              </a:ext>
            </a:extLst>
          </p:cNvPr>
          <p:cNvSpPr>
            <a:spLocks noGrp="1"/>
          </p:cNvSpPr>
          <p:nvPr/>
        </p:nvSpPr>
        <p:spPr>
          <a:xfrm>
            <a:off x="11596116" y="6405372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xmlns:lc="http://schemas.openxmlformats.org/drawingml/2006/lockedCanvas" val="0"/>
            </a:ext>
          </a:extLst>
        </p:spPr>
        <p:txBody>
          <a:bodyPr/>
          <a:lstStyle>
            <a:lvl1pPr marL="0" algn="l" defTabSz="914400" rtl="0" eaLnBrk="1" latinLnBrk="0" hangingPunct="1">
              <a:defRPr sz="650" kern="1200">
                <a:solidFill>
                  <a:srgbClr val="8A94A6"/>
                </a:solidFill>
                <a:latin typeface="Aptos"/>
                <a:ea typeface="Aptos"/>
                <a:cs typeface="Apto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7021451-1387-4CA6-816F-3879F97B5CBC}" type="slidenum">
              <a:rPr lang="en-US" b="0"/>
              <a:pPr algn="l"/>
              <a:t>7</a:t>
            </a:fld>
            <a:endParaRPr lang="en-US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B8FD1279-A41A-16DB-E43E-BC3E7A34AF6C}"/>
              </a:ext>
            </a:extLst>
          </p:cNvPr>
          <p:cNvSpPr/>
          <p:nvPr/>
        </p:nvSpPr>
        <p:spPr>
          <a:xfrm>
            <a:off x="9784232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0EEEE7CB-6886-0230-60EC-1049829D99BA}"/>
              </a:ext>
            </a:extLst>
          </p:cNvPr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DED6BBD7-78E4-65CD-C2BD-1941410A67AA}"/>
              </a:ext>
            </a:extLst>
          </p:cNvPr>
          <p:cNvSpPr/>
          <p:nvPr/>
        </p:nvSpPr>
        <p:spPr>
          <a:xfrm>
            <a:off x="676621" y="201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D0378A29-A659-A559-865E-FD9441A863A1}"/>
              </a:ext>
            </a:extLst>
          </p:cNvPr>
          <p:cNvSpPr/>
          <p:nvPr/>
        </p:nvSpPr>
        <p:spPr>
          <a:xfrm>
            <a:off x="731485" y="22860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3200339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Minimal APIs vs controllers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trade-off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829800" y="310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463040"/>
            <a:ext cx="5047488" cy="4069080"/>
          </a:xfrm>
          <a:prstGeom prst="roundRect">
            <a:avLst>
              <a:gd name="adj" fmla="val 17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2784" y="1463040"/>
            <a:ext cx="5047488" cy="4069080"/>
          </a:xfrm>
          <a:prstGeom prst="roundRect">
            <a:avLst>
              <a:gd name="adj" fmla="val 179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7647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APIs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47104" y="17647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2084832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surface area and less ceremony</a:t>
            </a:r>
            <a:endParaRPr lang="en-US" sz="156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Great for fast, focused HTTP endpoints</a:t>
            </a:r>
            <a:endParaRPr lang="en-US" sz="156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demonstrate</a:t>
            </a:r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60" dirty="0">
                <a:solidFill>
                  <a:srgbClr val="334155"/>
                </a:solidFill>
                <a:latin typeface="Aptos" pitchFamily="34" charset="0"/>
              </a:rPr>
              <a:t>Best for health checks and liveness probes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6510528" y="2084832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when teams want explicit structure and many actions</a:t>
            </a:r>
            <a:endParaRPr lang="en-US" sz="156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Familiar to teams using attributes and controller conventions</a:t>
            </a:r>
            <a:endParaRPr lang="en-US" sz="156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become easier to standardize in larger API surfaces</a:t>
            </a:r>
            <a:endParaRPr lang="en-US" sz="1560" dirty="0"/>
          </a:p>
        </p:txBody>
      </p:sp>
      <p:sp>
        <p:nvSpPr>
          <p:cNvPr id="14" name="Text 12"/>
          <p:cNvSpPr/>
          <p:nvPr/>
        </p:nvSpPr>
        <p:spPr>
          <a:xfrm>
            <a:off x="3017520" y="5715000"/>
            <a:ext cx="6812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approach that makes the requirements objective clearer, not the one that wins style debates.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API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493776"/>
            <a:ext cx="8775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tiny Minimal API example with one clear service boundary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basic code example for understanding purpose.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829800" y="310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444752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17556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notice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3856" y="2066543"/>
            <a:ext cx="3017520" cy="2738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service is registered once at startup.</a:t>
            </a:r>
            <a:endParaRPr lang="en-US" sz="15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endpoint accepts a DTO and a service, not database plumbing.</a:t>
            </a:r>
            <a:endParaRPr lang="en-US" sz="15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happens before the create action.</a:t>
            </a:r>
            <a:endParaRPr lang="en-US" sz="15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response communicates both result and location.</a:t>
            </a:r>
            <a:endParaRPr lang="en-US" sz="1530" dirty="0"/>
          </a:p>
        </p:txBody>
      </p:sp>
      <p:sp>
        <p:nvSpPr>
          <p:cNvPr id="11" name="Shape 9"/>
          <p:cNvSpPr/>
          <p:nvPr/>
        </p:nvSpPr>
        <p:spPr>
          <a:xfrm>
            <a:off x="1133856" y="4919472"/>
            <a:ext cx="3017520" cy="713232"/>
          </a:xfrm>
          <a:prstGeom prst="roundRect">
            <a:avLst>
              <a:gd name="adj" fmla="val 6410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16736" y="51114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route to orchestrate. Use the service to own business work.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83480" y="1444752"/>
            <a:ext cx="6291072" cy="4572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4" name="Image 0" descr="/mnt/data/day2_deck/minimal_api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2220687"/>
            <a:ext cx="5779008" cy="25843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59D9CF-5EB0-BDB2-D96C-249AE1811757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54E7B4B-0DD3-A13C-67C4-3AB52DD166E7}"/>
              </a:ext>
            </a:extLst>
          </p:cNvPr>
          <p:cNvSpPr/>
          <p:nvPr/>
        </p:nvSpPr>
        <p:spPr>
          <a:xfrm>
            <a:off x="685952" y="201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7BF7AA-49D3-6826-0703-A3AC86D3DC19}"/>
              </a:ext>
            </a:extLst>
          </p:cNvPr>
          <p:cNvSpPr/>
          <p:nvPr/>
        </p:nvSpPr>
        <p:spPr>
          <a:xfrm>
            <a:off x="740816" y="22860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015C8B2-5314-8051-0680-D0838CFA665C}"/>
              </a:ext>
            </a:extLst>
          </p:cNvPr>
          <p:cNvSpPr/>
          <p:nvPr/>
        </p:nvSpPr>
        <p:spPr>
          <a:xfrm>
            <a:off x="676808" y="4937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Controllers and actions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B63AD7-13F4-D25E-251C-E962636D85D5}"/>
              </a:ext>
            </a:extLst>
          </p:cNvPr>
          <p:cNvSpPr/>
          <p:nvPr/>
        </p:nvSpPr>
        <p:spPr>
          <a:xfrm>
            <a:off x="685952" y="932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Controller-based APIs organize endpoints into classes, with actions handling individual requests.</a:t>
            </a:r>
            <a:endParaRPr lang="en-US" sz="133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C72400-088E-28D1-450C-D557906DE832}"/>
              </a:ext>
            </a:extLst>
          </p:cNvPr>
          <p:cNvSpPr/>
          <p:nvPr/>
        </p:nvSpPr>
        <p:spPr>
          <a:xfrm>
            <a:off x="9784232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F9B9D19-8F9A-08BD-15DB-99DF14F8A7DA}"/>
              </a:ext>
            </a:extLst>
          </p:cNvPr>
          <p:cNvSpPr/>
          <p:nvPr/>
        </p:nvSpPr>
        <p:spPr>
          <a:xfrm>
            <a:off x="868832" y="1426464"/>
            <a:ext cx="47548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051D790-B1B3-89A1-BB04-FA0326060139}"/>
              </a:ext>
            </a:extLst>
          </p:cNvPr>
          <p:cNvSpPr/>
          <p:nvPr/>
        </p:nvSpPr>
        <p:spPr>
          <a:xfrm>
            <a:off x="1143152" y="173736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belongs here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91E3C2A-C06E-8860-7314-A950E2C2F672}"/>
              </a:ext>
            </a:extLst>
          </p:cNvPr>
          <p:cNvSpPr/>
          <p:nvPr/>
        </p:nvSpPr>
        <p:spPr>
          <a:xfrm>
            <a:off x="1143152" y="2029968"/>
            <a:ext cx="39776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controller is a class that derives from </a:t>
            </a:r>
            <a:r>
              <a:rPr lang="en-US" sz="16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ControllerBase</a:t>
            </a: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6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are methods that respond to HTTP requests.</a:t>
            </a:r>
            <a:endParaRPr lang="en-US" sz="16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Attributes such as [HttpGet] or [HttpPost] connect actions to routes and verbs.</a:t>
            </a:r>
            <a:endParaRPr lang="en-US" sz="16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controller focused on HTTP coordination, not heavy business logic.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D90971B-EC3E-847C-583A-FFB633ED3863}"/>
              </a:ext>
            </a:extLst>
          </p:cNvPr>
          <p:cNvSpPr/>
          <p:nvPr/>
        </p:nvSpPr>
        <p:spPr>
          <a:xfrm>
            <a:off x="5898032" y="1426464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E8F9B1E-386B-D1F1-B20B-9EC25849B371}"/>
              </a:ext>
            </a:extLst>
          </p:cNvPr>
          <p:cNvSpPr/>
          <p:nvPr/>
        </p:nvSpPr>
        <p:spPr>
          <a:xfrm>
            <a:off x="6199784" y="162576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controller shape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453DC41-4974-3840-2883-A98CE6147BDD}"/>
              </a:ext>
            </a:extLst>
          </p:cNvPr>
          <p:cNvSpPr/>
          <p:nvPr/>
        </p:nvSpPr>
        <p:spPr>
          <a:xfrm>
            <a:off x="6355232" y="2084832"/>
            <a:ext cx="4480560" cy="512064"/>
          </a:xfrm>
          <a:prstGeom prst="roundRect">
            <a:avLst>
              <a:gd name="adj" fmla="val 8929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6BF6D3F-98D6-F402-DED3-A4E8F1C0D6E9}"/>
              </a:ext>
            </a:extLst>
          </p:cNvPr>
          <p:cNvSpPr/>
          <p:nvPr/>
        </p:nvSpPr>
        <p:spPr>
          <a:xfrm>
            <a:off x="6538112" y="225856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[ApiController] + [Route("api/[controller]")]</a:t>
            </a:r>
            <a:endParaRPr lang="en-US" sz="13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A6ABD04-C1C0-A95D-BFF1-50F161EB9374}"/>
              </a:ext>
            </a:extLst>
          </p:cNvPr>
          <p:cNvSpPr/>
          <p:nvPr/>
        </p:nvSpPr>
        <p:spPr>
          <a:xfrm>
            <a:off x="6355232" y="2816352"/>
            <a:ext cx="4480560" cy="512064"/>
          </a:xfrm>
          <a:prstGeom prst="roundRect">
            <a:avLst>
              <a:gd name="adj" fmla="val 8929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DDB6EC5-8D71-0801-73F7-DF04B443D89E}"/>
              </a:ext>
            </a:extLst>
          </p:cNvPr>
          <p:cNvSpPr/>
          <p:nvPr/>
        </p:nvSpPr>
        <p:spPr>
          <a:xfrm>
            <a:off x="6538112" y="299008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constructor injection for needed services</a:t>
            </a:r>
            <a:endParaRPr lang="en-US" sz="13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E4FF0E8-67F8-930C-37AC-17F2117E9636}"/>
              </a:ext>
            </a:extLst>
          </p:cNvPr>
          <p:cNvSpPr/>
          <p:nvPr/>
        </p:nvSpPr>
        <p:spPr>
          <a:xfrm>
            <a:off x="6355232" y="3547872"/>
            <a:ext cx="4480560" cy="512064"/>
          </a:xfrm>
          <a:prstGeom prst="roundRect">
            <a:avLst>
              <a:gd name="adj" fmla="val 8929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C96FD95-3C7E-67F6-0D9B-BF993B9C9B51}"/>
              </a:ext>
            </a:extLst>
          </p:cNvPr>
          <p:cNvSpPr/>
          <p:nvPr/>
        </p:nvSpPr>
        <p:spPr>
          <a:xfrm>
            <a:off x="6538112" y="372160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such as GetById, Create, Update, Delete</a:t>
            </a:r>
            <a:endParaRPr lang="en-US" sz="13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94843C3-9B49-F15E-0216-25D0CF3918D2}"/>
              </a:ext>
            </a:extLst>
          </p:cNvPr>
          <p:cNvSpPr/>
          <p:nvPr/>
        </p:nvSpPr>
        <p:spPr>
          <a:xfrm>
            <a:off x="6355232" y="4279392"/>
            <a:ext cx="4480560" cy="512064"/>
          </a:xfrm>
          <a:prstGeom prst="roundRect">
            <a:avLst>
              <a:gd name="adj" fmla="val 8929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15D1FEE-AF8E-B4E0-35D3-2D95512708EB}"/>
              </a:ext>
            </a:extLst>
          </p:cNvPr>
          <p:cNvSpPr/>
          <p:nvPr/>
        </p:nvSpPr>
        <p:spPr>
          <a:xfrm>
            <a:off x="6538112" y="445312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ActionResult or Typed response returned to caller</a:t>
            </a:r>
            <a:endParaRPr lang="en-US" sz="13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E49E438-F3B1-EDFA-9987-465CB1A1791C}"/>
              </a:ext>
            </a:extLst>
          </p:cNvPr>
          <p:cNvSpPr/>
          <p:nvPr/>
        </p:nvSpPr>
        <p:spPr>
          <a:xfrm>
            <a:off x="685952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831835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8DC477-989C-48AC-D982-EFD436A576C4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9FCD176-C0D4-8380-FFF2-C258FBCB1641}"/>
              </a:ext>
            </a:extLst>
          </p:cNvPr>
          <p:cNvSpPr/>
          <p:nvPr/>
        </p:nvSpPr>
        <p:spPr>
          <a:xfrm>
            <a:off x="685952" y="201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CB472C-5509-8E65-3254-701F922EB077}"/>
              </a:ext>
            </a:extLst>
          </p:cNvPr>
          <p:cNvSpPr/>
          <p:nvPr/>
        </p:nvSpPr>
        <p:spPr>
          <a:xfrm>
            <a:off x="740816" y="22860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EC2701-FA7C-195C-8055-94F281DA182E}"/>
              </a:ext>
            </a:extLst>
          </p:cNvPr>
          <p:cNvSpPr/>
          <p:nvPr/>
        </p:nvSpPr>
        <p:spPr>
          <a:xfrm>
            <a:off x="676808" y="4937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 code example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CA9F26-5D16-C8C0-2D54-E359086386D0}"/>
              </a:ext>
            </a:extLst>
          </p:cNvPr>
          <p:cNvSpPr/>
          <p:nvPr/>
        </p:nvSpPr>
        <p:spPr>
          <a:xfrm>
            <a:off x="685952" y="932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basic code example for understanding purpose.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D5293E9-56BD-D08F-40C8-F3B09C3C94FE}"/>
              </a:ext>
            </a:extLst>
          </p:cNvPr>
          <p:cNvSpPr/>
          <p:nvPr/>
        </p:nvSpPr>
        <p:spPr>
          <a:xfrm>
            <a:off x="9784232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451C87A-3B6D-086E-32AD-D507E0B62556}"/>
              </a:ext>
            </a:extLst>
          </p:cNvPr>
          <p:cNvSpPr/>
          <p:nvPr/>
        </p:nvSpPr>
        <p:spPr>
          <a:xfrm>
            <a:off x="868832" y="1444752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EB51B15-AE5D-8353-C7BE-164ECFCB70F4}"/>
              </a:ext>
            </a:extLst>
          </p:cNvPr>
          <p:cNvSpPr/>
          <p:nvPr/>
        </p:nvSpPr>
        <p:spPr>
          <a:xfrm>
            <a:off x="1134008" y="17556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look for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2639CA2-E138-D268-D9BF-70C8DD2ADFF4}"/>
              </a:ext>
            </a:extLst>
          </p:cNvPr>
          <p:cNvSpPr/>
          <p:nvPr/>
        </p:nvSpPr>
        <p:spPr>
          <a:xfrm>
            <a:off x="1134008" y="2029968"/>
            <a:ext cx="297180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Attributes declare routing and controller intent.</a:t>
            </a:r>
            <a:endParaRPr lang="en-US" sz="146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controller receives its dependency by constructor injection.</a:t>
            </a:r>
            <a:endParaRPr lang="en-US" sz="146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action method stays readable because the service owns the business work.</a:t>
            </a:r>
            <a:endParaRPr lang="en-US" sz="146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response uses status codes instead of ad hoc strings.</a:t>
            </a:r>
            <a:endParaRPr lang="en-US" sz="146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53C8150-9C79-3BE2-9B05-3C8401C3E051}"/>
              </a:ext>
            </a:extLst>
          </p:cNvPr>
          <p:cNvSpPr/>
          <p:nvPr/>
        </p:nvSpPr>
        <p:spPr>
          <a:xfrm>
            <a:off x="1134008" y="5065776"/>
            <a:ext cx="2971800" cy="713232"/>
          </a:xfrm>
          <a:prstGeom prst="roundRect">
            <a:avLst>
              <a:gd name="adj" fmla="val 6410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57E4759-9261-64DE-C4AD-5C2B1464FAF5}"/>
              </a:ext>
            </a:extLst>
          </p:cNvPr>
          <p:cNvSpPr/>
          <p:nvPr/>
        </p:nvSpPr>
        <p:spPr>
          <a:xfrm>
            <a:off x="1335176" y="524865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20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controller is strongest when it reads like HTTP orchestration, not a dumping ground for logic.</a:t>
            </a:r>
            <a:endParaRPr lang="en-US" sz="122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80B0BF-0B8D-066A-2979-7CFC181E573A}"/>
              </a:ext>
            </a:extLst>
          </p:cNvPr>
          <p:cNvSpPr/>
          <p:nvPr/>
        </p:nvSpPr>
        <p:spPr>
          <a:xfrm>
            <a:off x="4983632" y="1444752"/>
            <a:ext cx="6291072" cy="4572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F9316570-796F-A144-76BA-54E13F453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20" y="1998316"/>
            <a:ext cx="5779008" cy="3556313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E2365ADB-8C52-E442-C04C-BEC9FAA1BFEE}"/>
              </a:ext>
            </a:extLst>
          </p:cNvPr>
          <p:cNvSpPr/>
          <p:nvPr/>
        </p:nvSpPr>
        <p:spPr>
          <a:xfrm>
            <a:off x="685952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389605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INJECTION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49377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dependency injection matters here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85800" y="93268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 is less about syntax and more about keeping responsibilities replaceable and testable.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829800" y="310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426464"/>
            <a:ext cx="4480560" cy="45720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066544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route handler or controller usually needs other services to do useful work.</a:t>
            </a:r>
            <a:endParaRPr lang="en-US" sz="156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Register those dependencies once and let ASP.NET Core provide them.</a:t>
            </a:r>
            <a:endParaRPr lang="en-US" sz="156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keeps code cleaner and makes substitution easier during testing or refactoring.</a:t>
            </a:r>
            <a:endParaRPr lang="en-US" sz="1560" dirty="0"/>
          </a:p>
        </p:txBody>
      </p:sp>
      <p:sp>
        <p:nvSpPr>
          <p:cNvPr id="11" name="Shape 9"/>
          <p:cNvSpPr/>
          <p:nvPr/>
        </p:nvSpPr>
        <p:spPr>
          <a:xfrm>
            <a:off x="1133856" y="5074920"/>
            <a:ext cx="3154680" cy="73152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5266944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rule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new-up core dependencies inside the endpoint when the platform can supply them.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0" y="1426464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39712" y="2670048"/>
            <a:ext cx="960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68512" y="2670048"/>
            <a:ext cx="9601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6680" y="3063240"/>
            <a:ext cx="0" cy="5943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5480" y="3063240"/>
            <a:ext cx="0" cy="5943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3328" y="2267712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532888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82128" y="2267712"/>
            <a:ext cx="1508760" cy="749808"/>
          </a:xfrm>
          <a:prstGeom prst="roundRect">
            <a:avLst>
              <a:gd name="adj" fmla="val 7317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253288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ITaskService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710928" y="2267712"/>
            <a:ext cx="960120" cy="749808"/>
          </a:xfrm>
          <a:prstGeom prst="roundRect">
            <a:avLst>
              <a:gd name="adj" fmla="val 7317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2532888"/>
            <a:ext cx="813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13448" y="3703320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3968496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 container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842248" y="3703320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3968496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C9CFB5-6E7F-6AB1-C8CC-CD153A337822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5D8899-B0C4-66C1-2FA7-8B2942A78C99}"/>
              </a:ext>
            </a:extLst>
          </p:cNvPr>
          <p:cNvSpPr/>
          <p:nvPr/>
        </p:nvSpPr>
        <p:spPr>
          <a:xfrm>
            <a:off x="685952" y="201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694B27-877B-CB90-B6D6-DF8AC31CED7D}"/>
              </a:ext>
            </a:extLst>
          </p:cNvPr>
          <p:cNvSpPr/>
          <p:nvPr/>
        </p:nvSpPr>
        <p:spPr>
          <a:xfrm>
            <a:off x="740816" y="22860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INJECTION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7666D3-2597-6C81-800B-FFC53A40FE37}"/>
              </a:ext>
            </a:extLst>
          </p:cNvPr>
          <p:cNvSpPr/>
          <p:nvPr/>
        </p:nvSpPr>
        <p:spPr>
          <a:xfrm>
            <a:off x="676808" y="4937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Dependency injection and scopes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7601171-56ED-C610-E93E-8507E399E783}"/>
              </a:ext>
            </a:extLst>
          </p:cNvPr>
          <p:cNvSpPr/>
          <p:nvPr/>
        </p:nvSpPr>
        <p:spPr>
          <a:xfrm>
            <a:off x="685952" y="932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lifetime story simple: singleton, scoped, transient.</a:t>
            </a:r>
            <a:endParaRPr lang="en-US" sz="133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7FEAC33-3E56-CFEB-21C9-35C600778A76}"/>
              </a:ext>
            </a:extLst>
          </p:cNvPr>
          <p:cNvSpPr/>
          <p:nvPr/>
        </p:nvSpPr>
        <p:spPr>
          <a:xfrm>
            <a:off x="9784232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9A989EA-A798-0359-5C55-FA1DEC452D35}"/>
              </a:ext>
            </a:extLst>
          </p:cNvPr>
          <p:cNvSpPr/>
          <p:nvPr/>
        </p:nvSpPr>
        <p:spPr>
          <a:xfrm>
            <a:off x="868832" y="1426464"/>
            <a:ext cx="10405872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C1FE4E1-75F9-124C-13C1-B9ABA3BF0A7B}"/>
              </a:ext>
            </a:extLst>
          </p:cNvPr>
          <p:cNvSpPr/>
          <p:nvPr/>
        </p:nvSpPr>
        <p:spPr>
          <a:xfrm>
            <a:off x="3310280" y="278892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47C7B69-AC4E-928D-180D-59FE6AE428CF}"/>
              </a:ext>
            </a:extLst>
          </p:cNvPr>
          <p:cNvSpPr/>
          <p:nvPr/>
        </p:nvSpPr>
        <p:spPr>
          <a:xfrm>
            <a:off x="6400952" y="2788920"/>
            <a:ext cx="914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A5F95B2-0AC1-86BB-37C8-ABA280E18053}"/>
              </a:ext>
            </a:extLst>
          </p:cNvPr>
          <p:cNvSpPr/>
          <p:nvPr/>
        </p:nvSpPr>
        <p:spPr>
          <a:xfrm>
            <a:off x="1143152" y="205740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E4C1F99-9C68-25FC-0301-E3DE2A28B867}"/>
              </a:ext>
            </a:extLst>
          </p:cNvPr>
          <p:cNvSpPr/>
          <p:nvPr/>
        </p:nvSpPr>
        <p:spPr>
          <a:xfrm>
            <a:off x="1280312" y="23134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Singleton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1B514F2-416F-648D-1E55-BE036B24B0A8}"/>
              </a:ext>
            </a:extLst>
          </p:cNvPr>
          <p:cNvSpPr/>
          <p:nvPr/>
        </p:nvSpPr>
        <p:spPr>
          <a:xfrm>
            <a:off x="1307744" y="2697480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instance for the app lifetime. Good for stateless shared services.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891B26B-7B1F-35F1-FBC9-B9AA86BC704B}"/>
              </a:ext>
            </a:extLst>
          </p:cNvPr>
          <p:cNvSpPr/>
          <p:nvPr/>
        </p:nvSpPr>
        <p:spPr>
          <a:xfrm>
            <a:off x="4224680" y="205740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3CCDEF-0B6B-451D-0A08-19DC4F4099D0}"/>
              </a:ext>
            </a:extLst>
          </p:cNvPr>
          <p:cNvSpPr/>
          <p:nvPr/>
        </p:nvSpPr>
        <p:spPr>
          <a:xfrm>
            <a:off x="4361840" y="23134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Scoped</a:t>
            </a:r>
            <a:endParaRPr lang="en-US" sz="16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0AD0F29-A661-881E-97FB-80A0D3E67B89}"/>
              </a:ext>
            </a:extLst>
          </p:cNvPr>
          <p:cNvSpPr/>
          <p:nvPr/>
        </p:nvSpPr>
        <p:spPr>
          <a:xfrm>
            <a:off x="4389272" y="2697480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instance per request scope. Common for DbContext and request work.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B602616-5ECC-C5F2-A571-013FA22FD03D}"/>
              </a:ext>
            </a:extLst>
          </p:cNvPr>
          <p:cNvSpPr/>
          <p:nvPr/>
        </p:nvSpPr>
        <p:spPr>
          <a:xfrm>
            <a:off x="7315352" y="205740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F6ADC46-F29B-F064-8B4D-034316C3D1AC}"/>
              </a:ext>
            </a:extLst>
          </p:cNvPr>
          <p:cNvSpPr/>
          <p:nvPr/>
        </p:nvSpPr>
        <p:spPr>
          <a:xfrm>
            <a:off x="7452512" y="23134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Transient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9544D4D-1758-DB1E-9199-BC7383E0FCA8}"/>
              </a:ext>
            </a:extLst>
          </p:cNvPr>
          <p:cNvSpPr/>
          <p:nvPr/>
        </p:nvSpPr>
        <p:spPr>
          <a:xfrm>
            <a:off x="7479944" y="2697480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new instance each time requested. Good for lightweight helpers.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33BCFA4-C862-BF8A-EBF5-B4E0DFB72F4C}"/>
              </a:ext>
            </a:extLst>
          </p:cNvPr>
          <p:cNvSpPr/>
          <p:nvPr/>
        </p:nvSpPr>
        <p:spPr>
          <a:xfrm>
            <a:off x="2926232" y="4160520"/>
            <a:ext cx="6309360" cy="786384"/>
          </a:xfrm>
          <a:prstGeom prst="roundRect">
            <a:avLst>
              <a:gd name="adj" fmla="val 5814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B4A528E-BAE9-B287-468D-2C0DD68BC127}"/>
              </a:ext>
            </a:extLst>
          </p:cNvPr>
          <p:cNvSpPr/>
          <p:nvPr/>
        </p:nvSpPr>
        <p:spPr>
          <a:xfrm>
            <a:off x="3200552" y="4425696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caution: scoped services should not be forced into singleton behavior. For middleware, scoped services are injected into Invoke/InvokeAsync or factory-based middleware.</a:t>
            </a:r>
            <a:endParaRPr lang="en-US" sz="126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F77AE58-2916-E26B-2396-42F84A9FAC49}"/>
              </a:ext>
            </a:extLst>
          </p:cNvPr>
          <p:cNvSpPr/>
          <p:nvPr/>
        </p:nvSpPr>
        <p:spPr>
          <a:xfrm>
            <a:off x="685952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789548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3BD48B-8069-9533-DD9B-0D4149D5929B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EBF176-1591-3E06-3864-A960E8AFF9B9}"/>
              </a:ext>
            </a:extLst>
          </p:cNvPr>
          <p:cNvSpPr/>
          <p:nvPr/>
        </p:nvSpPr>
        <p:spPr>
          <a:xfrm>
            <a:off x="685952" y="201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BA1E8C-B127-48FC-FBDA-2A137ABAA566}"/>
              </a:ext>
            </a:extLst>
          </p:cNvPr>
          <p:cNvSpPr/>
          <p:nvPr/>
        </p:nvSpPr>
        <p:spPr>
          <a:xfrm>
            <a:off x="740816" y="22860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INJECTION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5CF1681-AF40-F2BF-3EC1-E0FE494060ED}"/>
              </a:ext>
            </a:extLst>
          </p:cNvPr>
          <p:cNvSpPr/>
          <p:nvPr/>
        </p:nvSpPr>
        <p:spPr>
          <a:xfrm>
            <a:off x="676808" y="4937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dependency types and their uses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2EFD85-A268-F5D2-BAC1-CAEB747F1236}"/>
              </a:ext>
            </a:extLst>
          </p:cNvPr>
          <p:cNvSpPr/>
          <p:nvPr/>
        </p:nvSpPr>
        <p:spPr>
          <a:xfrm>
            <a:off x="685952" y="932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kinds of objects usually get injected.</a:t>
            </a:r>
            <a:endParaRPr lang="en-US" sz="133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975A04-470D-ED15-795A-44A3D2DDD488}"/>
              </a:ext>
            </a:extLst>
          </p:cNvPr>
          <p:cNvSpPr/>
          <p:nvPr/>
        </p:nvSpPr>
        <p:spPr>
          <a:xfrm>
            <a:off x="9784232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9A013B5-F6E5-798F-3D26-B4E4DB8223CD}"/>
              </a:ext>
            </a:extLst>
          </p:cNvPr>
          <p:cNvSpPr/>
          <p:nvPr/>
        </p:nvSpPr>
        <p:spPr>
          <a:xfrm>
            <a:off x="868832" y="1426464"/>
            <a:ext cx="10405872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0F87EB7-6424-84FA-F540-81B4FDD343B0}"/>
              </a:ext>
            </a:extLst>
          </p:cNvPr>
          <p:cNvSpPr/>
          <p:nvPr/>
        </p:nvSpPr>
        <p:spPr>
          <a:xfrm>
            <a:off x="1079144" y="1828800"/>
            <a:ext cx="283464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5BF8A08-B508-D842-F5B9-A7BE97F06262}"/>
              </a:ext>
            </a:extLst>
          </p:cNvPr>
          <p:cNvSpPr/>
          <p:nvPr/>
        </p:nvSpPr>
        <p:spPr>
          <a:xfrm>
            <a:off x="1225448" y="199339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service</a:t>
            </a:r>
            <a:endParaRPr lang="en-US" sz="14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59384C-D94C-A929-576C-598FE535DFF4}"/>
              </a:ext>
            </a:extLst>
          </p:cNvPr>
          <p:cNvSpPr/>
          <p:nvPr/>
        </p:nvSpPr>
        <p:spPr>
          <a:xfrm>
            <a:off x="1225448" y="232257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business rules and orchestration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7AC93EE-3A4E-F922-6384-A9CED2E4B305}"/>
              </a:ext>
            </a:extLst>
          </p:cNvPr>
          <p:cNvSpPr/>
          <p:nvPr/>
        </p:nvSpPr>
        <p:spPr>
          <a:xfrm>
            <a:off x="4489856" y="1828800"/>
            <a:ext cx="2834640" cy="1280160"/>
          </a:xfrm>
          <a:prstGeom prst="roundRect">
            <a:avLst>
              <a:gd name="adj" fmla="val 4286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FBA2C4B-34DF-E620-C64C-E7A4F1628304}"/>
              </a:ext>
            </a:extLst>
          </p:cNvPr>
          <p:cNvSpPr/>
          <p:nvPr/>
        </p:nvSpPr>
        <p:spPr>
          <a:xfrm>
            <a:off x="4636160" y="199339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/ data access</a:t>
            </a:r>
            <a:endParaRPr lang="en-US" sz="14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329D524-F685-535A-15D7-BEE5276365F2}"/>
              </a:ext>
            </a:extLst>
          </p:cNvPr>
          <p:cNvSpPr/>
          <p:nvPr/>
        </p:nvSpPr>
        <p:spPr>
          <a:xfrm>
            <a:off x="4636160" y="232257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or writes data sources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35C2FF1-2C47-348E-EAC6-75FE31029540}"/>
              </a:ext>
            </a:extLst>
          </p:cNvPr>
          <p:cNvSpPr/>
          <p:nvPr/>
        </p:nvSpPr>
        <p:spPr>
          <a:xfrm>
            <a:off x="7900568" y="1828800"/>
            <a:ext cx="2834640" cy="1280160"/>
          </a:xfrm>
          <a:prstGeom prst="roundRect">
            <a:avLst>
              <a:gd name="adj" fmla="val 4286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A66F9C4-EF06-5BD5-6E6D-466AC827DED8}"/>
              </a:ext>
            </a:extLst>
          </p:cNvPr>
          <p:cNvSpPr/>
          <p:nvPr/>
        </p:nvSpPr>
        <p:spPr>
          <a:xfrm>
            <a:off x="8046872" y="199339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DbContext</a:t>
            </a:r>
            <a:endParaRPr lang="en-US" sz="14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C78C52F-84CF-EE53-1633-37814D23F699}"/>
              </a:ext>
            </a:extLst>
          </p:cNvPr>
          <p:cNvSpPr/>
          <p:nvPr/>
        </p:nvSpPr>
        <p:spPr>
          <a:xfrm>
            <a:off x="8046872" y="232257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Unit-of-work style database access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D242267-80AC-4471-4A23-0D714F7F13EE}"/>
              </a:ext>
            </a:extLst>
          </p:cNvPr>
          <p:cNvSpPr/>
          <p:nvPr/>
        </p:nvSpPr>
        <p:spPr>
          <a:xfrm>
            <a:off x="1079144" y="3611880"/>
            <a:ext cx="2834640" cy="128016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FD286BA-C193-3BBA-75A5-4FC521DEE560}"/>
              </a:ext>
            </a:extLst>
          </p:cNvPr>
          <p:cNvSpPr/>
          <p:nvPr/>
        </p:nvSpPr>
        <p:spPr>
          <a:xfrm>
            <a:off x="1225448" y="377647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ILogger&lt;T&gt;</a:t>
            </a:r>
            <a:endParaRPr lang="en-US" sz="14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0748FFA-3A33-0D5A-907D-9D9EECF5A706}"/>
              </a:ext>
            </a:extLst>
          </p:cNvPr>
          <p:cNvSpPr/>
          <p:nvPr/>
        </p:nvSpPr>
        <p:spPr>
          <a:xfrm>
            <a:off x="1225448" y="410565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Cross-cutting diagnostics and tracing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47D6523-EF4A-1E3E-B3ED-0CCE21FA707C}"/>
              </a:ext>
            </a:extLst>
          </p:cNvPr>
          <p:cNvSpPr/>
          <p:nvPr/>
        </p:nvSpPr>
        <p:spPr>
          <a:xfrm>
            <a:off x="4489856" y="3611880"/>
            <a:ext cx="2834640" cy="1280160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B2D8DB8-5779-9011-1C6C-EC7C68551071}"/>
              </a:ext>
            </a:extLst>
          </p:cNvPr>
          <p:cNvSpPr/>
          <p:nvPr/>
        </p:nvSpPr>
        <p:spPr>
          <a:xfrm>
            <a:off x="4636160" y="377647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IOptions&lt;T&gt;</a:t>
            </a:r>
            <a:endParaRPr lang="en-US" sz="14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35E60A8-19CC-5503-B37E-F685D20CA977}"/>
              </a:ext>
            </a:extLst>
          </p:cNvPr>
          <p:cNvSpPr/>
          <p:nvPr/>
        </p:nvSpPr>
        <p:spPr>
          <a:xfrm>
            <a:off x="4636160" y="410565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configuration values</a:t>
            </a:r>
            <a:endParaRPr lang="en-US" sz="1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715E75D-C1AC-CA60-E708-2AE47419BF52}"/>
              </a:ext>
            </a:extLst>
          </p:cNvPr>
          <p:cNvSpPr/>
          <p:nvPr/>
        </p:nvSpPr>
        <p:spPr>
          <a:xfrm>
            <a:off x="7900568" y="3611880"/>
            <a:ext cx="2834640" cy="1280160"/>
          </a:xfrm>
          <a:prstGeom prst="roundRect">
            <a:avLst>
              <a:gd name="adj" fmla="val 4286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132BD92-58D4-30BF-3415-C0974AF492F4}"/>
              </a:ext>
            </a:extLst>
          </p:cNvPr>
          <p:cNvSpPr/>
          <p:nvPr/>
        </p:nvSpPr>
        <p:spPr>
          <a:xfrm>
            <a:off x="8046872" y="377647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HttpClient / factory</a:t>
            </a:r>
            <a:endParaRPr lang="en-US" sz="14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3001EB8-B400-3A83-99F7-90BAEFC31272}"/>
              </a:ext>
            </a:extLst>
          </p:cNvPr>
          <p:cNvSpPr/>
          <p:nvPr/>
        </p:nvSpPr>
        <p:spPr>
          <a:xfrm>
            <a:off x="8046872" y="410565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Calls external HTTP services</a:t>
            </a:r>
            <a:endParaRPr lang="en-US" sz="1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0131C43-E726-6990-F1A1-57CC3DA2114C}"/>
              </a:ext>
            </a:extLst>
          </p:cNvPr>
          <p:cNvSpPr/>
          <p:nvPr/>
        </p:nvSpPr>
        <p:spPr>
          <a:xfrm>
            <a:off x="1097432" y="5252224"/>
            <a:ext cx="9875520" cy="371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 are collaborators. They should be injected because the endpoint or controller needs a capability, not because injection is fashionable.</a:t>
            </a:r>
            <a:endParaRPr lang="en-US" sz="1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96B9F7C-D8D7-ADC2-286B-7620C256171D}"/>
              </a:ext>
            </a:extLst>
          </p:cNvPr>
          <p:cNvSpPr/>
          <p:nvPr/>
        </p:nvSpPr>
        <p:spPr>
          <a:xfrm>
            <a:off x="685952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183916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998579-89CB-E197-4A56-701F30BF58D4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4A44DC-7F3D-0C9A-8E00-0D20C7FEB195}"/>
              </a:ext>
            </a:extLst>
          </p:cNvPr>
          <p:cNvSpPr/>
          <p:nvPr/>
        </p:nvSpPr>
        <p:spPr>
          <a:xfrm>
            <a:off x="685952" y="201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71BF3B-A48D-5BFA-4065-5F2DA936AA0E}"/>
              </a:ext>
            </a:extLst>
          </p:cNvPr>
          <p:cNvSpPr/>
          <p:nvPr/>
        </p:nvSpPr>
        <p:spPr>
          <a:xfrm>
            <a:off x="740816" y="22860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90C32AF-C472-C5C4-C6D4-DC2C3481BE03}"/>
              </a:ext>
            </a:extLst>
          </p:cNvPr>
          <p:cNvSpPr/>
          <p:nvPr/>
        </p:nvSpPr>
        <p:spPr>
          <a:xfrm>
            <a:off x="676808" y="4937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and connection registration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1D8664-624A-41C8-60DF-BDAC48483AEE}"/>
              </a:ext>
            </a:extLst>
          </p:cNvPr>
          <p:cNvSpPr/>
          <p:nvPr/>
        </p:nvSpPr>
        <p:spPr>
          <a:xfrm>
            <a:off x="685952" y="932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 + provider + scoped </a:t>
            </a:r>
            <a:r>
              <a:rPr lang="en-US" sz="1330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DbContext</a:t>
            </a:r>
            <a:r>
              <a:rPr lang="en-US" sz="13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setup.</a:t>
            </a:r>
            <a:endParaRPr lang="en-US" sz="133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7C3FC1-C824-CE8A-4527-1CE0B85FAF28}"/>
              </a:ext>
            </a:extLst>
          </p:cNvPr>
          <p:cNvSpPr/>
          <p:nvPr/>
        </p:nvSpPr>
        <p:spPr>
          <a:xfrm>
            <a:off x="9784232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21130F3-F70E-6185-7B27-E690F1B7D80F}"/>
              </a:ext>
            </a:extLst>
          </p:cNvPr>
          <p:cNvSpPr/>
          <p:nvPr/>
        </p:nvSpPr>
        <p:spPr>
          <a:xfrm>
            <a:off x="868832" y="1444752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A930AC5-0777-93FE-940B-F8A54B83C8D9}"/>
              </a:ext>
            </a:extLst>
          </p:cNvPr>
          <p:cNvSpPr/>
          <p:nvPr/>
        </p:nvSpPr>
        <p:spPr>
          <a:xfrm>
            <a:off x="1134008" y="1755648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matters most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E7727D4-0B63-D63A-9D83-16F2E2017322}"/>
              </a:ext>
            </a:extLst>
          </p:cNvPr>
          <p:cNvSpPr/>
          <p:nvPr/>
        </p:nvSpPr>
        <p:spPr>
          <a:xfrm>
            <a:off x="1134008" y="2029968"/>
            <a:ext cx="288036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AddDbContext registers the DbContext into DI.</a:t>
            </a:r>
            <a:endParaRPr lang="en-US" sz="14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provider call chooses the database provider, such as SQL Server.</a:t>
            </a:r>
            <a:endParaRPr lang="en-US" sz="14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connection string usually comes from configuration.</a:t>
            </a:r>
            <a:endParaRPr lang="en-US" sz="140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DbContext is typically scoped per request.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F51DE99-0671-BB4A-D6DF-46B26BB84DDB}"/>
              </a:ext>
            </a:extLst>
          </p:cNvPr>
          <p:cNvSpPr/>
          <p:nvPr/>
        </p:nvSpPr>
        <p:spPr>
          <a:xfrm>
            <a:off x="1134008" y="5065776"/>
            <a:ext cx="2834640" cy="713232"/>
          </a:xfrm>
          <a:prstGeom prst="roundRect">
            <a:avLst>
              <a:gd name="adj" fmla="val 6410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D68581C-FE20-B92E-980C-019FE93D74B0}"/>
              </a:ext>
            </a:extLst>
          </p:cNvPr>
          <p:cNvSpPr/>
          <p:nvPr/>
        </p:nvSpPr>
        <p:spPr>
          <a:xfrm>
            <a:off x="1316888" y="52669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20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hardcoding production secrets in source code or training screenshots.</a:t>
            </a:r>
            <a:endParaRPr lang="en-US" sz="122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31ED2CC-EA36-0DF6-F6A5-55235C7332C1}"/>
              </a:ext>
            </a:extLst>
          </p:cNvPr>
          <p:cNvSpPr/>
          <p:nvPr/>
        </p:nvSpPr>
        <p:spPr>
          <a:xfrm>
            <a:off x="4892192" y="1444752"/>
            <a:ext cx="6382512" cy="4572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E7F2A5B8-12B7-54BC-09DF-72587EA6B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080" y="3190026"/>
            <a:ext cx="5870448" cy="1172893"/>
          </a:xfrm>
          <a:prstGeom prst="rect">
            <a:avLst/>
          </a:prstGeom>
        </p:spPr>
      </p:pic>
      <p:sp>
        <p:nvSpPr>
          <p:cNvPr id="15" name="Text 12">
            <a:extLst>
              <a:ext uri="{FF2B5EF4-FFF2-40B4-BE49-F238E27FC236}">
                <a16:creationId xmlns:a16="http://schemas.microsoft.com/office/drawing/2014/main" id="{8A0DB402-FF6A-49F4-F3D1-924F64E5C79C}"/>
              </a:ext>
            </a:extLst>
          </p:cNvPr>
          <p:cNvSpPr/>
          <p:nvPr/>
        </p:nvSpPr>
        <p:spPr>
          <a:xfrm>
            <a:off x="685952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826934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4B973AC-2517-1264-BC11-D87C94111A87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83D2ECF-3703-FEAA-C067-389D9C57AEEE}"/>
              </a:ext>
            </a:extLst>
          </p:cNvPr>
          <p:cNvSpPr/>
          <p:nvPr/>
        </p:nvSpPr>
        <p:spPr>
          <a:xfrm>
            <a:off x="685952" y="201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F5E0CF-2FEC-5148-5770-12A33196F9F7}"/>
              </a:ext>
            </a:extLst>
          </p:cNvPr>
          <p:cNvSpPr/>
          <p:nvPr/>
        </p:nvSpPr>
        <p:spPr>
          <a:xfrm>
            <a:off x="740816" y="22860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API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ECF9FB-3DCE-25CC-751C-24346F6D352B}"/>
              </a:ext>
            </a:extLst>
          </p:cNvPr>
          <p:cNvSpPr/>
          <p:nvPr/>
        </p:nvSpPr>
        <p:spPr>
          <a:xfrm>
            <a:off x="676808" y="4937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OpenAPI and Swagger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C983670-0006-64D4-D8D7-3F968783CF3D}"/>
              </a:ext>
            </a:extLst>
          </p:cNvPr>
          <p:cNvSpPr/>
          <p:nvPr/>
        </p:nvSpPr>
        <p:spPr>
          <a:xfrm>
            <a:off x="685952" y="932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0" dirty="0" err="1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OpenAPI</a:t>
            </a:r>
            <a:r>
              <a:rPr lang="en-US" sz="13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the contract; Swagger UI is one way to visualize and test it.</a:t>
            </a:r>
            <a:endParaRPr lang="en-US" sz="133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9B0A18-9157-0512-37C7-B04054162A42}"/>
              </a:ext>
            </a:extLst>
          </p:cNvPr>
          <p:cNvSpPr/>
          <p:nvPr/>
        </p:nvSpPr>
        <p:spPr>
          <a:xfrm>
            <a:off x="9784232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A857680-AE00-A84F-D883-D6B2349AA325}"/>
              </a:ext>
            </a:extLst>
          </p:cNvPr>
          <p:cNvSpPr/>
          <p:nvPr/>
        </p:nvSpPr>
        <p:spPr>
          <a:xfrm>
            <a:off x="868832" y="1426464"/>
            <a:ext cx="466344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E937B6C-C279-8E60-BCDD-3D9102DC1335}"/>
              </a:ext>
            </a:extLst>
          </p:cNvPr>
          <p:cNvSpPr/>
          <p:nvPr/>
        </p:nvSpPr>
        <p:spPr>
          <a:xfrm>
            <a:off x="1143152" y="2029968"/>
            <a:ext cx="39776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OpenAPI describes the HTTP contract of the API.</a:t>
            </a:r>
            <a:endParaRPr lang="en-US" sz="158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helps humans, tools, and generated clients understand the endpoints.</a:t>
            </a:r>
            <a:endParaRPr lang="en-US" sz="158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modern ASP.NET Core, built-in OpenAPI generation is available.</a:t>
            </a:r>
            <a:endParaRPr lang="en-US" sz="158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5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UIs such as Swagger UI are separate visualization/testing tools.</a:t>
            </a:r>
            <a:endParaRPr lang="en-US" sz="158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EC5AFF4-F39B-20C0-6E74-63BF6C8DE50E}"/>
              </a:ext>
            </a:extLst>
          </p:cNvPr>
          <p:cNvSpPr/>
          <p:nvPr/>
        </p:nvSpPr>
        <p:spPr>
          <a:xfrm>
            <a:off x="5852312" y="1426464"/>
            <a:ext cx="5440680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8F60149-0A92-7610-82DA-4F3C52FB0A04}"/>
              </a:ext>
            </a:extLst>
          </p:cNvPr>
          <p:cNvSpPr/>
          <p:nvPr/>
        </p:nvSpPr>
        <p:spPr>
          <a:xfrm>
            <a:off x="6236360" y="1653726"/>
            <a:ext cx="1783080" cy="704088"/>
          </a:xfrm>
          <a:prstGeom prst="roundRect">
            <a:avLst>
              <a:gd name="adj" fmla="val 5455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27EA7C4-D502-422B-B794-D148385CC157}"/>
              </a:ext>
            </a:extLst>
          </p:cNvPr>
          <p:cNvSpPr/>
          <p:nvPr/>
        </p:nvSpPr>
        <p:spPr>
          <a:xfrm>
            <a:off x="6382664" y="1888572"/>
            <a:ext cx="1490472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OpenAPI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</a:t>
            </a:r>
            <a:endParaRPr lang="en-US" sz="15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836E9D9-BCAD-EF23-16C9-A621B4FE77A4}"/>
              </a:ext>
            </a:extLst>
          </p:cNvPr>
          <p:cNvSpPr/>
          <p:nvPr/>
        </p:nvSpPr>
        <p:spPr>
          <a:xfrm>
            <a:off x="8211464" y="1788213"/>
            <a:ext cx="320040" cy="402336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AFD2B73-3BDB-8762-B6CE-4A2070C600FD}"/>
              </a:ext>
            </a:extLst>
          </p:cNvPr>
          <p:cNvSpPr/>
          <p:nvPr/>
        </p:nvSpPr>
        <p:spPr>
          <a:xfrm>
            <a:off x="8778392" y="1653726"/>
            <a:ext cx="1828800" cy="704088"/>
          </a:xfrm>
          <a:prstGeom prst="roundRect">
            <a:avLst>
              <a:gd name="adj" fmla="val 5455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11AB16D-4F4D-0FA0-88AE-03BB600C7F19}"/>
              </a:ext>
            </a:extLst>
          </p:cNvPr>
          <p:cNvSpPr/>
          <p:nvPr/>
        </p:nvSpPr>
        <p:spPr>
          <a:xfrm>
            <a:off x="8942984" y="1892586"/>
            <a:ext cx="149961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Swagger UI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other tools</a:t>
            </a:r>
            <a:endParaRPr lang="en-US" sz="14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1FBAAC6-A75E-883F-1FBF-B373A153BF47}"/>
              </a:ext>
            </a:extLst>
          </p:cNvPr>
          <p:cNvSpPr/>
          <p:nvPr/>
        </p:nvSpPr>
        <p:spPr>
          <a:xfrm>
            <a:off x="685952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4879747-689D-383D-698C-F33AF48A7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425" y="2552298"/>
            <a:ext cx="5360567" cy="333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8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0664" y="2286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</a:rPr>
              <a:t>EXCERCISE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5" y="493776"/>
            <a:ext cx="86073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Exercise: inspect this endpoint and move the responsibility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829800" y="310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481328"/>
            <a:ext cx="10378440" cy="50292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459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What belongs in a service here, and what would you change first to make the endpoint easier to test?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2176272"/>
            <a:ext cx="7985388" cy="3566160"/>
          </a:xfrm>
          <a:prstGeom prst="roundRect">
            <a:avLst>
              <a:gd name="adj" fmla="val 205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pic>
        <p:nvPicPr>
          <p:cNvPr id="11" name="Image 0" descr="/mnt/data/day2_deck/minimal_api_b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133170"/>
            <a:ext cx="6446520" cy="16340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781012-BBF6-153D-0C5F-142B2A562DB4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2342919-4D94-945E-ACA6-D473B5A36E99}"/>
              </a:ext>
            </a:extLst>
          </p:cNvPr>
          <p:cNvSpPr/>
          <p:nvPr/>
        </p:nvSpPr>
        <p:spPr>
          <a:xfrm>
            <a:off x="685952" y="201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24D104-C6CB-D62C-DC75-1FAD61EF0283}"/>
              </a:ext>
            </a:extLst>
          </p:cNvPr>
          <p:cNvSpPr/>
          <p:nvPr/>
        </p:nvSpPr>
        <p:spPr>
          <a:xfrm>
            <a:off x="740816" y="22860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214A259-919E-A747-3BD0-2EE520751B4D}"/>
              </a:ext>
            </a:extLst>
          </p:cNvPr>
          <p:cNvSpPr/>
          <p:nvPr/>
        </p:nvSpPr>
        <p:spPr>
          <a:xfrm>
            <a:off x="676808" y="4937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setup commands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79540F-20C5-1B09-3570-77E5891D8283}"/>
              </a:ext>
            </a:extLst>
          </p:cNvPr>
          <p:cNvSpPr/>
          <p:nvPr/>
        </p:nvSpPr>
        <p:spPr>
          <a:xfrm>
            <a:off x="685952" y="932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CLI setup slide with project creation, cd, and run.</a:t>
            </a:r>
            <a:endParaRPr lang="en-US" sz="133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90EAFA2-C365-26C0-9CBA-C44FFF6F9E4F}"/>
              </a:ext>
            </a:extLst>
          </p:cNvPr>
          <p:cNvSpPr/>
          <p:nvPr/>
        </p:nvSpPr>
        <p:spPr>
          <a:xfrm>
            <a:off x="9784232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73D5F46-6276-54AF-B032-EA63377B0553}"/>
              </a:ext>
            </a:extLst>
          </p:cNvPr>
          <p:cNvSpPr/>
          <p:nvPr/>
        </p:nvSpPr>
        <p:spPr>
          <a:xfrm>
            <a:off x="868832" y="1481328"/>
            <a:ext cx="10378440" cy="50292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2AD99CB-6A65-B02A-A0EF-C13084DEE4A0}"/>
              </a:ext>
            </a:extLst>
          </p:cNvPr>
          <p:cNvSpPr/>
          <p:nvPr/>
        </p:nvSpPr>
        <p:spPr>
          <a:xfrm>
            <a:off x="1097432" y="164592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2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have the room create the API project first, run it, then inspect the generated startup and OpenAPI output before adding custom code.</a:t>
            </a:r>
            <a:endParaRPr lang="en-US" sz="152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537D259-FB72-1F23-8D51-731CAE68FF79}"/>
              </a:ext>
            </a:extLst>
          </p:cNvPr>
          <p:cNvSpPr/>
          <p:nvPr/>
        </p:nvSpPr>
        <p:spPr>
          <a:xfrm>
            <a:off x="868832" y="2176272"/>
            <a:ext cx="6903720" cy="3566160"/>
          </a:xfrm>
          <a:prstGeom prst="roundRect">
            <a:avLst>
              <a:gd name="adj" fmla="val 2051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DB24FF0D-3A70-5B83-221F-D381D5EAB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44" y="3289026"/>
            <a:ext cx="6446520" cy="1322363"/>
          </a:xfrm>
          <a:prstGeom prst="rect">
            <a:avLst/>
          </a:prstGeom>
        </p:spPr>
      </p:pic>
      <p:sp>
        <p:nvSpPr>
          <p:cNvPr id="12" name="Shape 9">
            <a:extLst>
              <a:ext uri="{FF2B5EF4-FFF2-40B4-BE49-F238E27FC236}">
                <a16:creationId xmlns:a16="http://schemas.microsoft.com/office/drawing/2014/main" id="{5FC19FA4-80BA-CA2C-BC2E-A8DD454F1394}"/>
              </a:ext>
            </a:extLst>
          </p:cNvPr>
          <p:cNvSpPr/>
          <p:nvPr/>
        </p:nvSpPr>
        <p:spPr>
          <a:xfrm>
            <a:off x="8001152" y="2176272"/>
            <a:ext cx="3273552" cy="3566160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D6A30A4-ED80-E7F7-C0E9-B9E17F62E2B2}"/>
              </a:ext>
            </a:extLst>
          </p:cNvPr>
          <p:cNvSpPr/>
          <p:nvPr/>
        </p:nvSpPr>
        <p:spPr>
          <a:xfrm>
            <a:off x="8275472" y="24688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Facilitator pattern</a:t>
            </a:r>
            <a:endParaRPr lang="en-US" sz="15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DB472ED-9CB9-FDDF-8AAE-B1C9D657286A}"/>
              </a:ext>
            </a:extLst>
          </p:cNvPr>
          <p:cNvSpPr/>
          <p:nvPr/>
        </p:nvSpPr>
        <p:spPr>
          <a:xfrm>
            <a:off x="8257184" y="2761488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and run before customizing.</a:t>
            </a:r>
            <a:endParaRPr lang="en-US" sz="14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out Program.cs immediately.</a:t>
            </a:r>
            <a:endParaRPr lang="en-US" sz="14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the generated docs or UI endpoint.</a:t>
            </a:r>
            <a:endParaRPr lang="en-US" sz="143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split into minimal vs controller tracks.</a:t>
            </a:r>
            <a:endParaRPr lang="en-US" sz="143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B6B3146-A710-65DD-9E8F-8180121C563E}"/>
              </a:ext>
            </a:extLst>
          </p:cNvPr>
          <p:cNvSpPr/>
          <p:nvPr/>
        </p:nvSpPr>
        <p:spPr>
          <a:xfrm>
            <a:off x="685952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536033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B769D7-A883-AAC2-C0E4-1105EA2F839C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BD4944-6B0F-55BA-18DE-346E77604A3F}"/>
              </a:ext>
            </a:extLst>
          </p:cNvPr>
          <p:cNvSpPr/>
          <p:nvPr/>
        </p:nvSpPr>
        <p:spPr>
          <a:xfrm>
            <a:off x="685952" y="201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F231184-6D8D-6F3D-4E4F-B72AE8A583E9}"/>
              </a:ext>
            </a:extLst>
          </p:cNvPr>
          <p:cNvSpPr/>
          <p:nvPr/>
        </p:nvSpPr>
        <p:spPr>
          <a:xfrm>
            <a:off x="740816" y="22860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655057-59E1-AAAE-DE4D-A76982CAB428}"/>
              </a:ext>
            </a:extLst>
          </p:cNvPr>
          <p:cNvSpPr/>
          <p:nvPr/>
        </p:nvSpPr>
        <p:spPr>
          <a:xfrm>
            <a:off x="676808" y="4937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path: Minimal API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1991A18-D12A-86A3-DC0A-2E94C9D01209}"/>
              </a:ext>
            </a:extLst>
          </p:cNvPr>
          <p:cNvSpPr/>
          <p:nvPr/>
        </p:nvSpPr>
        <p:spPr>
          <a:xfrm>
            <a:off x="685952" y="932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practice small and focus on the route handler, DTO, and service boundary.</a:t>
            </a:r>
            <a:endParaRPr lang="en-US" sz="133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9796B19-65A3-7293-89AE-51828740D3FE}"/>
              </a:ext>
            </a:extLst>
          </p:cNvPr>
          <p:cNvSpPr/>
          <p:nvPr/>
        </p:nvSpPr>
        <p:spPr>
          <a:xfrm>
            <a:off x="9784232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5344331-ADF2-E1A4-8D18-86118F6D9308}"/>
              </a:ext>
            </a:extLst>
          </p:cNvPr>
          <p:cNvSpPr/>
          <p:nvPr/>
        </p:nvSpPr>
        <p:spPr>
          <a:xfrm>
            <a:off x="868832" y="1444752"/>
            <a:ext cx="10405872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15107DF-BD8C-4A59-4FB1-CBFD5D4724E0}"/>
              </a:ext>
            </a:extLst>
          </p:cNvPr>
          <p:cNvSpPr/>
          <p:nvPr/>
        </p:nvSpPr>
        <p:spPr>
          <a:xfrm>
            <a:off x="1115720" y="1828800"/>
            <a:ext cx="2816352" cy="1261872"/>
          </a:xfrm>
          <a:prstGeom prst="roundRect">
            <a:avLst>
              <a:gd name="adj" fmla="val 434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A64D73-A313-F096-6BA1-7FBBDF0D055B}"/>
              </a:ext>
            </a:extLst>
          </p:cNvPr>
          <p:cNvSpPr/>
          <p:nvPr/>
        </p:nvSpPr>
        <p:spPr>
          <a:xfrm>
            <a:off x="1252880" y="1956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6D9F162-1FE6-6AD6-0091-C1B25C8A8155}"/>
              </a:ext>
            </a:extLst>
          </p:cNvPr>
          <p:cNvSpPr/>
          <p:nvPr/>
        </p:nvSpPr>
        <p:spPr>
          <a:xfrm>
            <a:off x="1536344" y="1938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a GET or POST endpoint</a:t>
            </a:r>
            <a:endParaRPr lang="en-US" sz="143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B45BDE5-5939-2B53-A5B6-418B082D613B}"/>
              </a:ext>
            </a:extLst>
          </p:cNvPr>
          <p:cNvSpPr/>
          <p:nvPr/>
        </p:nvSpPr>
        <p:spPr>
          <a:xfrm>
            <a:off x="1262024" y="22585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MapGet or MapPost with a clear /api/... path.</a:t>
            </a:r>
            <a:endParaRPr lang="en-US" sz="117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09E4A8E-98F0-B0F8-442A-AF453210CBA9}"/>
              </a:ext>
            </a:extLst>
          </p:cNvPr>
          <p:cNvSpPr/>
          <p:nvPr/>
        </p:nvSpPr>
        <p:spPr>
          <a:xfrm>
            <a:off x="4471568" y="1828800"/>
            <a:ext cx="2816352" cy="1261872"/>
          </a:xfrm>
          <a:prstGeom prst="roundRect">
            <a:avLst>
              <a:gd name="adj" fmla="val 4348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8226707-DCEE-87AD-556C-536EFD0BBCC2}"/>
              </a:ext>
            </a:extLst>
          </p:cNvPr>
          <p:cNvSpPr/>
          <p:nvPr/>
        </p:nvSpPr>
        <p:spPr>
          <a:xfrm>
            <a:off x="4608728" y="1956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B63CA60-7580-4FBA-8003-E2A0E37CA01E}"/>
              </a:ext>
            </a:extLst>
          </p:cNvPr>
          <p:cNvSpPr/>
          <p:nvPr/>
        </p:nvSpPr>
        <p:spPr>
          <a:xfrm>
            <a:off x="4892192" y="1938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DTO</a:t>
            </a:r>
            <a:endParaRPr lang="en-US" sz="143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5CBB1BF-623E-E41D-A55E-BA0F6BEE9E45}"/>
              </a:ext>
            </a:extLst>
          </p:cNvPr>
          <p:cNvSpPr/>
          <p:nvPr/>
        </p:nvSpPr>
        <p:spPr>
          <a:xfrm>
            <a:off x="4617872" y="22585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request or response type with a focused purpose.</a:t>
            </a:r>
            <a:endParaRPr lang="en-US" sz="117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760E677-7BE8-ACB3-5377-498A2E8F0488}"/>
              </a:ext>
            </a:extLst>
          </p:cNvPr>
          <p:cNvSpPr/>
          <p:nvPr/>
        </p:nvSpPr>
        <p:spPr>
          <a:xfrm>
            <a:off x="7827416" y="1828800"/>
            <a:ext cx="2816352" cy="1261872"/>
          </a:xfrm>
          <a:prstGeom prst="roundRect">
            <a:avLst>
              <a:gd name="adj" fmla="val 4348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99AD280-CBE0-6503-AC6C-3B7CFFED3F17}"/>
              </a:ext>
            </a:extLst>
          </p:cNvPr>
          <p:cNvSpPr/>
          <p:nvPr/>
        </p:nvSpPr>
        <p:spPr>
          <a:xfrm>
            <a:off x="7964576" y="195681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3800681-5A9E-0EFA-B7E5-C62AFBDA38B4}"/>
              </a:ext>
            </a:extLst>
          </p:cNvPr>
          <p:cNvSpPr/>
          <p:nvPr/>
        </p:nvSpPr>
        <p:spPr>
          <a:xfrm>
            <a:off x="8248040" y="19385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 one service</a:t>
            </a:r>
            <a:endParaRPr lang="en-US" sz="143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17D38AB-DAA8-E7DC-87CE-C8A99C1E1EF3}"/>
              </a:ext>
            </a:extLst>
          </p:cNvPr>
          <p:cNvSpPr/>
          <p:nvPr/>
        </p:nvSpPr>
        <p:spPr>
          <a:xfrm>
            <a:off x="7973720" y="22585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a service into the route handler instead of doing all work inline.</a:t>
            </a:r>
            <a:endParaRPr lang="en-US" sz="117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1ADB016-BE34-6A95-745F-FA0D4672BA4B}"/>
              </a:ext>
            </a:extLst>
          </p:cNvPr>
          <p:cNvSpPr/>
          <p:nvPr/>
        </p:nvSpPr>
        <p:spPr>
          <a:xfrm>
            <a:off x="1115720" y="3566160"/>
            <a:ext cx="2816352" cy="1261872"/>
          </a:xfrm>
          <a:prstGeom prst="roundRect">
            <a:avLst>
              <a:gd name="adj" fmla="val 4348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35E52E4-AF69-9F2E-2296-C7B9855F0DE6}"/>
              </a:ext>
            </a:extLst>
          </p:cNvPr>
          <p:cNvSpPr/>
          <p:nvPr/>
        </p:nvSpPr>
        <p:spPr>
          <a:xfrm>
            <a:off x="1252880" y="369417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23137B6-FDBA-5A1A-701B-96FA20C1CA18}"/>
              </a:ext>
            </a:extLst>
          </p:cNvPr>
          <p:cNvSpPr/>
          <p:nvPr/>
        </p:nvSpPr>
        <p:spPr>
          <a:xfrm>
            <a:off x="1536344" y="3675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one rule</a:t>
            </a:r>
            <a:endParaRPr lang="en-US" sz="143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914105D-BBD7-543D-7605-84FE8D6B25B5}"/>
              </a:ext>
            </a:extLst>
          </p:cNvPr>
          <p:cNvSpPr/>
          <p:nvPr/>
        </p:nvSpPr>
        <p:spPr>
          <a:xfrm>
            <a:off x="1262024" y="39959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empty or invalid input early and visibly.</a:t>
            </a:r>
            <a:endParaRPr lang="en-US" sz="117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B6BE0DC-F030-3D70-F9DE-6CF8E5EBE567}"/>
              </a:ext>
            </a:extLst>
          </p:cNvPr>
          <p:cNvSpPr/>
          <p:nvPr/>
        </p:nvSpPr>
        <p:spPr>
          <a:xfrm>
            <a:off x="4471568" y="3566160"/>
            <a:ext cx="2816352" cy="1261872"/>
          </a:xfrm>
          <a:prstGeom prst="roundRect">
            <a:avLst>
              <a:gd name="adj" fmla="val 4348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F11BABD-5986-0874-8CB9-CDB8DBA636B2}"/>
              </a:ext>
            </a:extLst>
          </p:cNvPr>
          <p:cNvSpPr/>
          <p:nvPr/>
        </p:nvSpPr>
        <p:spPr>
          <a:xfrm>
            <a:off x="4608728" y="369417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A868027-BC34-F696-E517-2AFD34AC31C2}"/>
              </a:ext>
            </a:extLst>
          </p:cNvPr>
          <p:cNvSpPr/>
          <p:nvPr/>
        </p:nvSpPr>
        <p:spPr>
          <a:xfrm>
            <a:off x="4892192" y="3675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a meaningful result</a:t>
            </a:r>
            <a:endParaRPr lang="en-US" sz="143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150882B-E8F2-8712-F308-665AB48B59A7}"/>
              </a:ext>
            </a:extLst>
          </p:cNvPr>
          <p:cNvSpPr/>
          <p:nvPr/>
        </p:nvSpPr>
        <p:spPr>
          <a:xfrm>
            <a:off x="4617872" y="39959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Ok, Created, BadRequest, or NotFound deliberately.</a:t>
            </a:r>
            <a:endParaRPr lang="en-US" sz="117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23DFFA4-3A58-34C0-10D1-47872E954307}"/>
              </a:ext>
            </a:extLst>
          </p:cNvPr>
          <p:cNvSpPr/>
          <p:nvPr/>
        </p:nvSpPr>
        <p:spPr>
          <a:xfrm>
            <a:off x="7827416" y="3566160"/>
            <a:ext cx="2816352" cy="1261872"/>
          </a:xfrm>
          <a:prstGeom prst="roundRect">
            <a:avLst>
              <a:gd name="adj" fmla="val 434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5030023-6A20-A687-5B1A-FCF6700DCDC1}"/>
              </a:ext>
            </a:extLst>
          </p:cNvPr>
          <p:cNvSpPr/>
          <p:nvPr/>
        </p:nvSpPr>
        <p:spPr>
          <a:xfrm>
            <a:off x="7964576" y="369417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AE07B25-D1D4-EE45-B6AE-64E794F5799D}"/>
              </a:ext>
            </a:extLst>
          </p:cNvPr>
          <p:cNvSpPr/>
          <p:nvPr/>
        </p:nvSpPr>
        <p:spPr>
          <a:xfrm>
            <a:off x="8248040" y="3675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route flow</a:t>
            </a:r>
            <a:endParaRPr lang="en-US" sz="143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FD92474-762C-F46B-9C79-ECFB78C84FA4}"/>
              </a:ext>
            </a:extLst>
          </p:cNvPr>
          <p:cNvSpPr/>
          <p:nvPr/>
        </p:nvSpPr>
        <p:spPr>
          <a:xfrm>
            <a:off x="7973720" y="39959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each student say what happens from request to response.</a:t>
            </a:r>
            <a:endParaRPr lang="en-US" sz="117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C2A82A2-0F4A-ADDB-3387-CAB854E98625}"/>
              </a:ext>
            </a:extLst>
          </p:cNvPr>
          <p:cNvSpPr/>
          <p:nvPr/>
        </p:nvSpPr>
        <p:spPr>
          <a:xfrm>
            <a:off x="685952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216911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CE64F0-90B6-750A-5094-E048E52F3A80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E5C5A6-ACAE-9057-2CCF-1B6238EEB03E}"/>
              </a:ext>
            </a:extLst>
          </p:cNvPr>
          <p:cNvSpPr/>
          <p:nvPr/>
        </p:nvSpPr>
        <p:spPr>
          <a:xfrm>
            <a:off x="685952" y="201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08CEC3B-227F-B67B-575D-AC7EB5A252C1}"/>
              </a:ext>
            </a:extLst>
          </p:cNvPr>
          <p:cNvSpPr/>
          <p:nvPr/>
        </p:nvSpPr>
        <p:spPr>
          <a:xfrm>
            <a:off x="740816" y="22860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BD4F4C-30CD-BEED-09FC-A64C11C77242}"/>
              </a:ext>
            </a:extLst>
          </p:cNvPr>
          <p:cNvSpPr/>
          <p:nvPr/>
        </p:nvSpPr>
        <p:spPr>
          <a:xfrm>
            <a:off x="676808" y="4937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path: Controllers</a:t>
            </a:r>
            <a:endParaRPr lang="en-US" sz="27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151D9F-29E2-6478-BEE3-6A5EFE5C6107}"/>
              </a:ext>
            </a:extLst>
          </p:cNvPr>
          <p:cNvSpPr/>
          <p:nvPr/>
        </p:nvSpPr>
        <p:spPr>
          <a:xfrm>
            <a:off x="685952" y="9326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Mirror the minimal workshop, but now the developers practice controller structure and route attributes.</a:t>
            </a:r>
            <a:endParaRPr lang="en-US" sz="133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29DB6C-996B-29D6-A507-1DCB65FFA957}"/>
              </a:ext>
            </a:extLst>
          </p:cNvPr>
          <p:cNvSpPr/>
          <p:nvPr/>
        </p:nvSpPr>
        <p:spPr>
          <a:xfrm>
            <a:off x="9784232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· ASP.NET Core</a:t>
            </a:r>
            <a:endParaRPr lang="en-US" sz="9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CA36233-18F2-6951-6BCD-6C9CE52E60DC}"/>
              </a:ext>
            </a:extLst>
          </p:cNvPr>
          <p:cNvSpPr/>
          <p:nvPr/>
        </p:nvSpPr>
        <p:spPr>
          <a:xfrm>
            <a:off x="868832" y="1444752"/>
            <a:ext cx="10405872" cy="4553712"/>
          </a:xfrm>
          <a:prstGeom prst="roundRect">
            <a:avLst>
              <a:gd name="adj" fmla="val 160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EC21077-FEC2-BDCB-2E40-D70A7AD1C1A3}"/>
              </a:ext>
            </a:extLst>
          </p:cNvPr>
          <p:cNvSpPr/>
          <p:nvPr/>
        </p:nvSpPr>
        <p:spPr>
          <a:xfrm>
            <a:off x="1097432" y="1828800"/>
            <a:ext cx="4572000" cy="3429000"/>
          </a:xfrm>
          <a:prstGeom prst="roundRect">
            <a:avLst>
              <a:gd name="adj" fmla="val 2133"/>
            </a:avLst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EE0C66F-3B5F-CC53-A07D-A0DE53420BFE}"/>
              </a:ext>
            </a:extLst>
          </p:cNvPr>
          <p:cNvSpPr/>
          <p:nvPr/>
        </p:nvSpPr>
        <p:spPr>
          <a:xfrm>
            <a:off x="6446672" y="1828800"/>
            <a:ext cx="4572000" cy="3429000"/>
          </a:xfrm>
          <a:prstGeom prst="roundRect">
            <a:avLst>
              <a:gd name="adj" fmla="val 2133"/>
            </a:avLst>
          </a:prstGeom>
          <a:solidFill>
            <a:srgbClr val="CCFBF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852560D-C2EE-18AE-4EFF-9554CC469712}"/>
              </a:ext>
            </a:extLst>
          </p:cNvPr>
          <p:cNvSpPr/>
          <p:nvPr/>
        </p:nvSpPr>
        <p:spPr>
          <a:xfrm>
            <a:off x="1371752" y="1880100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controller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2BC60DF-11EF-AFE4-5ACA-8D9E123562DF}"/>
              </a:ext>
            </a:extLst>
          </p:cNvPr>
          <p:cNvSpPr/>
          <p:nvPr/>
        </p:nvSpPr>
        <p:spPr>
          <a:xfrm>
            <a:off x="6720992" y="21031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shape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52AB6B5-6294-A283-7C0B-7CF4C376C0B3}"/>
              </a:ext>
            </a:extLst>
          </p:cNvPr>
          <p:cNvSpPr/>
          <p:nvPr/>
        </p:nvSpPr>
        <p:spPr>
          <a:xfrm>
            <a:off x="1371752" y="2432304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TasksController class that derives from </a:t>
            </a:r>
            <a:r>
              <a:rPr lang="en-US" sz="147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ControllerBase</a:t>
            </a:r>
            <a:r>
              <a:rPr lang="en-US" sz="14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7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[ApiController] and [Route("api/[controller]")].</a:t>
            </a:r>
            <a:endParaRPr lang="en-US" sz="147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Inject one service through the constructor.</a:t>
            </a:r>
            <a:endParaRPr lang="en-US" sz="147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one GET or POST action with an HTTP attribute.</a:t>
            </a:r>
            <a:endParaRPr lang="en-US" sz="147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DAF1165-F4A4-028E-8E45-1D24EC134CA2}"/>
              </a:ext>
            </a:extLst>
          </p:cNvPr>
          <p:cNvSpPr/>
          <p:nvPr/>
        </p:nvSpPr>
        <p:spPr>
          <a:xfrm>
            <a:off x="6720992" y="2432304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ActionResult or a specific typed response clearly.</a:t>
            </a:r>
            <a:endParaRPr lang="en-US" sz="147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validation and business rules out of the controller when possible.</a:t>
            </a:r>
            <a:endParaRPr lang="en-US" sz="147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shape to the Minimal API version.</a:t>
            </a:r>
            <a:endParaRPr lang="en-US" sz="1470" dirty="0"/>
          </a:p>
          <a:p>
            <a:pPr marL="203200" indent="-203200">
              <a:spcBef>
                <a:spcPts val="1200"/>
              </a:spcBef>
              <a:buSzPct val="100000"/>
              <a:buChar char="•"/>
            </a:pPr>
            <a:r>
              <a:rPr lang="en-US" sz="147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using swagger tool</a:t>
            </a:r>
            <a:endParaRPr lang="en-US" sz="147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CBD9A23-6E86-3EB6-29A6-E8F6D343EBB2}"/>
              </a:ext>
            </a:extLst>
          </p:cNvPr>
          <p:cNvSpPr/>
          <p:nvPr/>
        </p:nvSpPr>
        <p:spPr>
          <a:xfrm>
            <a:off x="685952" y="645566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· Day 3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893977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D6301F-1781-C32C-2D60-9E2CF173764F}"/>
              </a:ext>
            </a:extLst>
          </p:cNvPr>
          <p:cNvSpPr/>
          <p:nvPr/>
        </p:nvSpPr>
        <p:spPr>
          <a:xfrm>
            <a:off x="152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F245948-4095-3A52-3C68-5C4FE757A0ED}"/>
              </a:ext>
            </a:extLst>
          </p:cNvPr>
          <p:cNvSpPr/>
          <p:nvPr/>
        </p:nvSpPr>
        <p:spPr>
          <a:xfrm>
            <a:off x="749960" y="7498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E0E9C2-6440-7B28-3410-2AA84C5DF078}"/>
              </a:ext>
            </a:extLst>
          </p:cNvPr>
          <p:cNvSpPr/>
          <p:nvPr/>
        </p:nvSpPr>
        <p:spPr>
          <a:xfrm>
            <a:off x="804824" y="777240"/>
            <a:ext cx="1307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9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E27890-87A3-547E-1420-D59AC90CE5C6}"/>
              </a:ext>
            </a:extLst>
          </p:cNvPr>
          <p:cNvSpPr/>
          <p:nvPr/>
        </p:nvSpPr>
        <p:spPr>
          <a:xfrm>
            <a:off x="749960" y="1234440"/>
            <a:ext cx="5715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team should leave with</a:t>
            </a:r>
            <a:endParaRPr lang="en-US" sz="29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649C0E7-0D32-7BF0-D62D-22EF67C02E63}"/>
              </a:ext>
            </a:extLst>
          </p:cNvPr>
          <p:cNvSpPr/>
          <p:nvPr/>
        </p:nvSpPr>
        <p:spPr>
          <a:xfrm>
            <a:off x="841400" y="2148840"/>
            <a:ext cx="5440680" cy="530352"/>
          </a:xfrm>
          <a:prstGeom prst="roundRect">
            <a:avLst>
              <a:gd name="adj" fmla="val 8621"/>
            </a:avLst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2A32A84-73C4-E91E-5E77-D931A7FA074F}"/>
              </a:ext>
            </a:extLst>
          </p:cNvPr>
          <p:cNvSpPr/>
          <p:nvPr/>
        </p:nvSpPr>
        <p:spPr>
          <a:xfrm>
            <a:off x="1042568" y="232257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definition of REST in ASP.NET Core</a:t>
            </a:r>
            <a:endParaRPr lang="en-US" sz="1425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EA37523-CD87-3E50-8D44-B79D1705E2E8}"/>
              </a:ext>
            </a:extLst>
          </p:cNvPr>
          <p:cNvSpPr/>
          <p:nvPr/>
        </p:nvSpPr>
        <p:spPr>
          <a:xfrm>
            <a:off x="841400" y="2935224"/>
            <a:ext cx="5440680" cy="530352"/>
          </a:xfrm>
          <a:prstGeom prst="roundRect">
            <a:avLst>
              <a:gd name="adj" fmla="val 8621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FD8A713-917F-B305-2253-F74CBBF2C30F}"/>
              </a:ext>
            </a:extLst>
          </p:cNvPr>
          <p:cNvSpPr/>
          <p:nvPr/>
        </p:nvSpPr>
        <p:spPr>
          <a:xfrm>
            <a:off x="1042568" y="310896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with controllers, actions, and route design</a:t>
            </a:r>
            <a:endParaRPr lang="en-US" sz="1425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8C24092-8309-B050-F417-B0C67A08F5CF}"/>
              </a:ext>
            </a:extLst>
          </p:cNvPr>
          <p:cNvSpPr/>
          <p:nvPr/>
        </p:nvSpPr>
        <p:spPr>
          <a:xfrm>
            <a:off x="841400" y="3721608"/>
            <a:ext cx="5440680" cy="530352"/>
          </a:xfrm>
          <a:prstGeom prst="roundRect">
            <a:avLst>
              <a:gd name="adj" fmla="val 8621"/>
            </a:avLst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430F68F-CB12-8FAF-1C42-634448DE75D3}"/>
              </a:ext>
            </a:extLst>
          </p:cNvPr>
          <p:cNvSpPr/>
          <p:nvPr/>
        </p:nvSpPr>
        <p:spPr>
          <a:xfrm>
            <a:off x="1042568" y="3895344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mental model for DI, scopes, and middleware</a:t>
            </a:r>
            <a:endParaRPr lang="en-US" sz="1425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9B07DEF-11AD-87A8-91ED-8D3BB10B6E2E}"/>
              </a:ext>
            </a:extLst>
          </p:cNvPr>
          <p:cNvSpPr/>
          <p:nvPr/>
        </p:nvSpPr>
        <p:spPr>
          <a:xfrm>
            <a:off x="841400" y="4507992"/>
            <a:ext cx="5440680" cy="530352"/>
          </a:xfrm>
          <a:prstGeom prst="roundRect">
            <a:avLst>
              <a:gd name="adj" fmla="val 8621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A11C64-C9DE-4D73-6A78-1029CA4208F3}"/>
              </a:ext>
            </a:extLst>
          </p:cNvPr>
          <p:cNvSpPr/>
          <p:nvPr/>
        </p:nvSpPr>
        <p:spPr>
          <a:xfrm>
            <a:off x="1042568" y="468172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workshop paths: Minimal API and controller-based API</a:t>
            </a:r>
            <a:endParaRPr lang="en-US" sz="1425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9CF8EF9-268B-D148-501F-A6EF6085B883}"/>
              </a:ext>
            </a:extLst>
          </p:cNvPr>
          <p:cNvSpPr/>
          <p:nvPr/>
        </p:nvSpPr>
        <p:spPr>
          <a:xfrm>
            <a:off x="7315352" y="1572768"/>
            <a:ext cx="3703320" cy="3429000"/>
          </a:xfrm>
          <a:prstGeom prst="roundRect">
            <a:avLst>
              <a:gd name="adj" fmla="val 2667"/>
            </a:avLst>
          </a:prstGeom>
          <a:solidFill>
            <a:srgbClr val="13223B"/>
          </a:solidFill>
          <a:ln w="12700">
            <a:solidFill>
              <a:srgbClr val="1322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1E9B762-650B-C703-FCD6-0D6144A1A663}"/>
              </a:ext>
            </a:extLst>
          </p:cNvPr>
          <p:cNvSpPr/>
          <p:nvPr/>
        </p:nvSpPr>
        <p:spPr>
          <a:xfrm>
            <a:off x="749960" y="6172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41997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2698</Words>
  <Application>Microsoft Office PowerPoint</Application>
  <PresentationFormat>Widescreen</PresentationFormat>
  <Paragraphs>329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2 - ASP.NET Core API Basics</dc:title>
  <dc:subject>Day 2 training slides for .NET 10 and C#</dc:subject>
  <dc:creator>OpenAI</dc:creator>
  <cp:lastModifiedBy>Abdul  Rehman</cp:lastModifiedBy>
  <cp:revision>15</cp:revision>
  <dcterms:created xsi:type="dcterms:W3CDTF">2026-04-05T10:11:45Z</dcterms:created>
  <dcterms:modified xsi:type="dcterms:W3CDTF">2026-04-07T10:12:00Z</dcterms:modified>
</cp:coreProperties>
</file>