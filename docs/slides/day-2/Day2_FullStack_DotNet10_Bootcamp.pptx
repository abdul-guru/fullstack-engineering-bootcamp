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733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Full-Stack .NET 10 Bootcamp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7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10896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2336" y="33375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38912" y="111556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Backend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Properly with Controllers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39776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4D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backend endpoints into maintainable, reviewable, and scalable application structure through controllers, DTOs, services, validation, and clean HTTP responses.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3438144"/>
            <a:ext cx="585216" cy="182880"/>
          </a:xfrm>
          <a:prstGeom prst="roundRect">
            <a:avLst>
              <a:gd name="adj" fmla="val 30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345643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 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33856" y="3438144"/>
            <a:ext cx="658368" cy="182880"/>
          </a:xfrm>
          <a:prstGeom prst="roundRect">
            <a:avLst>
              <a:gd name="adj" fmla="val 30000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345643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47088" y="3438144"/>
            <a:ext cx="786384" cy="182880"/>
          </a:xfrm>
          <a:prstGeom prst="roundRect">
            <a:avLst>
              <a:gd name="adj" fmla="val 30000"/>
            </a:avLst>
          </a:prstGeom>
          <a:solidFill>
            <a:srgbClr val="FDECB5"/>
          </a:solidFill>
          <a:ln w="12700">
            <a:solidFill>
              <a:srgbClr val="FDEC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47088" y="345643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97480" y="3438144"/>
            <a:ext cx="530352" cy="182880"/>
          </a:xfrm>
          <a:prstGeom prst="roundRect">
            <a:avLst>
              <a:gd name="adj" fmla="val 30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345643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3438144"/>
            <a:ext cx="749808" cy="182880"/>
          </a:xfrm>
          <a:prstGeom prst="roundRect">
            <a:avLst>
              <a:gd name="adj" fmla="val 30000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45643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896112"/>
            <a:ext cx="3611880" cy="2907792"/>
          </a:xfrm>
          <a:prstGeom prst="roundRect">
            <a:avLst>
              <a:gd name="adj" fmla="val 2516"/>
            </a:avLst>
          </a:prstGeom>
          <a:solidFill>
            <a:srgbClr val="0D1F46"/>
          </a:solidFill>
          <a:ln w="12700">
            <a:solidFill>
              <a:srgbClr val="4C79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71232" y="1261872"/>
            <a:ext cx="2468880" cy="320040"/>
          </a:xfrm>
          <a:prstGeom prst="roundRect">
            <a:avLst>
              <a:gd name="adj" fmla="val 17143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1232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Request DTO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71232" y="1764792"/>
            <a:ext cx="2468880" cy="320040"/>
          </a:xfrm>
          <a:prstGeom prst="roundRect">
            <a:avLst>
              <a:gd name="adj" fmla="val 17143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1232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 Action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71232" y="2267712"/>
            <a:ext cx="2468880" cy="320040"/>
          </a:xfrm>
          <a:prstGeom prst="roundRect">
            <a:avLst>
              <a:gd name="adj" fmla="val 17143"/>
            </a:avLst>
          </a:prstGeom>
          <a:solidFill>
            <a:srgbClr val="E6F9E9"/>
          </a:solidFill>
          <a:ln w="12700">
            <a:solidFill>
              <a:srgbClr val="E6F9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71232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Decision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71232" y="2770632"/>
            <a:ext cx="2468880" cy="320040"/>
          </a:xfrm>
          <a:prstGeom prst="roundRect">
            <a:avLst>
              <a:gd name="adj" fmla="val 17143"/>
            </a:avLst>
          </a:prstGeom>
          <a:solidFill>
            <a:srgbClr val="FDECB5"/>
          </a:solidFill>
          <a:ln w="12700">
            <a:solidFill>
              <a:srgbClr val="FDEC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71232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/ 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0416" y="33101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9D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endpoints thin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315200" y="618134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A8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Onsite workshop · controllers first · DTOs and service separation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20624" y="651052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8E9A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Stack .NET 10 Bootcamp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established yesterday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starts from the shared mental model built on Day 1.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38912" y="1252728"/>
            <a:ext cx="47091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4447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WE ALREADY SHARE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4297680" cy="3063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Full-stack delivery is one connected flow, not separate frontend and backend worlds.
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feature moves through UI, API, service logic, persistence, and response feedback.
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code is not enough if the next developer cannot safely change it.
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structure causes bugs, duplicated logic, and weak code reviews.
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TaskFlow is the single application we will use across the entire week.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40680" y="1417320"/>
            <a:ext cx="0" cy="384048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5715000" y="1252728"/>
            <a:ext cx="598932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4447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WE ADD DISCIPLINE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0" y="1755648"/>
            <a:ext cx="2697480" cy="987552"/>
          </a:xfrm>
          <a:prstGeom prst="roundRect">
            <a:avLst>
              <a:gd name="adj" fmla="val 5556"/>
            </a:avLst>
          </a:prstGeom>
          <a:solidFill>
            <a:srgbClr val="E8F1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8653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Controller responsibility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076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97386"/>
                </a:solidFill>
              </a:rPr>
              <a:t>Receive HTTP input, delegate work, and return clear responses.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778240" y="1755648"/>
            <a:ext cx="2697480" cy="987552"/>
          </a:xfrm>
          <a:prstGeom prst="roundRect">
            <a:avLst>
              <a:gd name="adj" fmla="val 5556"/>
            </a:avLst>
          </a:prstGeom>
          <a:solidFill>
            <a:srgbClr val="DFF7F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8653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DTO contracts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1540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97386"/>
                </a:solidFill>
              </a:rPr>
              <a:t>Separate external API shape from persistence and internal details.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943600" y="2907792"/>
            <a:ext cx="2697480" cy="987552"/>
          </a:xfrm>
          <a:prstGeom prst="roundRect">
            <a:avLst>
              <a:gd name="adj" fmla="val 5556"/>
            </a:avLst>
          </a:prstGeom>
          <a:solidFill>
            <a:srgbClr val="FFF5D7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3017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Service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32552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97386"/>
                </a:solidFill>
              </a:rPr>
              <a:t>Move business rules and application decisions out of controllers.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778240" y="2907792"/>
            <a:ext cx="2697480" cy="987552"/>
          </a:xfrm>
          <a:prstGeom prst="roundRect">
            <a:avLst>
              <a:gd name="adj" fmla="val 5556"/>
            </a:avLst>
          </a:prstGeom>
          <a:solidFill>
            <a:srgbClr val="FDECF0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15400" y="3017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Validation + status codes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15400" y="32552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97386"/>
                </a:solidFill>
              </a:rPr>
              <a:t>Make API behavior predictable for users, testers, and the React client.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822960" y="5074920"/>
            <a:ext cx="10607040" cy="384048"/>
          </a:xfrm>
          <a:prstGeom prst="roundRect">
            <a:avLst>
              <a:gd name="adj" fmla="val 7143"/>
            </a:avLst>
          </a:prstGeom>
          <a:solidFill>
            <a:srgbClr val="081736"/>
          </a:solidFill>
          <a:ln w="12700">
            <a:solidFill>
              <a:srgbClr val="0817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157216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Day 2 is where the backend stops being a code dump and starts becoming a maintainable application surface.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Controller responsible for?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controller is the HTTP entry point—not the whole application.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834640" cy="4206240"/>
          </a:xfrm>
          <a:prstGeom prst="roundRect">
            <a:avLst>
              <a:gd name="adj" fmla="val 1935"/>
            </a:avLst>
          </a:prstGeom>
          <a:solidFill>
            <a:srgbClr val="081736"/>
          </a:solidFill>
          <a:ln w="12700">
            <a:solidFill>
              <a:srgbClr val="284D9E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007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responsibility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2468880"/>
            <a:ext cx="224028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the HTTP request.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or bind request data.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the correct service or application logic.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the result into an HTTP response.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easy to read and easy to review.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03320" y="1389888"/>
            <a:ext cx="7909560" cy="960120"/>
          </a:xfrm>
          <a:prstGeom prst="roundRect">
            <a:avLst>
              <a:gd name="adj" fmla="val 5714"/>
            </a:avLst>
          </a:prstGeom>
          <a:solidFill>
            <a:srgbClr val="E8F1FF"/>
          </a:solidFill>
          <a:ln w="12700">
            <a:solidFill>
              <a:srgbClr val="9EB8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13632" y="168249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Controllers should be narrow orchestration layers: accept input, delegate responsibility, return HTTP meaning.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269748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E8F1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50208" y="28163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Receive request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05072" y="3090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97386"/>
                </a:solidFill>
              </a:rPr>
              <a:t>Map route, headers, query, body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355080" y="269748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DFF7F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4808" y="28163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Call 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19672" y="3090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97386"/>
                </a:solidFill>
              </a:rPr>
              <a:t>Pass validated intent into application logic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869680" y="269748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FFF5D7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79408" y="28163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Return response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34272" y="3090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97386"/>
                </a:solidFill>
              </a:rPr>
              <a:t>Choose status codes and response shape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3886200" y="4480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When controllers stay thin, the codebase becomes predictable for reviewers, testers, and future maintainers.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4977885"/>
            <a:ext cx="68580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controller contains too many decisions, it becomes the first place that hurts as features grow.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thin controller is easier to read because each action shows the API contract at a glance.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not live inside a Controller?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Keeping the controller thin prevents transport logic from becoming the whole application.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3036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B7C5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581912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545336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Large business rules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80136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When every decision stays in the controller, behavior becomes hard to test and reuse.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23036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B7C5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55664" y="1581912"/>
            <a:ext cx="256032" cy="256032"/>
          </a:xfrm>
          <a:prstGeom prst="ellipse">
            <a:avLst/>
          </a:prstGeom>
          <a:solidFill>
            <a:srgbClr val="FF8A2A"/>
          </a:solidFill>
          <a:ln w="12700">
            <a:solidFill>
              <a:srgbClr val="FF8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545336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Direct MongoDB access everywhere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12280" y="180136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Transport logic and data access become tightly coupled and messy.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523036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B7C5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6384" y="2980944"/>
            <a:ext cx="256032" cy="256032"/>
          </a:xfrm>
          <a:prstGeom prst="ellipse">
            <a:avLst/>
          </a:prstGeom>
          <a:solidFill>
            <a:srgbClr val="F6C4D0"/>
          </a:solidFill>
          <a:ln w="12700">
            <a:solidFill>
              <a:srgbClr val="F6C4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4436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Repeated validation branches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2004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The API surface becomes inconsistent from endpoint to endpoint.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309360" y="2816352"/>
            <a:ext cx="523036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B7C5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2980944"/>
            <a:ext cx="256032" cy="256032"/>
          </a:xfrm>
          <a:prstGeom prst="ellipse">
            <a:avLst/>
          </a:prstGeom>
          <a:solidFill>
            <a:srgbClr val="A8D5FF"/>
          </a:solidFill>
          <a:ln w="12700">
            <a:solidFill>
              <a:srgbClr val="A8D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294436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Manual response construction for every path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12280" y="32004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Status codes, error shapes, and client expectations drift apart.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40080" y="4215384"/>
            <a:ext cx="523036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B7C5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6384" y="4379976"/>
            <a:ext cx="256032" cy="256032"/>
          </a:xfrm>
          <a:prstGeom prst="ellipse">
            <a:avLst/>
          </a:prstGeom>
          <a:solidFill>
            <a:srgbClr val="CDEFC5"/>
          </a:solidFill>
          <a:ln w="12700">
            <a:solidFill>
              <a:srgbClr val="CDEF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343400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Too much branching logic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59943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Controllers become long, fragile, and difficult to review.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309360" y="4215384"/>
            <a:ext cx="523036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B7C5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55664" y="4379976"/>
            <a:ext cx="256032" cy="256032"/>
          </a:xfrm>
          <a:prstGeom prst="ellipse">
            <a:avLst/>
          </a:prstGeom>
          <a:solidFill>
            <a:srgbClr val="FFE0B7"/>
          </a:solidFill>
          <a:ln w="12700">
            <a:solidFill>
              <a:srgbClr val="FFE0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4343400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Hidden side effects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459943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Unexpected work makes endpoints harder to reason about.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41248" y="5715000"/>
            <a:ext cx="10469880" cy="411480"/>
          </a:xfrm>
          <a:prstGeom prst="roundRect">
            <a:avLst>
              <a:gd name="adj" fmla="val 6667"/>
            </a:avLst>
          </a:prstGeom>
          <a:solidFill>
            <a:srgbClr val="FFF3D4"/>
          </a:solidFill>
          <a:ln w="12700">
            <a:solidFill>
              <a:srgbClr val="F0CF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815584"/>
            <a:ext cx="10104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If the controller decides everything, queries everything, validates everything, and formats everything, the boundary has already failed.</a:t>
            </a:r>
            <a:endParaRPr lang="en-US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clean controller flow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flow reduces debugging time and makes code reviews faster.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878242"/>
            <a:ext cx="1600200" cy="1325880"/>
          </a:xfrm>
          <a:prstGeom prst="roundRect">
            <a:avLst>
              <a:gd name="adj" fmla="val 4138"/>
            </a:avLst>
          </a:prstGeom>
          <a:solidFill>
            <a:srgbClr val="E8F1FF"/>
          </a:solidFill>
          <a:ln w="12700">
            <a:solidFill>
              <a:srgbClr val="9FB8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12513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Request DTO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47260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What the client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sends in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2313432" y="221657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FA4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926080" y="1878242"/>
            <a:ext cx="1600200" cy="1325880"/>
          </a:xfrm>
          <a:prstGeom prst="roundRect">
            <a:avLst>
              <a:gd name="adj" fmla="val 4138"/>
            </a:avLst>
          </a:prstGeom>
          <a:solidFill>
            <a:srgbClr val="DFF7F1"/>
          </a:solidFill>
          <a:ln w="12700">
            <a:solidFill>
              <a:srgbClr val="9FB8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99232" y="212513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Controller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35808" y="247260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Translate HTTP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into application intent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507992" y="221657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FA4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120640" y="1878242"/>
            <a:ext cx="1600200" cy="1325880"/>
          </a:xfrm>
          <a:prstGeom prst="roundRect">
            <a:avLst>
              <a:gd name="adj" fmla="val 4138"/>
            </a:avLst>
          </a:prstGeom>
          <a:solidFill>
            <a:srgbClr val="EAF7EC"/>
          </a:solidFill>
          <a:ln w="12700">
            <a:solidFill>
              <a:srgbClr val="9FB8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93792" y="212513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0368" y="247260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Business rules,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coordination, decisions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6702552" y="221657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FA4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0" y="1878242"/>
            <a:ext cx="1600200" cy="1325880"/>
          </a:xfrm>
          <a:prstGeom prst="roundRect">
            <a:avLst>
              <a:gd name="adj" fmla="val 4138"/>
            </a:avLst>
          </a:prstGeom>
          <a:solidFill>
            <a:srgbClr val="FFF3D8"/>
          </a:solidFill>
          <a:ln w="12700">
            <a:solidFill>
              <a:srgbClr val="9FB8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88352" y="212513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Repository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24928" y="247260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Persist and retrieve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application data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8897112" y="221657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FA4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509760" y="1878242"/>
            <a:ext cx="1600200" cy="1325880"/>
          </a:xfrm>
          <a:prstGeom prst="roundRect">
            <a:avLst>
              <a:gd name="adj" fmla="val 4138"/>
            </a:avLst>
          </a:prstGeom>
          <a:solidFill>
            <a:srgbClr val="E6F2FF"/>
          </a:solidFill>
          <a:ln w="12700">
            <a:solidFill>
              <a:srgbClr val="9FB8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82912" y="212513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Response DTO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19488" y="247260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What the client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receives back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914400" y="3889922"/>
            <a:ext cx="10149840" cy="18745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B6C4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43000" y="413681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7386"/>
                </a:solidFill>
              </a:rPr>
              <a:t>Responsibility view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4347122"/>
            <a:ext cx="96926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request DTO shapes the contract and keeps external data explicit.
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controller exposes HTTP behavior and stays readable because it does not own the business decisions.
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service owns the application behavior, while the repository owns storage-specific access patterns.
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response DTO gives the React client a clean, stable payload instead of leaking internal storage details.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DTO vs entity vs persistence model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contracts and storage models should not be treated as the same thing.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21792" y="1389888"/>
            <a:ext cx="3429000" cy="3474720"/>
          </a:xfrm>
          <a:prstGeom prst="roundRect">
            <a:avLst>
              <a:gd name="adj" fmla="val 1600"/>
            </a:avLst>
          </a:prstGeom>
          <a:solidFill>
            <a:srgbClr val="E8F1FF"/>
          </a:solidFill>
          <a:ln w="12700">
            <a:solidFill>
              <a:srgbClr val="9EB8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Request / Response DTO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16954"/>
            <a:ext cx="283464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what the client sends and receives.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API fields intentional and easier to evolve.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Avoids exposing internal IDs, timestamps, or persistence-only fields.
Makes the React client simpler because the contract is explicit.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389888"/>
            <a:ext cx="3429000" cy="3474720"/>
          </a:xfrm>
          <a:prstGeom prst="roundRect">
            <a:avLst>
              <a:gd name="adj" fmla="val 1600"/>
            </a:avLst>
          </a:prstGeom>
          <a:solidFill>
            <a:srgbClr val="EAF7EC"/>
          </a:solidFill>
          <a:ln w="12700">
            <a:solidFill>
              <a:srgbClr val="A7D9B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0288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Entity / domain model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90288" y="2198300"/>
            <a:ext cx="283464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Represents application state and behavior internally.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include defaults, timestamps, and fields not meant for the client.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change for internal reasons without changing the external API.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not be returned blindly just because it already exists.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5008" y="1389888"/>
            <a:ext cx="3429000" cy="3474720"/>
          </a:xfrm>
          <a:prstGeom prst="roundRect">
            <a:avLst>
              <a:gd name="adj" fmla="val 1600"/>
            </a:avLst>
          </a:prstGeom>
          <a:solidFill>
            <a:srgbClr val="FFF3D8"/>
          </a:solidFill>
          <a:ln w="12700">
            <a:solidFill>
              <a:srgbClr val="E5C56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2752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Persistence concerns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02752" y="2151645"/>
            <a:ext cx="283464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 can be influenced by database needs and storage conventions.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include keys, indexes, metadata, or serialization details.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stay behind repository or data access boundaries.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API contract should not be forced to mirror the database model.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188720" y="5257800"/>
            <a:ext cx="9784080" cy="420624"/>
          </a:xfrm>
          <a:prstGeom prst="roundRect">
            <a:avLst>
              <a:gd name="adj" fmla="val 6522"/>
            </a:avLst>
          </a:prstGeom>
          <a:solidFill>
            <a:srgbClr val="081736"/>
          </a:solidFill>
          <a:ln w="12700">
            <a:solidFill>
              <a:srgbClr val="0817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5358384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DTOs protect the API contract. Entities protect application behavior. Persistence models protect storage concerns.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 controller, strong service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transport concerns separate from application decisions.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74720" cy="4160520"/>
          </a:xfrm>
          <a:prstGeom prst="roundRect">
            <a:avLst>
              <a:gd name="adj" fmla="val 1579"/>
            </a:avLst>
          </a:prstGeom>
          <a:solidFill>
            <a:srgbClr val="081736"/>
          </a:solidFill>
          <a:ln w="12700">
            <a:solidFill>
              <a:srgbClr val="284D9E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007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Think first in two layers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27432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 layer: HTTP route, request binding, response semantics.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layer: business rules, decisions, orchestration, mapping, coordination.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business thinking stays in services, the easier endpoints are to review.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1554480"/>
            <a:ext cx="2926080" cy="3611880"/>
          </a:xfrm>
          <a:prstGeom prst="roundRect">
            <a:avLst>
              <a:gd name="adj" fmla="val 1875"/>
            </a:avLst>
          </a:prstGeom>
          <a:solidFill>
            <a:srgbClr val="E8F1FF"/>
          </a:solidFill>
          <a:ln w="12700">
            <a:solidFill>
              <a:srgbClr val="9EB8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Thin controller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240280"/>
            <a:ext cx="21031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input
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the service
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status code
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response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3639312"/>
            <a:ext cx="0" cy="621792"/>
          </a:xfrm>
          <a:prstGeom prst="line">
            <a:avLst/>
          </a:prstGeom>
          <a:noFill/>
          <a:ln w="12700">
            <a:solidFill>
              <a:srgbClr val="86A7E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349240" y="3794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97386"/>
                </a:solidFill>
              </a:rPr>
              <a:t>delegates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90688" y="1554480"/>
            <a:ext cx="3520440" cy="3611880"/>
          </a:xfrm>
          <a:prstGeom prst="roundRect">
            <a:avLst>
              <a:gd name="adj" fmla="val 1558"/>
            </a:avLst>
          </a:prstGeom>
          <a:solidFill>
            <a:srgbClr val="EAF7EC"/>
          </a:solidFill>
          <a:ln w="12700">
            <a:solidFill>
              <a:srgbClr val="A7D9B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28432" y="1783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Strong service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11312" y="2212848"/>
            <a:ext cx="256032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
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making
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creation / mapping
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coordination
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behavior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5440680"/>
            <a:ext cx="6629400" cy="420624"/>
          </a:xfrm>
          <a:prstGeom prst="roundRect">
            <a:avLst>
              <a:gd name="adj" fmla="val 6522"/>
            </a:avLst>
          </a:prstGeom>
          <a:solidFill>
            <a:srgbClr val="FFF3D8"/>
          </a:solidFill>
          <a:ln w="12700">
            <a:solidFill>
              <a:srgbClr val="E5C5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5541264"/>
            <a:ext cx="6263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</a:rPr>
              <a:t>Controllers should coordinate. Services should think.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Dependency Injection basics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Injection reduces rigidity and makes composition explicit.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017520" cy="39776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Without DI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237744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 create their own collaborators.
</a:t>
            </a:r>
            <a:endParaRPr lang="en-US" sz="1160" dirty="0"/>
          </a:p>
          <a:p>
            <a:pPr marL="152400" indent="-152400">
              <a:buSzPct val="100000"/>
              <a:buChar char="•"/>
            </a:pPr>
            <a:r>
              <a:rPr lang="en-US" sz="11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API layer becomes tightly coupled to concrete classes.
</a:t>
            </a:r>
            <a:endParaRPr lang="en-US" sz="1160" dirty="0"/>
          </a:p>
          <a:p>
            <a:pPr marL="152400" indent="-152400">
              <a:buSzPct val="100000"/>
              <a:buChar char="•"/>
            </a:pPr>
            <a:r>
              <a:rPr lang="en-US" sz="11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and replacement become harder.
</a:t>
            </a:r>
            <a:endParaRPr lang="en-US" sz="1160" dirty="0"/>
          </a:p>
          <a:p>
            <a:pPr marL="152400" indent="-152400">
              <a:buSzPct val="100000"/>
              <a:buChar char="•"/>
            </a:pPr>
            <a:r>
              <a:rPr lang="en-US" sz="11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Construction logic leaks into application code.</a:t>
            </a:r>
            <a:endParaRPr lang="en-US" sz="1160" dirty="0"/>
          </a:p>
        </p:txBody>
      </p:sp>
      <p:sp>
        <p:nvSpPr>
          <p:cNvPr id="7" name="Shape 5"/>
          <p:cNvSpPr/>
          <p:nvPr/>
        </p:nvSpPr>
        <p:spPr>
          <a:xfrm>
            <a:off x="3218688" y="1828800"/>
            <a:ext cx="0" cy="324612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1417320"/>
            <a:ext cx="786384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77640" y="1737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With DI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977640" y="23317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23500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41848" y="2340864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FA4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925312" y="23317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25312" y="23500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ITaskService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2340864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FA4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074152" y="23317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EAF7EC"/>
          </a:solidFill>
          <a:ln w="12700">
            <a:solidFill>
              <a:srgbClr val="EAF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74152" y="23500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TaskService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04120" y="2340864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FA4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0405872" y="233172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05872" y="23500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3154680"/>
            <a:ext cx="6949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controller depends on an abstraction instead of building dependencies itself.
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 happens at startup, which keeps responsibilities clearer at runtime.
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Swapping implementations or testing behavior becomes easier because the dependency boundary is explicit.
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 is not just about tests—it is about making the codebase less brittle as it grows.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early, fail clearly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is part of API reliability, not optional cleanup.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E8F1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6367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Required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18928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97386"/>
                </a:solidFill>
              </a:rPr>
              <a:t>Do not accept empty or missing essential fields.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DFF7F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82512" y="16367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Format / range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82512" y="18928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97386"/>
                </a:solidFill>
              </a:rPr>
              <a:t>Reject values that break simple rules before deeper logic runs.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FFF3D8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30540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Business validity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33101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97386"/>
                </a:solidFill>
              </a:rPr>
              <a:t>Some rules belong in the service because they depend on application meaning.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FDECF0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82512" y="30540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Clear error messages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82512" y="33101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97386"/>
                </a:solidFill>
              </a:rPr>
              <a:t>Help the client understand what failed and why.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868680" y="4691433"/>
            <a:ext cx="10515600" cy="137160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6C4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48920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7386"/>
                </a:solidFill>
              </a:rPr>
              <a:t>Strong validation habits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" y="5084064"/>
            <a:ext cx="98755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trust client input just because the UI already has checks.
</a:t>
            </a:r>
            <a:endParaRPr lang="en-US" sz="1060" dirty="0"/>
          </a:p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validation failures consistently so the React frontend can handle them cleanly.
</a:t>
            </a:r>
            <a:endParaRPr lang="en-US" sz="1060" dirty="0"/>
          </a:p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spreading validation randomly across every layer without a clear reason.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 right HTTP verb for the job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semantics help humans and clients understand intent faster.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E8F1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GET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77824" y="278892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97386"/>
                </a:solidFill>
              </a:rPr>
              <a:t>Read data or fetch a representation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3017520" y="19202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DFF7F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POST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45536" y="278892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97386"/>
                </a:solidFill>
              </a:rPr>
              <a:t>Create a new resource or trigger creation behavior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285232" y="19202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FFF3D8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76672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PUT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13248" y="278892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97386"/>
                </a:solidFill>
              </a:rPr>
              <a:t>Replace or update a full resource representation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552944" y="19202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FDECF0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44384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PATCH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80960" y="278892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97386"/>
                </a:solidFill>
              </a:rPr>
              <a:t>Apply a partial change when the contract is truly partial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820656" y="19202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EAF0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12096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DELETE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948672" y="278892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97386"/>
                </a:solidFill>
              </a:rPr>
              <a:t>Remove a resource or mark it deleted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68680" y="4434839"/>
            <a:ext cx="10424160" cy="12848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6C4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78992" y="47000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7386"/>
                </a:solidFill>
              </a:rPr>
              <a:t>Why this matters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901184"/>
            <a:ext cx="98755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verbs match intent, the frontend and testers can predict API behavior with less explanation.
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Semantics are part of the contract. Inconsistent verb usage usually signals deeper design confusion.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codes that matter most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most common response outcomes intentionally and consistently.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E8F1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6459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200 OK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1645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Successful read or successful action with a body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DFF7F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73952" y="16459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201 Created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38160" y="1645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New resource created; often return the created representation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FF3D8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29718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204 No Content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Successful update/delete with no response body needed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309360" y="283464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DECF0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29718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400 Bad Request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816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Client sent invalid data or malformed input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EAF0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2976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404 Not Found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4297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Requested resource does not exist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309360" y="416052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FE1E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73952" y="42976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500 Internal Server Error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38160" y="4297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Unexpected unhandled server failure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868680" y="5669280"/>
            <a:ext cx="10469880" cy="384048"/>
          </a:xfrm>
          <a:prstGeom prst="roundRect">
            <a:avLst>
              <a:gd name="adj" fmla="val 7143"/>
            </a:avLst>
          </a:prstGeom>
          <a:solidFill>
            <a:srgbClr val="081736"/>
          </a:solidFill>
          <a:ln w="12700">
            <a:solidFill>
              <a:srgbClr val="0817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760720"/>
            <a:ext cx="10104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You do not need every status code memorized. You do need predictable meaning across the API surface.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messy backend code looks like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bad controller usually works on day one and hurts on day twenty.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67208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270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6263640" cy="3749040"/>
          </a:xfrm>
          <a:prstGeom prst="rect">
            <a:avLst/>
          </a:prstGeom>
          <a:solidFill>
            <a:srgbClr val="FBFCFE"/>
          </a:solidFill>
          <a:ln>
            <a:solidFill>
              <a:srgbClr val="D7E0EE"/>
            </a:solidFill>
          </a:ln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HttpPost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CreateTaskRequest 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IsNullOrWhiteSpace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BadRequest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"Title missing"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TaskItem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Title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"New"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_taskRepository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"admin"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business rule here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79792" y="1325880"/>
            <a:ext cx="4160520" cy="44805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527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BECOMES PAINFUL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662672" y="1828800"/>
            <a:ext cx="361188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Validation, mapping, persistence, and business rules are mixed in one action.
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controller is coupled directly to repository behavior.
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endpoint returns the entity directly instead of a deliberate response contract.
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semantics are weak—creation returns OK even though a resource was created.
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requirements grow, every new rule makes the action harder to test and review.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better structure looks like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clarity, not ceremony for its own sake.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64008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27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5943600" cy="2880360"/>
          </a:xfrm>
          <a:prstGeom prst="rect">
            <a:avLst/>
          </a:prstGeom>
          <a:solidFill>
            <a:srgbClr val="FBFCFE"/>
          </a:solidFill>
          <a:ln>
            <a:solidFill>
              <a:srgbClr val="D7E0EE"/>
            </a:solidFill>
          </a:ln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HttpPost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TaskResponse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CreateTaskRequest 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IsNullOrWhiteSpace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BadRequest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message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"Title is required"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_taskService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CreatedAtAction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nameof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created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4864608"/>
            <a:ext cx="5943600" cy="658368"/>
          </a:xfrm>
          <a:prstGeom prst="roundRect">
            <a:avLst>
              <a:gd name="adj" fmla="val 8333"/>
            </a:avLst>
          </a:prstGeom>
          <a:solidFill>
            <a:srgbClr val="EAF7EC"/>
          </a:solidFill>
          <a:ln w="12700">
            <a:solidFill>
              <a:srgbClr val="A7D9B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50749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72033"/>
                </a:solidFill>
              </a:rPr>
              <a:t>Readable endpoint shape: request comes in, service handles behavior, response communicates HTTP meaning.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7178040" y="1325880"/>
            <a:ext cx="4434840" cy="452628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24928" y="15270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IS BETTER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88352" y="1828800"/>
            <a:ext cx="3749040" cy="2880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controller stays small enough to review in seconds.
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service owns the application behavior and can coordinate rules more cleanly.
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response contract is explicit and frontend-friendly.
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CreatedAtAction communicates that a resource was created and where it can be read back.
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pattern scales better when you add more endpoints, validations, or workflows.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will build today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TaskFlow API built with controllers, DTOs, validation, and service separation.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749040" cy="3611880"/>
          </a:xfrm>
          <a:prstGeom prst="roundRect">
            <a:avLst>
              <a:gd name="adj" fmla="val 1519"/>
            </a:avLst>
          </a:prstGeom>
          <a:solidFill>
            <a:srgbClr val="081736"/>
          </a:solidFill>
          <a:ln w="12700">
            <a:solidFill>
              <a:srgbClr val="284D9E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TaskFlow controller endpoints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87552" y="2240280"/>
            <a:ext cx="3035808" cy="310896"/>
          </a:xfrm>
          <a:prstGeom prst="roundRect">
            <a:avLst>
              <a:gd name="adj" fmla="val 1764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258568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/api/tasks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7552" y="2715768"/>
            <a:ext cx="3035808" cy="310896"/>
          </a:xfrm>
          <a:prstGeom prst="roundRect">
            <a:avLst>
              <a:gd name="adj" fmla="val 1764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73405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/api/tasks/{id}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87552" y="3191256"/>
            <a:ext cx="3035808" cy="310896"/>
          </a:xfrm>
          <a:prstGeom prst="roundRect">
            <a:avLst>
              <a:gd name="adj" fmla="val 17647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209544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/api/tasks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87552" y="3666744"/>
            <a:ext cx="3035808" cy="310896"/>
          </a:xfrm>
          <a:prstGeom prst="roundRect">
            <a:avLst>
              <a:gd name="adj" fmla="val 17647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68503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/api/tasks/{id}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7552" y="4142232"/>
            <a:ext cx="3035808" cy="310896"/>
          </a:xfrm>
          <a:prstGeom prst="roundRect">
            <a:avLst>
              <a:gd name="adj" fmla="val 17647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160520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/api/tasks/{id}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417320"/>
            <a:ext cx="6812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1783080"/>
            <a:ext cx="1508760" cy="310896"/>
          </a:xfrm>
          <a:prstGeom prst="roundRect">
            <a:avLst>
              <a:gd name="adj" fmla="val 1176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82880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033"/>
                </a:solidFill>
              </a:rPr>
              <a:t>Request models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6702552" y="182880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386"/>
                </a:solidFill>
              </a:rPr>
              <a:t>CreateTaskRequest, UpdateTaskRequest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2377440"/>
            <a:ext cx="1508760" cy="310896"/>
          </a:xfrm>
          <a:prstGeom prst="roundRect">
            <a:avLst>
              <a:gd name="adj" fmla="val 11765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42316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033"/>
                </a:solidFill>
              </a:rPr>
              <a:t>Response model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6702552" y="242316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386"/>
                </a:solidFill>
              </a:rPr>
              <a:t>TaskResponse returned intentionally to the client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83480" y="2971800"/>
            <a:ext cx="1508760" cy="310896"/>
          </a:xfrm>
          <a:prstGeom prst="roundRect">
            <a:avLst>
              <a:gd name="adj" fmla="val 1176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01752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033"/>
                </a:solidFill>
              </a:rPr>
              <a:t>Service boundary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6702552" y="301752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386"/>
                </a:solidFill>
              </a:rPr>
              <a:t>ITaskService + TaskService handle behavior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3566160"/>
            <a:ext cx="1508760" cy="310896"/>
          </a:xfrm>
          <a:prstGeom prst="roundRect">
            <a:avLst>
              <a:gd name="adj" fmla="val 11765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61188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033"/>
                </a:solidFill>
              </a:rPr>
              <a:t>Validation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6702552" y="361188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386"/>
                </a:solidFill>
              </a:rPr>
              <a:t>Title required, shape checks, error responses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83480" y="4160520"/>
            <a:ext cx="1508760" cy="310896"/>
          </a:xfrm>
          <a:prstGeom prst="roundRect">
            <a:avLst>
              <a:gd name="adj" fmla="val 1176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420624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033"/>
                </a:solidFill>
              </a:rPr>
              <a:t>HTTP semantics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6702552" y="420624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386"/>
                </a:solidFill>
              </a:rPr>
              <a:t>Created, NotFound, NoContent, BadRequest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05840" y="5321808"/>
            <a:ext cx="10149840" cy="384048"/>
          </a:xfrm>
          <a:prstGeom prst="roundRect">
            <a:avLst>
              <a:gd name="adj" fmla="val 7143"/>
            </a:avLst>
          </a:prstGeom>
          <a:solidFill>
            <a:srgbClr val="FFF3D8"/>
          </a:solidFill>
          <a:ln w="12700">
            <a:solidFill>
              <a:srgbClr val="E5C5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5422392"/>
            <a:ext cx="9829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2033"/>
                </a:solidFill>
              </a:rPr>
              <a:t>We are building only a small feature set, but we are building it with habits that survive real project growth.</a:t>
            </a:r>
            <a:endParaRPr lang="en-US" sz="108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success looks like today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day is successful when backend discipline becomes visible in both code and explanation.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48640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By end of session, participants should be able to: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66344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role and limits of a controller.
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DTOs from entities and persistence models.
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basic controller actions with cleaner structure.
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decisions to a service instead of packing logic into the action.
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more intentional status codes and validation responses.
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code smells in messy backend endpoints.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5120640" cy="4069080"/>
          </a:xfrm>
          <a:prstGeom prst="roundRect">
            <a:avLst>
              <a:gd name="adj" fmla="val 1348"/>
            </a:avLst>
          </a:prstGeom>
          <a:solidFill>
            <a:srgbClr val="081736"/>
          </a:solidFill>
          <a:ln w="12700">
            <a:solidFill>
              <a:srgbClr val="284D9E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12280" y="173736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Three signals of progress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84848" y="2240280"/>
            <a:ext cx="749808" cy="310896"/>
          </a:xfrm>
          <a:prstGeom prst="roundRect">
            <a:avLst>
              <a:gd name="adj" fmla="val 11765"/>
            </a:avLst>
          </a:prstGeom>
          <a:solidFill>
            <a:srgbClr val="CDEFC5"/>
          </a:solidFill>
          <a:ln w="12700">
            <a:solidFill>
              <a:srgbClr val="CDEF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4848" y="2286000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72033"/>
                </a:solidFill>
              </a:rPr>
              <a:t>Clarity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7699248" y="22768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9"/>
                </a:solidFill>
              </a:rPr>
              <a:t>People can explain where logic belongs.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84848" y="3035808"/>
            <a:ext cx="749808" cy="310896"/>
          </a:xfrm>
          <a:prstGeom prst="roundRect">
            <a:avLst>
              <a:gd name="adj" fmla="val 11765"/>
            </a:avLst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4848" y="308152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72033"/>
                </a:solidFill>
              </a:rPr>
              <a:t>Consistency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7699248" y="30723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9"/>
                </a:solidFill>
              </a:rPr>
              <a:t>Endpoints start using shared response and structure patterns.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84848" y="3831336"/>
            <a:ext cx="749808" cy="310896"/>
          </a:xfrm>
          <a:prstGeom prst="roundRect">
            <a:avLst>
              <a:gd name="adj" fmla="val 11765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387705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72033"/>
                </a:solidFill>
              </a:rPr>
              <a:t>Discipline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7699248" y="38679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9"/>
                </a:solidFill>
              </a:rPr>
              <a:t>The team begins to question fat controllers immediately.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987552"/>
            <a:ext cx="10497312" cy="4480560"/>
          </a:xfrm>
          <a:prstGeom prst="roundRect">
            <a:avLst>
              <a:gd name="adj" fmla="val 1224"/>
            </a:avLst>
          </a:prstGeom>
          <a:solidFill>
            <a:srgbClr val="081736"/>
          </a:solidFill>
          <a:ln w="12700">
            <a:solidFill>
              <a:srgbClr val="2E4E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Let’s build the API properly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61872" y="18836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0F1"/>
                </a:solidFill>
              </a:rPr>
              <a:t>Demo goals for the next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2240280"/>
            <a:ext cx="43891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AF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request and response DTOs for TaskFlow.
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AF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controller that stays narrow and readable.
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AF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behavior into a service boundary.
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AF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Exercise success and failure paths in Swagger/Postman.
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AF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 messy endpoint to a cleaner controller action.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3063240" cy="2788920"/>
          </a:xfrm>
          <a:prstGeom prst="roundRect">
            <a:avLst>
              <a:gd name="adj" fmla="val 1967"/>
            </a:avLst>
          </a:prstGeom>
          <a:solidFill>
            <a:srgbClr val="0E2453"/>
          </a:solidFill>
          <a:ln w="12700">
            <a:solidFill>
              <a:srgbClr val="4C79F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0" y="2084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Watch for these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three things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62672" y="2743200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62672" y="2761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3090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F0"/>
                </a:solidFill>
              </a:rPr>
              <a:t>Where does the request move next?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662672" y="3401568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62672" y="341985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37490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F0"/>
                </a:solidFill>
              </a:rPr>
              <a:t>Which layer owns the decision?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62672" y="4059936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40782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44074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F0"/>
                </a:solidFill>
              </a:rPr>
              <a:t>What happens when input is invalid?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63093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97386"/>
                </a:solidFill>
              </a:rPr>
              <a:t>Day 3 next: Minimal APIs, MongoDB, and controller comparison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 .NET Application Starts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Program.cs is the single entry point — understand it and everything else makes sense.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38912" y="1252728"/>
            <a:ext cx="47091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4447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PROGRAM.CS DOES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4297680" cy="3063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the builder with WebApplication.CreateBuilder(args).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Registers all services into the DI container (builder.Services).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Adds middleware in a specific order (app.UseX calls).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 listening on a port with app.Run().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line in Program.cs has a reason — nothing is decoration.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40680" y="1417320"/>
            <a:ext cx="0" cy="384048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5715000" y="1252728"/>
            <a:ext cx="598932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4447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MENTAL MODEL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0" y="1755648"/>
            <a:ext cx="2697480" cy="987552"/>
          </a:xfrm>
          <a:prstGeom prst="roundRect">
            <a:avLst>
              <a:gd name="adj" fmla="val 5556"/>
            </a:avLst>
          </a:prstGeom>
          <a:solidFill>
            <a:srgbClr val="E8F1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8653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Builder phase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076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97386"/>
                </a:solidFill>
              </a:rPr>
              <a:t>What tools and parts go on the shelves — service registrations.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778240" y="1755648"/>
            <a:ext cx="2697480" cy="987552"/>
          </a:xfrm>
          <a:prstGeom prst="roundRect">
            <a:avLst>
              <a:gd name="adj" fmla="val 5556"/>
            </a:avLst>
          </a:prstGeom>
          <a:solidFill>
            <a:srgbClr val="DFF7F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8653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App phase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1540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97386"/>
                </a:solidFill>
              </a:rPr>
              <a:t>What order work flows through the stations — middleware pipeline.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943600" y="2907792"/>
            <a:ext cx="2697480" cy="987552"/>
          </a:xfrm>
          <a:prstGeom prst="roundRect">
            <a:avLst>
              <a:gd name="adj" fmla="val 5556"/>
            </a:avLst>
          </a:prstGeom>
          <a:solidFill>
            <a:srgbClr val="FFF5D7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3017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Runtime behavior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32552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97386"/>
                </a:solidFill>
              </a:rPr>
              <a:t>If you skip a registration, runtime will tell you at the worst moment.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778240" y="2907792"/>
            <a:ext cx="2697480" cy="987552"/>
          </a:xfrm>
          <a:prstGeom prst="roundRect">
            <a:avLst>
              <a:gd name="adj" fmla="val 5556"/>
            </a:avLst>
          </a:prstGeom>
          <a:solidFill>
            <a:srgbClr val="FDECF0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15400" y="3017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First thing to read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15400" y="32552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97386"/>
                </a:solidFill>
              </a:rPr>
              <a:t>On any new project read Program.cs top to bottom — it tells you the architecture.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822960" y="5074920"/>
            <a:ext cx="10607040" cy="384048"/>
          </a:xfrm>
          <a:prstGeom prst="roundRect">
            <a:avLst>
              <a:gd name="adj" fmla="val 7143"/>
            </a:avLst>
          </a:prstGeom>
          <a:solidFill>
            <a:srgbClr val="081736"/>
          </a:solidFill>
          <a:ln w="12700">
            <a:solidFill>
              <a:srgbClr val="0817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157216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Program.cs is not boilerplate. It is the architecture diagram.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Middleware Pipeline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HTTP request passes through a chain of middleware — order is the architecture.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834640" cy="4206240"/>
          </a:xfrm>
          <a:prstGeom prst="roundRect">
            <a:avLst>
              <a:gd name="adj" fmla="val 1935"/>
            </a:avLst>
          </a:prstGeom>
          <a:solidFill>
            <a:srgbClr val="081736"/>
          </a:solidFill>
          <a:ln w="12700">
            <a:solidFill>
              <a:srgbClr val="284D9E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007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 Response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2468880"/>
            <a:ext cx="224028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enters from the top.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middleware can inspect, modify, short-circuit, or pass through.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travels back up the same chain in reverse.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of it as an onion — layers wrap around your endpoint.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order is a silent bug — the app starts fine but behaves wrong.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03320" y="1389888"/>
            <a:ext cx="7909560" cy="960120"/>
          </a:xfrm>
          <a:prstGeom prst="roundRect">
            <a:avLst>
              <a:gd name="adj" fmla="val 5714"/>
            </a:avLst>
          </a:prstGeom>
          <a:solidFill>
            <a:srgbClr val="E8F1FF"/>
          </a:solidFill>
          <a:ln w="12700">
            <a:solidFill>
              <a:srgbClr val="9EB8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13632" y="168249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Order matters: UseExceptionHandler → UseHttpsRedirection → UseRouting → UseAuth → MapControllers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269748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E8F1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50208" y="28163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Exception Handler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05072" y="3090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97386"/>
                </a:solidFill>
              </a:rPr>
              <a:t>Catch unhandled errors at the outermost layer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355080" y="269748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DFF7F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4808" y="28163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Routing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19672" y="3090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97386"/>
                </a:solidFill>
              </a:rPr>
              <a:t>Resolve which endpoint matches the URL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869680" y="269748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FFF5D7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79408" y="28163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Authorization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34272" y="3090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97386"/>
                </a:solidFill>
              </a:rPr>
              <a:t>Check identity and permissions before endpoint runs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3886200" y="4480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If authorization runs before routing, it runs on every request including 404s. Order is architecture.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4977885"/>
            <a:ext cx="68580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handler last means uncaught errors leak stack traces.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middleware pipeline is the first thing to debug when behavior is unexpected.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Dependency Injection — The Real Mental Model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 is not magic. It is a phone book: register once, look up anywhere.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017520" cy="39776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Service Lifetimes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237744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Transient — new instance every time. Use for stateless helpers.</a:t>
            </a:r>
            <a:endParaRPr lang="en-US" sz="1160" dirty="0"/>
          </a:p>
          <a:p>
            <a:pPr marL="152400" indent="-152400">
              <a:buSzPct val="100000"/>
              <a:buChar char="•"/>
            </a:pPr>
            <a:r>
              <a:rPr lang="en-US" sz="11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Scoped — one instance per HTTP request. Use for services holding request state.</a:t>
            </a:r>
            <a:endParaRPr lang="en-US" sz="1160" dirty="0"/>
          </a:p>
          <a:p>
            <a:pPr marL="152400" indent="-152400">
              <a:buSzPct val="100000"/>
              <a:buChar char="•"/>
            </a:pPr>
            <a:r>
              <a:rPr lang="en-US" sz="11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Singleton — one instance for app lifetime. Use for caches, config, HTTP clients.</a:t>
            </a:r>
            <a:endParaRPr lang="en-US" sz="1160" dirty="0"/>
          </a:p>
          <a:p>
            <a:pPr marL="152400" indent="-152400">
              <a:buSzPct val="100000"/>
              <a:buChar char="•"/>
            </a:pPr>
            <a:r>
              <a:rPr lang="en-US" sz="11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wrong and the bug is invisible until production.</a:t>
            </a:r>
            <a:endParaRPr lang="en-US" sz="1160" dirty="0"/>
          </a:p>
        </p:txBody>
      </p:sp>
      <p:sp>
        <p:nvSpPr>
          <p:cNvPr id="7" name="Shape 5"/>
          <p:cNvSpPr/>
          <p:nvPr/>
        </p:nvSpPr>
        <p:spPr>
          <a:xfrm>
            <a:off x="3218688" y="1828800"/>
            <a:ext cx="0" cy="324612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1417320"/>
            <a:ext cx="786384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77640" y="1737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Practical Rules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977640" y="23317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23500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41848" y="2340864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FA4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925312" y="23317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25312" y="23500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2340864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FA4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074152" y="23317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EAF7EC"/>
          </a:solidFill>
          <a:ln w="12700">
            <a:solidFill>
              <a:srgbClr val="EAF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74152" y="23500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04120" y="2340864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FA4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0405872" y="233172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05872" y="23500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3154680"/>
            <a:ext cx="6949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AddScoped&lt;ITaskService, TaskService&gt;() in Program.cs — register once.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Constructor injection in the controller — container resolves automatically.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use new TaskService() when DI is available — it bypasses the container.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think: what is the lifetime of the data this service holds?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Configuration and the Options Pattern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hardcode values. Never scatter config reads across random files.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21792" y="1389888"/>
            <a:ext cx="3429000" cy="3474720"/>
          </a:xfrm>
          <a:prstGeom prst="roundRect">
            <a:avLst>
              <a:gd name="adj" fmla="val 1600"/>
            </a:avLst>
          </a:prstGeom>
          <a:solidFill>
            <a:srgbClr val="E8F1FF"/>
          </a:solidFill>
          <a:ln w="12700">
            <a:solidFill>
              <a:srgbClr val="9EB8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Configuration Layers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16954"/>
            <a:ext cx="283464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appsettings.json — default values checked into source control.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appsettings.{Environment}.json — overrides per environment.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variables — override everything, set by deployment.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389888"/>
            <a:ext cx="3429000" cy="3474720"/>
          </a:xfrm>
          <a:prstGeom prst="roundRect">
            <a:avLst>
              <a:gd name="adj" fmla="val 1600"/>
            </a:avLst>
          </a:prstGeom>
          <a:solidFill>
            <a:srgbClr val="EAF7EC"/>
          </a:solidFill>
          <a:ln w="12700">
            <a:solidFill>
              <a:srgbClr val="A7D9B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0288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Options Pattern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90288" y="2198300"/>
            <a:ext cx="283464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POCO class that matches a config section shape.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with builder.Services.Configure&lt;T&gt;(section).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 IOptions&lt;T&gt; wherever the value is needed.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call Configuration["key"] in a controller — that is a code smell.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5008" y="1389888"/>
            <a:ext cx="3429000" cy="3474720"/>
          </a:xfrm>
          <a:prstGeom prst="roundRect">
            <a:avLst>
              <a:gd name="adj" fmla="val 1600"/>
            </a:avLst>
          </a:prstGeom>
          <a:solidFill>
            <a:srgbClr val="FFF3D8"/>
          </a:solidFill>
          <a:ln w="12700">
            <a:solidFill>
              <a:srgbClr val="E5C56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2752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User Secrets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02752" y="2151645"/>
            <a:ext cx="283464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dev only, never committed to source control.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 can be influenced by deployment needs.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stay behind a typed options boundary.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188720" y="5257800"/>
            <a:ext cx="9784080" cy="420624"/>
          </a:xfrm>
          <a:prstGeom prst="roundRect">
            <a:avLst>
              <a:gd name="adj" fmla="val 6522"/>
            </a:avLst>
          </a:prstGeom>
          <a:solidFill>
            <a:srgbClr val="081736"/>
          </a:solidFill>
          <a:ln w="12700">
            <a:solidFill>
              <a:srgbClr val="0817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5358384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Typed configuration prevents typos, enables validation, and makes intent visible.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C# Keywords That Shape How You Think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not trivia — each keyword changes how memory, scope, and intent work.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74720" cy="4160520"/>
          </a:xfrm>
          <a:prstGeom prst="roundRect">
            <a:avLst>
              <a:gd name="adj" fmla="val 1579"/>
            </a:avLst>
          </a:prstGeom>
          <a:solidFill>
            <a:srgbClr val="081736"/>
          </a:solidFill>
          <a:ln w="12700">
            <a:solidFill>
              <a:srgbClr val="284D9E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007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Type and Memory keywords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27432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— reference type, heap. Your default for services and entities.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 — value type, stack. Use for small data like coordinates.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6ED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— reference type with value equality. Perfect for DTOs.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1554480"/>
            <a:ext cx="2926080" cy="3611880"/>
          </a:xfrm>
          <a:prstGeom prst="roundRect">
            <a:avLst>
              <a:gd name="adj" fmla="val 1875"/>
            </a:avLst>
          </a:prstGeom>
          <a:solidFill>
            <a:srgbClr val="E8F1FF"/>
          </a:solidFill>
          <a:ln w="12700">
            <a:solidFill>
              <a:srgbClr val="9EB8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Access and Safety keywords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240280"/>
            <a:ext cx="21031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readonly — field only set in constructor. Prevents accidental mutation.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sealed — class cannot be inherited. Prefer sealed by default.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 — property only set during initialization. Combines with records.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— must be set at creation. Compiler enforces completeness.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3639312"/>
            <a:ext cx="0" cy="621792"/>
          </a:xfrm>
          <a:prstGeom prst="line">
            <a:avLst/>
          </a:prstGeom>
          <a:noFill/>
          <a:ln w="12700">
            <a:solidFill>
              <a:srgbClr val="86A7E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349240" y="3794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97386"/>
                </a:solidFill>
              </a:rPr>
              <a:t>communicates intent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90688" y="1554480"/>
            <a:ext cx="3520440" cy="3611880"/>
          </a:xfrm>
          <a:prstGeom prst="roundRect">
            <a:avLst>
              <a:gd name="adj" fmla="val 1558"/>
            </a:avLst>
          </a:prstGeom>
          <a:solidFill>
            <a:srgbClr val="EAF7EC"/>
          </a:solidFill>
          <a:ln w="12700">
            <a:solidFill>
              <a:srgbClr val="A7D9B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28432" y="1783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Practical Impact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11312" y="2212848"/>
            <a:ext cx="256032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 — lets compiler decide type. Use when right-hand side is obvious.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vs class: use record when equality matters, class when identity matters.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const vs static readonly: const is compile-time, static readonly is runtime.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keyword you choose communicates intent to the next developer.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deliberately — the compiler is your first code reviewer.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5440680"/>
            <a:ext cx="6629400" cy="420624"/>
          </a:xfrm>
          <a:prstGeom prst="roundRect">
            <a:avLst>
              <a:gd name="adj" fmla="val 6522"/>
            </a:avLst>
          </a:prstGeom>
          <a:solidFill>
            <a:srgbClr val="FFF3D8"/>
          </a:solidFill>
          <a:ln w="12700">
            <a:solidFill>
              <a:srgbClr val="E5C5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5541264"/>
            <a:ext cx="6263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</a:rPr>
              <a:t>Every keyword communicates intent. Choose deliberately.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Interfaces — Contracts, Not Inheritance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interface says what something can do. A class says how it does it.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3036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B7C5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581912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545336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Defines behavior shape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80136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Has no implementation — just method signatures and return types.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23036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B7C5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55664" y="1581912"/>
            <a:ext cx="256032" cy="256032"/>
          </a:xfrm>
          <a:prstGeom prst="ellipse">
            <a:avLst/>
          </a:prstGeom>
          <a:solidFill>
            <a:srgbClr val="FF8A2A"/>
          </a:solidFill>
          <a:ln w="12700">
            <a:solidFill>
              <a:srgbClr val="FF8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545336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Enables DI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12280" y="180136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Register interface, resolve concrete. The caller never knows which class.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523036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B7C5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6384" y="2980944"/>
            <a:ext cx="256032" cy="256032"/>
          </a:xfrm>
          <a:prstGeom prst="ellipse">
            <a:avLst/>
          </a:prstGeom>
          <a:solidFill>
            <a:srgbClr val="F6C4D0"/>
          </a:solidFill>
          <a:ln w="12700">
            <a:solidFill>
              <a:srgbClr val="F6C4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4436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Enables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2004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Swap real service for a fake. Test behavior without real database.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309360" y="2816352"/>
            <a:ext cx="523036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B7C5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2980944"/>
            <a:ext cx="256032" cy="256032"/>
          </a:xfrm>
          <a:prstGeom prst="ellipse">
            <a:avLst/>
          </a:prstGeom>
          <a:solidFill>
            <a:srgbClr val="A8D5FF"/>
          </a:solidFill>
          <a:ln w="12700">
            <a:solidFill>
              <a:srgbClr val="A8D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294436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API stability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12280" y="32004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Change the implementation without changing the callers.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40080" y="4215384"/>
            <a:ext cx="523036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B7C5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6384" y="4379976"/>
            <a:ext cx="256032" cy="256032"/>
          </a:xfrm>
          <a:prstGeom prst="ellipse">
            <a:avLst/>
          </a:prstGeom>
          <a:solidFill>
            <a:srgbClr val="CDEFC5"/>
          </a:solidFill>
          <a:ln w="12700">
            <a:solidFill>
              <a:srgbClr val="CDEF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343400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When NOT to create one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59943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For DTOs, records, or value objects. They are data, not behavior.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309360" y="4215384"/>
            <a:ext cx="523036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B7C5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55664" y="4379976"/>
            <a:ext cx="256032" cy="256032"/>
          </a:xfrm>
          <a:prstGeom prst="ellipse">
            <a:avLst/>
          </a:prstGeom>
          <a:solidFill>
            <a:srgbClr val="FFE0B7"/>
          </a:solidFill>
          <a:ln w="12700">
            <a:solidFill>
              <a:srgbClr val="FFE0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4343400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The anti-pattern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459943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One interface per class always is ceremony, not engineering.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41248" y="5715000"/>
            <a:ext cx="10469880" cy="411480"/>
          </a:xfrm>
          <a:prstGeom prst="roundRect">
            <a:avLst>
              <a:gd name="adj" fmla="val 6667"/>
            </a:avLst>
          </a:prstGeom>
          <a:solidFill>
            <a:srgbClr val="FFF3D4"/>
          </a:solidFill>
          <a:ln w="12700">
            <a:solidFill>
              <a:srgbClr val="F0CF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815584"/>
            <a:ext cx="10104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Create an interface when a service will be injected via DI or when you want to swap behavior in tests.</a:t>
            </a:r>
            <a:endParaRPr lang="en-US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OOP Principles — What Changes Your Code Today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Forget textbook definitions. Here is what each principle actually prevents.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E8F1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6367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Single Responsibility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18928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97386"/>
                </a:solidFill>
              </a:rPr>
              <a:t>One class, one reason to change. Can you describe it in one sentence without "and"?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DFF7F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82512" y="16367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Dependency Inversion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82512" y="18928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97386"/>
                </a:solidFill>
              </a:rPr>
              <a:t>Depend on abstractions. Controller depends on ITaskService, not TaskService.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FFF3D8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30540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Open/Closed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33101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97386"/>
                </a:solidFill>
              </a:rPr>
              <a:t>Add behavior by adding classes, not editing existing ones. Middleware is this principle.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5074920" cy="1024128"/>
          </a:xfrm>
          <a:prstGeom prst="roundRect">
            <a:avLst>
              <a:gd name="adj" fmla="val 5357"/>
            </a:avLst>
          </a:prstGeom>
          <a:solidFill>
            <a:srgbClr val="FDECF0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82512" y="30540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Clear error messages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82512" y="33101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97386"/>
                </a:solidFill>
              </a:rPr>
              <a:t>Tell the developer what went wrong and why — not just that something failed.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868680" y="4691433"/>
            <a:ext cx="10515600" cy="137160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6C4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48920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7386"/>
                </a:solidFill>
              </a:rPr>
              <a:t>Why this matters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" y="5084064"/>
            <a:ext cx="98755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not theory. They are why your code review takes 5 minutes or 50.</a:t>
            </a:r>
            <a:endParaRPr lang="en-US" sz="1060" dirty="0"/>
          </a:p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Violation is invisible at first and expensive later.</a:t>
            </a:r>
            <a:endParaRPr lang="en-US" sz="1060" dirty="0"/>
          </a:p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principle is a shortcut to fewer bugs and faster reviews.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 Clauses — Stop Nesting, Start Returning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number one technique for readable methods that experienced developers use instinctively.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67208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270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— Nested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6263640" cy="3749040"/>
          </a:xfrm>
          <a:prstGeom prst="rect">
            <a:avLst/>
          </a:prstGeom>
          <a:solidFill>
            <a:srgbClr val="FBFCFE"/>
          </a:solidFill>
          <a:ln>
            <a:solidFill>
              <a:srgbClr val="D7E0EE"/>
            </a:solidFill>
          </a:ln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"{id}"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IActionResult GetTask(string id)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(id != null)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task = _repo.Find(id);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(task != null)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Ok(MapToResponse(task));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NotFound();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79792" y="1325880"/>
            <a:ext cx="4160520" cy="44805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527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— Guard Clauses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662672" y="1828800"/>
            <a:ext cx="361188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(string.IsNullOrEmpty(id)) return BadRequest();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 task = _repo.Find(id);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(task is null) return NotFound();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Ok(MapToResponse(task));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guard handles one invalid case and exits. Happy path stays flat.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Composition Over Inheritance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Inheritance creates rigid trees. Composition creates flexible systems.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64008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27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INHERITANCE TRAP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5943600" cy="2880360"/>
          </a:xfrm>
          <a:prstGeom prst="rect">
            <a:avLst/>
          </a:prstGeom>
          <a:solidFill>
            <a:srgbClr val="FBFCFE"/>
          </a:solidFill>
          <a:ln>
            <a:solidFill>
              <a:srgbClr val="D7E0EE"/>
            </a:solidFill>
          </a:ln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BaseController → ApiController → TaskController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the base? Every child breaks.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 behavior from two parents? C# says no.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end up with "God base classes."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 requires the entire chain.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4864608"/>
            <a:ext cx="5943600" cy="658368"/>
          </a:xfrm>
          <a:prstGeom prst="roundRect">
            <a:avLst>
              <a:gd name="adj" fmla="val 8333"/>
            </a:avLst>
          </a:prstGeom>
          <a:solidFill>
            <a:srgbClr val="EAF7EC"/>
          </a:solidFill>
          <a:ln w="12700">
            <a:solidFill>
              <a:srgbClr val="A7D9B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50749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72033"/>
                </a:solidFill>
              </a:rPr>
              <a:t>Build with parts, not parents. Each dependency is independent, testable, replaceable.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7178040" y="1325880"/>
            <a:ext cx="4434840" cy="452628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24928" y="15270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 APPROACH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88352" y="1828800"/>
            <a:ext cx="3749040" cy="2880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TaskController receives ITaskService, ILogger, IValidator via DI.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dependency is independent and replaceable.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new behavior? Inject a new service. No hierarchy change.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Rule: if you type ": BaseX", stop and ask if injection is better.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Favored by every modern framework: ASP.NET Core, React, Angular.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Immutability as Default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fewer things that can change, the fewer bugs that can hide.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878242"/>
            <a:ext cx="1600200" cy="1325880"/>
          </a:xfrm>
          <a:prstGeom prst="roundRect">
            <a:avLst>
              <a:gd name="adj" fmla="val 4138"/>
            </a:avLst>
          </a:prstGeom>
          <a:solidFill>
            <a:srgbClr val="E8F1FF"/>
          </a:solidFill>
          <a:ln w="12700">
            <a:solidFill>
              <a:srgbClr val="9FB8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12513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record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47260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Value equality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built in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2313432" y="221657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FA4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926080" y="1878242"/>
            <a:ext cx="1600200" cy="1325880"/>
          </a:xfrm>
          <a:prstGeom prst="roundRect">
            <a:avLst>
              <a:gd name="adj" fmla="val 4138"/>
            </a:avLst>
          </a:prstGeom>
          <a:solidFill>
            <a:srgbClr val="DFF7F1"/>
          </a:solidFill>
          <a:ln w="12700">
            <a:solidFill>
              <a:srgbClr val="9FB8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99232" y="212513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init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35808" y="247260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Set only at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creation time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507992" y="221657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FA4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120640" y="1878242"/>
            <a:ext cx="1600200" cy="1325880"/>
          </a:xfrm>
          <a:prstGeom prst="roundRect">
            <a:avLst>
              <a:gd name="adj" fmla="val 4138"/>
            </a:avLst>
          </a:prstGeom>
          <a:solidFill>
            <a:srgbClr val="EAF7EC"/>
          </a:solidFill>
          <a:ln w="12700">
            <a:solidFill>
              <a:srgbClr val="9FB8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93792" y="212513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readonly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0368" y="247260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Prevents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reassignment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6702552" y="221657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FA4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0" y="1878242"/>
            <a:ext cx="1600200" cy="1325880"/>
          </a:xfrm>
          <a:prstGeom prst="roundRect">
            <a:avLst>
              <a:gd name="adj" fmla="val 4138"/>
            </a:avLst>
          </a:prstGeom>
          <a:solidFill>
            <a:srgbClr val="FFF3D8"/>
          </a:solidFill>
          <a:ln w="12700">
            <a:solidFill>
              <a:srgbClr val="9FB8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88352" y="212513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with { }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24928" y="247260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Create new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from existing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8897112" y="221657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FA4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509760" y="1878242"/>
            <a:ext cx="1600200" cy="1325880"/>
          </a:xfrm>
          <a:prstGeom prst="roundRect">
            <a:avLst>
              <a:gd name="adj" fmla="val 4138"/>
            </a:avLst>
          </a:prstGeom>
          <a:solidFill>
            <a:srgbClr val="E6F2FF"/>
          </a:solidFill>
          <a:ln w="12700">
            <a:solidFill>
              <a:srgbClr val="9FB8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82912" y="212513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Safe data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19488" y="247260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Immutable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697386"/>
                </a:solidFill>
              </a:rPr>
              <a:t>by design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914400" y="3889922"/>
            <a:ext cx="10149840" cy="18745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B6C4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43000" y="413681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7386"/>
                </a:solidFill>
              </a:rPr>
              <a:t>Practical impact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4347122"/>
            <a:ext cx="96926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record instead of class for DTOs — equality and immutability built in.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init instead of set — writable only at creation time.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readonly on fields — compiler prevents reassignment after construction.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new objects instead of modifying existing ones: task with { Status = "Done" }.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Matching — Eliminate Branching Noise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C# gives you tools to write conditions that read like specifications.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E8F1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switch expression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77824" y="278892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97386"/>
                </a:solidFill>
              </a:rPr>
              <a:t>Exhaustive, compact. Compiler warns if you miss a case.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3017520" y="19202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DFF7F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property pattern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45536" y="278892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97386"/>
                </a:solidFill>
              </a:rPr>
              <a:t>Check nested properties without temp variables or null checks.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285232" y="19202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FFF3D8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76672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is keyword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13248" y="278892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97386"/>
                </a:solidFill>
              </a:rPr>
              <a:t>Type test and cast in one expression. No more "as" then null check.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552944" y="19202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FDECF0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44384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when clause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80960" y="278892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97386"/>
                </a:solidFill>
              </a:rPr>
              <a:t>Add conditions to switch arms for complex business rules.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820656" y="19202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EAF0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12096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discard _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948672" y="278892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97386"/>
                </a:solidFill>
              </a:rPr>
              <a:t>Explicit "I do not care about this case" — default handler.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68680" y="4434839"/>
            <a:ext cx="10424160" cy="12848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6C4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78992" y="47000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7386"/>
                </a:solidFill>
              </a:rPr>
              <a:t>Why this matters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901184"/>
            <a:ext cx="98755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expressions read like rule tables — reviewers verify behavior in seconds.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 services for business rules, in controllers for response decisions.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Naming That Communicates Intent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names make code self-documenting. Bad names require comments and meetings.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E8F1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6459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GetTaskById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1645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Tells you what it returns and what it needs.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DFF7F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73952" y="16459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Process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38160" y="1645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Tells you nothing. Process what? For whom?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FF3D8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29718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taskToUpdate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Variable tells you which task and why you have it.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309360" y="283464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DECF0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29718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temp, data, result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816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Generic noise that forces re-reading every time.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EAF0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2976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isOverdue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4297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Boolean reads as English. Immediately clear.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309360" y="416052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FE1E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73952" y="42976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TaskHelper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38160" y="4297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97386"/>
                </a:solidFill>
              </a:rPr>
              <a:t>Unclear boundary. Grows into an unstructured dump.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868680" y="5669280"/>
            <a:ext cx="10469880" cy="384048"/>
          </a:xfrm>
          <a:prstGeom prst="roundRect">
            <a:avLst>
              <a:gd name="adj" fmla="val 7143"/>
            </a:avLst>
          </a:prstGeom>
          <a:solidFill>
            <a:srgbClr val="081736"/>
          </a:solidFill>
          <a:ln w="12700">
            <a:solidFill>
              <a:srgbClr val="0817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760720"/>
            <a:ext cx="10104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Naming is the first thing a reviewer reads, the first thing a debugger searches, and the first thing a new team member tries to understand.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Async/Await — What Actually Happens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does not mean parallel. It means "do not block the thread while waiting."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38912" y="1252728"/>
            <a:ext cx="47091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4447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THREAD MODEL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4297680" cy="3063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web server has a limited thread pool (e.g., 100 threads).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Synchronous DB call: thread sits idle waiting for the database.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DB call: thread returns to the pool, picks up other requests.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the DB responds, a thread resumes your code.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async/await is about throughput, not speed of a single request.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40680" y="1417320"/>
            <a:ext cx="0" cy="384048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5715000" y="1252728"/>
            <a:ext cx="598932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4447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RULES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0" y="1755648"/>
            <a:ext cx="2697480" cy="987552"/>
          </a:xfrm>
          <a:prstGeom prst="roundRect">
            <a:avLst>
              <a:gd name="adj" fmla="val 5556"/>
            </a:avLst>
          </a:prstGeom>
          <a:solidFill>
            <a:srgbClr val="E8F1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8653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Every I/O call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076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97386"/>
                </a:solidFill>
              </a:rPr>
              <a:t>DB, HTTP, file — should be awaited. No exceptions.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778240" y="1755648"/>
            <a:ext cx="2697480" cy="987552"/>
          </a:xfrm>
          <a:prstGeom prst="roundRect">
            <a:avLst>
              <a:gd name="adj" fmla="val 5556"/>
            </a:avLst>
          </a:prstGeom>
          <a:solidFill>
            <a:srgbClr val="DFF7F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8653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Never .Result or .Wait()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1540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97386"/>
                </a:solidFill>
              </a:rPr>
              <a:t>It deadlocks the thread pool. This is the most common async mistake.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943600" y="2907792"/>
            <a:ext cx="2697480" cy="987552"/>
          </a:xfrm>
          <a:prstGeom prst="roundRect">
            <a:avLst>
              <a:gd name="adj" fmla="val 5556"/>
            </a:avLst>
          </a:prstGeom>
          <a:solidFill>
            <a:srgbClr val="FFF5D7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3017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async Task not async void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32552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97386"/>
                </a:solidFill>
              </a:rPr>
              <a:t>void swallows exceptions. Only use void for event handlers.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778240" y="2907792"/>
            <a:ext cx="2697480" cy="987552"/>
          </a:xfrm>
          <a:prstGeom prst="roundRect">
            <a:avLst>
              <a:gd name="adj" fmla="val 5556"/>
            </a:avLst>
          </a:prstGeom>
          <a:solidFill>
            <a:srgbClr val="FDECF0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15400" y="3017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Do not wrap CPU in Task.Run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15400" y="32552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97386"/>
                </a:solidFill>
              </a:rPr>
              <a:t>Inside a web request it wastes a thread instead of freeing one.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822960" y="5074920"/>
            <a:ext cx="10607040" cy="384048"/>
          </a:xfrm>
          <a:prstGeom prst="roundRect">
            <a:avLst>
              <a:gd name="adj" fmla="val 7143"/>
            </a:avLst>
          </a:prstGeom>
          <a:solidFill>
            <a:srgbClr val="081736"/>
          </a:solidFill>
          <a:ln w="12700">
            <a:solidFill>
              <a:srgbClr val="0817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157216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If it touches the network or disk, it must be async.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Techniques That Compound Over a Career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habits, not features. Five minutes to learn, a lifetime to master.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749040" cy="3611880"/>
          </a:xfrm>
          <a:prstGeom prst="roundRect">
            <a:avLst>
              <a:gd name="adj" fmla="val 1519"/>
            </a:avLst>
          </a:prstGeom>
          <a:solidFill>
            <a:srgbClr val="081736"/>
          </a:solidFill>
          <a:ln w="12700">
            <a:solidFill>
              <a:srgbClr val="284D9E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Fail Fast, Fail Loud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87552" y="2240280"/>
            <a:ext cx="3035808" cy="310896"/>
          </a:xfrm>
          <a:prstGeom prst="roundRect">
            <a:avLst>
              <a:gd name="adj" fmla="val 1764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258568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Throw ArgumentNullException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7552" y="2715768"/>
            <a:ext cx="3035808" cy="310896"/>
          </a:xfrm>
          <a:prstGeom prst="roundRect">
            <a:avLst>
              <a:gd name="adj" fmla="val 17647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73405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returning null that someone else has to check.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87552" y="3191256"/>
            <a:ext cx="3035808" cy="310896"/>
          </a:xfrm>
          <a:prstGeom prst="roundRect">
            <a:avLst>
              <a:gd name="adj" fmla="val 17647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209544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at boundaries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87552" y="3666744"/>
            <a:ext cx="3035808" cy="310896"/>
          </a:xfrm>
          <a:prstGeom prst="roundRect">
            <a:avLst>
              <a:gd name="adj" fmla="val 17647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68503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entry and external service calls. Trust inside the boundary.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7552" y="4142232"/>
            <a:ext cx="3035808" cy="310896"/>
          </a:xfrm>
          <a:prstGeom prst="roundRect">
            <a:avLst>
              <a:gd name="adj" fmla="val 17647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160520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Explicit Over Clever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417320"/>
            <a:ext cx="6812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1783080"/>
            <a:ext cx="1508760" cy="310896"/>
          </a:xfrm>
          <a:prstGeom prst="roundRect">
            <a:avLst>
              <a:gd name="adj" fmla="val 1176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82880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033"/>
                </a:solidFill>
              </a:rPr>
              <a:t>A one-liner LINQ chain is not impressive if the reviewer cannot parse it in 5 seconds.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6702552" y="182880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386"/>
                </a:solidFill>
              </a:rPr>
              <a:t>Delete Aggressively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2377440"/>
            <a:ext cx="1508760" cy="310896"/>
          </a:xfrm>
          <a:prstGeom prst="roundRect">
            <a:avLst>
              <a:gd name="adj" fmla="val 11765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42316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033"/>
                </a:solidFill>
              </a:rPr>
              <a:t>Commented-out code has no value. Source control remembers everything.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6702552" y="242316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386"/>
                </a:solidFill>
              </a:rPr>
              <a:t>Fail Fast — throw, do not return null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83480" y="2971800"/>
            <a:ext cx="1508760" cy="310896"/>
          </a:xfrm>
          <a:prstGeom prst="roundRect">
            <a:avLst>
              <a:gd name="adj" fmla="val 1176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01752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033"/>
                </a:solidFill>
              </a:rPr>
              <a:t>Validate at boundaries only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6702552" y="301752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386"/>
                </a:solidFill>
              </a:rPr>
              <a:t>Clear Over Clever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3566160"/>
            <a:ext cx="1508760" cy="310896"/>
          </a:xfrm>
          <a:prstGeom prst="roundRect">
            <a:avLst>
              <a:gd name="adj" fmla="val 11765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61188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033"/>
                </a:solidFill>
              </a:rPr>
              <a:t>Extract a method with a good name instead of a long inline expression.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6702552" y="361188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386"/>
                </a:solidFill>
              </a:rPr>
              <a:t>Delete Dead Code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83480" y="4160520"/>
            <a:ext cx="1508760" cy="310896"/>
          </a:xfrm>
          <a:prstGeom prst="roundRect">
            <a:avLst>
              <a:gd name="adj" fmla="val 11765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420624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2033"/>
                </a:solidFill>
              </a:rPr>
              <a:t>A class nobody calls is confusion, not "just in case."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6702552" y="420624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386"/>
                </a:solidFill>
              </a:rPr>
              <a:t>Review Discipline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05840" y="5321808"/>
            <a:ext cx="10149840" cy="384048"/>
          </a:xfrm>
          <a:prstGeom prst="roundRect">
            <a:avLst>
              <a:gd name="adj" fmla="val 7143"/>
            </a:avLst>
          </a:prstGeom>
          <a:solidFill>
            <a:srgbClr val="FFF3D8"/>
          </a:solidFill>
          <a:ln w="12700">
            <a:solidFill>
              <a:srgbClr val="E5C5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5422392"/>
            <a:ext cx="9829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2033"/>
                </a:solidFill>
              </a:rPr>
              <a:t>The best feature count is the smallest number that solves the problem.</a:t>
            </a:r>
            <a:endParaRPr lang="en-US" sz="108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297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Success Looks Like for Foundations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0624" y="822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concepts are successful when they show up in code and in conversation.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48640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By end of this section, participants should be able to: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66344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what Program.cs does and why every line matters.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middleware order and why it changes behavior.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right DI lifetime for a service.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Options pattern instead of raw config access.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guard clauses, composition, and immutability instinctively.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things so code reviews go faster.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5120640" cy="4069080"/>
          </a:xfrm>
          <a:prstGeom prst="roundRect">
            <a:avLst>
              <a:gd name="adj" fmla="val 1348"/>
            </a:avLst>
          </a:prstGeom>
          <a:solidFill>
            <a:srgbClr val="081736"/>
          </a:solidFill>
          <a:ln w="12700">
            <a:solidFill>
              <a:srgbClr val="284D9E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12280" y="173736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Three signals of progress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84848" y="2240280"/>
            <a:ext cx="749808" cy="310896"/>
          </a:xfrm>
          <a:prstGeom prst="roundRect">
            <a:avLst>
              <a:gd name="adj" fmla="val 11765"/>
            </a:avLst>
          </a:prstGeom>
          <a:solidFill>
            <a:srgbClr val="CDEFC5"/>
          </a:solidFill>
          <a:ln w="12700">
            <a:solidFill>
              <a:srgbClr val="CDEF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4848" y="2286000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72033"/>
                </a:solidFill>
              </a:rPr>
              <a:t>Understanding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7699248" y="22768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9"/>
                </a:solidFill>
              </a:rPr>
              <a:t>People can explain why, not just how.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84848" y="3035808"/>
            <a:ext cx="749808" cy="310896"/>
          </a:xfrm>
          <a:prstGeom prst="roundRect">
            <a:avLst>
              <a:gd name="adj" fmla="val 11765"/>
            </a:avLst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4848" y="308152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72033"/>
                </a:solidFill>
              </a:rPr>
              <a:t>Consistency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7699248" y="30723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9"/>
                </a:solidFill>
              </a:rPr>
              <a:t>Team starts using the same patterns and vocabulary.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84848" y="3831336"/>
            <a:ext cx="749808" cy="310896"/>
          </a:xfrm>
          <a:prstGeom prst="roundRect">
            <a:avLst>
              <a:gd name="adj" fmla="val 11765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387705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72033"/>
                </a:solidFill>
              </a:rPr>
              <a:t>Discipline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7699248" y="38679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9"/>
                </a:solidFill>
              </a:rPr>
              <a:t>People question complexity before adding it.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987552"/>
            <a:ext cx="10497312" cy="4480560"/>
          </a:xfrm>
          <a:prstGeom prst="roundRect">
            <a:avLst>
              <a:gd name="adj" fmla="val 1224"/>
            </a:avLst>
          </a:prstGeom>
          <a:solidFill>
            <a:srgbClr val="081736"/>
          </a:solidFill>
          <a:ln w="12700">
            <a:solidFill>
              <a:srgbClr val="2E4E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Let’s put these foundations into practice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61872" y="18836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0F1"/>
                </a:solidFill>
              </a:rPr>
              <a:t>Demo goals for the next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61872" y="2240280"/>
            <a:ext cx="43891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AF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 through Program.cs and explain every line.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AF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a request through the middleware pipeline.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AF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and resolve services via DI.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AF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Options pattern for MongoDB settings.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AF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 a method using guard clauses.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3063240" cy="2788920"/>
          </a:xfrm>
          <a:prstGeom prst="roundRect">
            <a:avLst>
              <a:gd name="adj" fmla="val 1967"/>
            </a:avLst>
          </a:prstGeom>
          <a:solidFill>
            <a:srgbClr val="0E2453"/>
          </a:solidFill>
          <a:ln w="12700">
            <a:solidFill>
              <a:srgbClr val="4C79F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0" y="2084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Watch for these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three things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62672" y="2743200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62672" y="2761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3090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F0"/>
                </a:solidFill>
              </a:rPr>
              <a:t>How does the request move through Program.cs?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662672" y="3401568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62672" y="341985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37490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F0"/>
                </a:solidFill>
              </a:rPr>
              <a:t>Where does each service get registered and why?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62672" y="4059936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40782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44074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F0"/>
                </a:solidFill>
              </a:rPr>
              <a:t>How does a value in appsettings.json reach the code?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63093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97386"/>
                </a:solidFill>
              </a:rPr>
              <a:t>Next: Build the API properly with controllers, DTOs, and service separation.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28816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2165</Words>
  <Application>Microsoft Office PowerPoint</Application>
  <PresentationFormat>Widescreen</PresentationFormat>
  <Paragraphs>296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Full PowerPoint Slides Presentation</dc:title>
  <dc:subject>Day 2 - Structured Backend Development with Controllers</dc:subject>
  <dc:creator>OpenAI</dc:creator>
  <cp:lastModifiedBy>Abdul  Rehman</cp:lastModifiedBy>
  <cp:revision>2</cp:revision>
  <dcterms:created xsi:type="dcterms:W3CDTF">2026-03-29T15:30:44Z</dcterms:created>
  <dcterms:modified xsi:type="dcterms:W3CDTF">2026-04-01T15:43:45Z</dcterms:modified>
</cp:coreProperties>
</file>