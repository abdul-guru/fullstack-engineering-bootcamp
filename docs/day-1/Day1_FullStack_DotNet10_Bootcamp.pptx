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70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504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Open with positioning: today is not about memorizing syntax. It is about understanding the architecture, the request lifecycle, and how the whole week fits together. Emphasize that every later topic builds on this mental model.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Frame the business problem clearly: the team does not need more random content; it needs structure, context, and a shared quality bar. This slide positions the training as transformation, not content repetition.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Be explicit that the goal is a stronger engineering baseline, not instant mastery. This makes the program credible and prevents unrealistic expectations.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Use this slide as the main system map for the whole week. Revisit it later to remind the team that every topic — controllers, Minimal APIs, MongoDB, React, configuration — serves the same flow.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Walk the room through the lifecycle slowly. Ask them where bugs often appear: bad input, weak API contracts, misplaced business logic, poor responses, or broken UI assumptions.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Drive home the difference between “code that runs” and “code that can be maintained.” This is where you elevate the session from topic teaching to engineering judgment.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Explain each layer in one sentence. Keep it practical. The team should leave knowing what belongs where and why that makes later changes safer.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Tie these directly to problems the audience already recognizes: confusing code reviews, repeated bugs, inconsistent endpoints, or difficulty understanding each other’s work.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Keep the project intentionally small. The point is not product complexity; the point is to make the same flow visible every day through one coherent example.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Position the stack intentionally. The team does not need to see it as a list of tools; they need to see why each tool exists in the learning path.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Use this slide to give people confidence in the sequence. Today is foundation, not delay. Make it clear why mindset and flow must come before implementation details.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Slow the pace down here. This slide is one of the most important for behavior change. The habit you want is deliberate questioning before implementation.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Use this slide to keep the room aligned on the purpose of Day 1. Today is about clarity and mental models. Tomorrow is where disciplined backend structure begins.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Transition confidently into the walkthrough. Tell the room exactly what to watch for: system flow, responsibility boundaries, and failure thinking.
[Sources]
- None. Original training content and internally generated visuals.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LIGHT">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563EB"/>
          </a:solidFill>
          <a:ln w="12700">
            <a:solidFill>
              <a:srgbClr val="2563EB"/>
            </a:solidFill>
            <a:prstDash val="solid"/>
          </a:ln>
        </p:spPr>
      </p:sp>
      <p:sp>
        <p:nvSpPr>
          <p:cNvPr id="3" name="Text 1"/>
          <p:cNvSpPr/>
          <p:nvPr/>
        </p:nvSpPr>
        <p:spPr>
          <a:xfrm>
            <a:off x="548640" y="6473952"/>
            <a:ext cx="4572000" cy="201168"/>
          </a:xfrm>
          <a:prstGeom prst="rect">
            <a:avLst/>
          </a:prstGeom>
          <a:noFill/>
          <a:ln/>
        </p:spPr>
        <p:txBody>
          <a:bodyPr wrap="square" lIns="0" tIns="0" rIns="0" bIns="0" rtlCol="0" anchor="ctr"/>
          <a:lstStyle/>
          <a:p>
            <a:pPr marL="0" indent="0">
              <a:buNone/>
            </a:pPr>
            <a:r>
              <a:rPr lang="en-US" sz="1000" dirty="0">
                <a:solidFill>
                  <a:srgbClr val="64748B"/>
                </a:solidFill>
                <a:latin typeface="Aptos" pitchFamily="34" charset="0"/>
                <a:ea typeface="Aptos" pitchFamily="34" charset="-122"/>
                <a:cs typeface="Aptos" pitchFamily="34" charset="-120"/>
              </a:rPr>
              <a:t>Full-Stack .NET 10 Bootcamp</a:t>
            </a:r>
            <a:endParaRPr lang="en-US" sz="1000" dirty="0"/>
          </a:p>
        </p:txBody>
      </p:sp>
      <p:sp>
        <p:nvSpPr>
          <p:cNvPr id="4" name="Text 2"/>
          <p:cNvSpPr/>
          <p:nvPr/>
        </p:nvSpPr>
        <p:spPr>
          <a:xfrm>
            <a:off x="10972800" y="6473952"/>
            <a:ext cx="640080" cy="201168"/>
          </a:xfrm>
          <a:prstGeom prst="rect">
            <a:avLst/>
          </a:prstGeom>
          <a:noFill/>
          <a:ln/>
        </p:spPr>
        <p:txBody>
          <a:bodyPr wrap="square" lIns="0" tIns="0" rIns="0" bIns="0" rtlCol="0" anchor="ctr"/>
          <a:lstStyle/>
          <a:p>
            <a:pPr marL="0" indent="0" algn="r">
              <a:buNone/>
            </a:pPr>
            <a:r>
              <a:rPr lang="en-US" sz="1000" dirty="0">
                <a:solidFill>
                  <a:srgbClr val="64748B"/>
                </a:solidFill>
                <a:latin typeface="Aptos" pitchFamily="34" charset="0"/>
                <a:ea typeface="Aptos" pitchFamily="34" charset="-122"/>
                <a:cs typeface="Aptos" pitchFamily="34" charset="-120"/>
              </a:rPr>
              <a:t>Day 1</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0" y="6263640"/>
            <a:ext cx="12191695" cy="594360"/>
          </a:xfrm>
          <a:prstGeom prst="rect">
            <a:avLst/>
          </a:prstGeom>
          <a:solidFill>
            <a:srgbClr val="111827">
              <a:alpha val="88000"/>
            </a:srgbClr>
          </a:solidFill>
          <a:ln w="12700">
            <a:solidFill>
              <a:srgbClr val="111827">
                <a:alpha val="0"/>
              </a:srgbClr>
            </a:solidFill>
            <a:prstDash val="solid"/>
          </a:ln>
        </p:spPr>
      </p:sp>
      <p:sp>
        <p:nvSpPr>
          <p:cNvPr id="4" name="Shape 2"/>
          <p:cNvSpPr/>
          <p:nvPr/>
        </p:nvSpPr>
        <p:spPr>
          <a:xfrm>
            <a:off x="676656" y="621792"/>
            <a:ext cx="1737360" cy="347472"/>
          </a:xfrm>
          <a:prstGeom prst="roundRect">
            <a:avLst>
              <a:gd name="adj" fmla="val 21053"/>
            </a:avLst>
          </a:prstGeom>
          <a:solidFill>
            <a:srgbClr val="2563EB"/>
          </a:solidFill>
          <a:ln w="12700">
            <a:solidFill>
              <a:srgbClr val="2563EB"/>
            </a:solidFill>
            <a:prstDash val="solid"/>
          </a:ln>
        </p:spPr>
      </p:sp>
      <p:sp>
        <p:nvSpPr>
          <p:cNvPr id="5" name="Text 3"/>
          <p:cNvSpPr/>
          <p:nvPr/>
        </p:nvSpPr>
        <p:spPr>
          <a:xfrm>
            <a:off x="676656" y="704088"/>
            <a:ext cx="1737360" cy="137160"/>
          </a:xfrm>
          <a:prstGeom prst="rect">
            <a:avLst/>
          </a:prstGeom>
          <a:noFill/>
          <a:ln/>
        </p:spPr>
        <p:txBody>
          <a:bodyPr wrap="square" lIns="0" tIns="0" rIns="0" bIns="0" rtlCol="0" anchor="ctr"/>
          <a:lstStyle/>
          <a:p>
            <a:pPr marL="0" indent="0" algn="ctr">
              <a:buNone/>
            </a:pPr>
            <a:r>
              <a:rPr lang="en-US" sz="1200" b="1" dirty="0">
                <a:solidFill>
                  <a:srgbClr val="FFFFFF"/>
                </a:solidFill>
              </a:rPr>
              <a:t>DAY 1</a:t>
            </a:r>
            <a:endParaRPr lang="en-US" sz="1200" dirty="0"/>
          </a:p>
        </p:txBody>
      </p:sp>
      <p:sp>
        <p:nvSpPr>
          <p:cNvPr id="6" name="Text 4"/>
          <p:cNvSpPr/>
          <p:nvPr/>
        </p:nvSpPr>
        <p:spPr>
          <a:xfrm>
            <a:off x="713232" y="1298448"/>
            <a:ext cx="5440680" cy="1325880"/>
          </a:xfrm>
          <a:prstGeom prst="rect">
            <a:avLst/>
          </a:prstGeom>
          <a:noFill/>
          <a:ln/>
        </p:spPr>
        <p:txBody>
          <a:bodyPr wrap="square" lIns="0" tIns="0" rIns="0" bIns="0" rtlCol="0" anchor="ct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Think Like a</a:t>
            </a:r>
            <a:endParaRPr lang="en-US" sz="2800" dirty="0"/>
          </a:p>
          <a:p>
            <a:pPr marL="0" indent="0">
              <a:buNone/>
            </a:pPr>
            <a:r>
              <a:rPr lang="en-US" sz="2800" b="1" dirty="0">
                <a:solidFill>
                  <a:srgbClr val="FFFFFF"/>
                </a:solidFill>
                <a:latin typeface="Aptos Display" pitchFamily="34" charset="0"/>
                <a:ea typeface="Aptos Display" pitchFamily="34" charset="-122"/>
                <a:cs typeface="Aptos Display" pitchFamily="34" charset="-120"/>
              </a:rPr>
              <a:t>Full-Stack Engineer</a:t>
            </a:r>
            <a:endParaRPr lang="en-US" sz="2800" dirty="0"/>
          </a:p>
        </p:txBody>
      </p:sp>
      <p:sp>
        <p:nvSpPr>
          <p:cNvPr id="7" name="Text 5"/>
          <p:cNvSpPr/>
          <p:nvPr/>
        </p:nvSpPr>
        <p:spPr>
          <a:xfrm>
            <a:off x="731520" y="2743200"/>
            <a:ext cx="5120640" cy="713232"/>
          </a:xfrm>
          <a:prstGeom prst="rect">
            <a:avLst/>
          </a:prstGeom>
          <a:noFill/>
          <a:ln/>
        </p:spPr>
        <p:txBody>
          <a:bodyPr wrap="square" lIns="0" tIns="0" rIns="0" bIns="0" rtlCol="0" anchor="ctr"/>
          <a:lstStyle/>
          <a:p>
            <a:pPr marL="0" indent="0">
              <a:buNone/>
            </a:pPr>
            <a:r>
              <a:rPr lang="en-US" sz="1600" dirty="0">
                <a:solidFill>
                  <a:srgbClr val="D1D5DB"/>
                </a:solidFill>
                <a:latin typeface="Aptos" pitchFamily="34" charset="0"/>
                <a:ea typeface="Aptos" pitchFamily="34" charset="-122"/>
                <a:cs typeface="Aptos" pitchFamily="34" charset="-120"/>
              </a:rPr>
              <a:t>Reset the team’s mental model from “writing code” to “understanding how a real application flows, is structured, and is delivered.”</a:t>
            </a:r>
            <a:endParaRPr lang="en-US" sz="1600" dirty="0"/>
          </a:p>
        </p:txBody>
      </p:sp>
      <p:sp>
        <p:nvSpPr>
          <p:cNvPr id="8" name="Shape 6"/>
          <p:cNvSpPr/>
          <p:nvPr/>
        </p:nvSpPr>
        <p:spPr>
          <a:xfrm>
            <a:off x="749808" y="3913632"/>
            <a:ext cx="1005840" cy="310896"/>
          </a:xfrm>
          <a:prstGeom prst="roundRect">
            <a:avLst>
              <a:gd name="adj" fmla="val 17647"/>
            </a:avLst>
          </a:prstGeom>
          <a:solidFill>
            <a:srgbClr val="DBEAFE"/>
          </a:solidFill>
          <a:ln w="12700">
            <a:solidFill>
              <a:srgbClr val="DBEAFE"/>
            </a:solidFill>
            <a:prstDash val="solid"/>
          </a:ln>
        </p:spPr>
      </p:sp>
      <p:sp>
        <p:nvSpPr>
          <p:cNvPr id="9" name="Text 7"/>
          <p:cNvSpPr/>
          <p:nvPr/>
        </p:nvSpPr>
        <p:spPr>
          <a:xfrm>
            <a:off x="749808" y="3941064"/>
            <a:ext cx="1005840" cy="182880"/>
          </a:xfrm>
          <a:prstGeom prst="rect">
            <a:avLst/>
          </a:prstGeom>
          <a:noFill/>
          <a:ln/>
        </p:spPr>
        <p:txBody>
          <a:bodyPr wrap="square" lIns="0" tIns="0" rIns="0" bIns="0" rtlCol="0" anchor="ctr"/>
          <a:lstStyle/>
          <a:p>
            <a:pPr marL="0" indent="0" algn="ctr">
              <a:buNone/>
            </a:pPr>
            <a:r>
              <a:rPr lang="en-US" sz="1100" b="1" dirty="0">
                <a:solidFill>
                  <a:srgbClr val="2563EB"/>
                </a:solidFill>
              </a:rPr>
              <a:t>.NET 10</a:t>
            </a:r>
            <a:endParaRPr lang="en-US" sz="1100" dirty="0"/>
          </a:p>
        </p:txBody>
      </p:sp>
      <p:sp>
        <p:nvSpPr>
          <p:cNvPr id="10" name="Shape 8"/>
          <p:cNvSpPr/>
          <p:nvPr/>
        </p:nvSpPr>
        <p:spPr>
          <a:xfrm>
            <a:off x="1865376" y="3913632"/>
            <a:ext cx="914400" cy="310896"/>
          </a:xfrm>
          <a:prstGeom prst="roundRect">
            <a:avLst>
              <a:gd name="adj" fmla="val 17647"/>
            </a:avLst>
          </a:prstGeom>
          <a:solidFill>
            <a:srgbClr val="CCFBF1"/>
          </a:solidFill>
          <a:ln w="12700">
            <a:solidFill>
              <a:srgbClr val="CCFBF1"/>
            </a:solidFill>
            <a:prstDash val="solid"/>
          </a:ln>
        </p:spPr>
      </p:sp>
      <p:sp>
        <p:nvSpPr>
          <p:cNvPr id="11" name="Text 9"/>
          <p:cNvSpPr/>
          <p:nvPr/>
        </p:nvSpPr>
        <p:spPr>
          <a:xfrm>
            <a:off x="1865376" y="3941064"/>
            <a:ext cx="914400" cy="182880"/>
          </a:xfrm>
          <a:prstGeom prst="rect">
            <a:avLst/>
          </a:prstGeom>
          <a:noFill/>
          <a:ln/>
        </p:spPr>
        <p:txBody>
          <a:bodyPr wrap="square" lIns="0" tIns="0" rIns="0" bIns="0" rtlCol="0" anchor="ctr"/>
          <a:lstStyle/>
          <a:p>
            <a:pPr marL="0" indent="0" algn="ctr">
              <a:buNone/>
            </a:pPr>
            <a:r>
              <a:rPr lang="en-US" sz="1100" b="1" dirty="0">
                <a:solidFill>
                  <a:srgbClr val="0F766E"/>
                </a:solidFill>
              </a:rPr>
              <a:t>React</a:t>
            </a:r>
            <a:endParaRPr lang="en-US" sz="1100" dirty="0"/>
          </a:p>
        </p:txBody>
      </p:sp>
      <p:sp>
        <p:nvSpPr>
          <p:cNvPr id="12" name="Shape 10"/>
          <p:cNvSpPr/>
          <p:nvPr/>
        </p:nvSpPr>
        <p:spPr>
          <a:xfrm>
            <a:off x="2907792" y="3913632"/>
            <a:ext cx="1143000" cy="310896"/>
          </a:xfrm>
          <a:prstGeom prst="roundRect">
            <a:avLst>
              <a:gd name="adj" fmla="val 17647"/>
            </a:avLst>
          </a:prstGeom>
          <a:solidFill>
            <a:srgbClr val="E0F2FE"/>
          </a:solidFill>
          <a:ln w="12700">
            <a:solidFill>
              <a:srgbClr val="E0F2FE"/>
            </a:solidFill>
            <a:prstDash val="solid"/>
          </a:ln>
        </p:spPr>
      </p:sp>
      <p:sp>
        <p:nvSpPr>
          <p:cNvPr id="13" name="Text 11"/>
          <p:cNvSpPr/>
          <p:nvPr/>
        </p:nvSpPr>
        <p:spPr>
          <a:xfrm>
            <a:off x="2907792" y="3941064"/>
            <a:ext cx="1143000" cy="182880"/>
          </a:xfrm>
          <a:prstGeom prst="rect">
            <a:avLst/>
          </a:prstGeom>
          <a:noFill/>
          <a:ln/>
        </p:spPr>
        <p:txBody>
          <a:bodyPr wrap="square" lIns="0" tIns="0" rIns="0" bIns="0" rtlCol="0" anchor="ctr"/>
          <a:lstStyle/>
          <a:p>
            <a:pPr marL="0" indent="0" algn="ctr">
              <a:buNone/>
            </a:pPr>
            <a:r>
              <a:rPr lang="en-US" sz="1100" b="1" dirty="0">
                <a:solidFill>
                  <a:srgbClr val="0E7490"/>
                </a:solidFill>
              </a:rPr>
              <a:t>MongoDB</a:t>
            </a:r>
            <a:endParaRPr lang="en-US" sz="1100" dirty="0"/>
          </a:p>
        </p:txBody>
      </p:sp>
      <p:sp>
        <p:nvSpPr>
          <p:cNvPr id="14" name="Shape 12"/>
          <p:cNvSpPr/>
          <p:nvPr/>
        </p:nvSpPr>
        <p:spPr>
          <a:xfrm>
            <a:off x="6903720" y="960120"/>
            <a:ext cx="4617720" cy="4983480"/>
          </a:xfrm>
          <a:prstGeom prst="roundRect">
            <a:avLst>
              <a:gd name="adj" fmla="val 2376"/>
            </a:avLst>
          </a:prstGeom>
          <a:solidFill>
            <a:srgbClr val="172554"/>
          </a:solidFill>
          <a:ln w="12700">
            <a:solidFill>
              <a:srgbClr val="1D4ED8"/>
            </a:solidFill>
            <a:prstDash val="solid"/>
          </a:ln>
        </p:spPr>
      </p:sp>
      <p:sp>
        <p:nvSpPr>
          <p:cNvPr id="15" name="Shape 13"/>
          <p:cNvSpPr/>
          <p:nvPr/>
        </p:nvSpPr>
        <p:spPr>
          <a:xfrm>
            <a:off x="7424928" y="1463040"/>
            <a:ext cx="3566160" cy="658368"/>
          </a:xfrm>
          <a:prstGeom prst="roundRect">
            <a:avLst>
              <a:gd name="adj" fmla="val 8333"/>
            </a:avLst>
          </a:prstGeom>
          <a:solidFill>
            <a:srgbClr val="DBEAFE"/>
          </a:solidFill>
          <a:ln w="12700">
            <a:solidFill>
              <a:srgbClr val="2563EB"/>
            </a:solidFill>
            <a:prstDash val="solid"/>
          </a:ln>
        </p:spPr>
      </p:sp>
      <p:sp>
        <p:nvSpPr>
          <p:cNvPr id="16" name="Text 14"/>
          <p:cNvSpPr/>
          <p:nvPr/>
        </p:nvSpPr>
        <p:spPr>
          <a:xfrm>
            <a:off x="7424928" y="1664208"/>
            <a:ext cx="3566160" cy="164592"/>
          </a:xfrm>
          <a:prstGeom prst="rect">
            <a:avLst/>
          </a:prstGeom>
          <a:noFill/>
          <a:ln/>
        </p:spPr>
        <p:txBody>
          <a:bodyPr wrap="square" lIns="0" tIns="0" rIns="0" bIns="0" rtlCol="0" anchor="ctr"/>
          <a:lstStyle/>
          <a:p>
            <a:pPr marL="0" indent="0" algn="ctr">
              <a:buNone/>
            </a:pPr>
            <a:r>
              <a:rPr lang="en-US" sz="1800" b="1" dirty="0">
                <a:solidFill>
                  <a:srgbClr val="0F172A"/>
                </a:solidFill>
              </a:rPr>
              <a:t>React UI</a:t>
            </a:r>
            <a:endParaRPr lang="en-US" sz="1800" dirty="0"/>
          </a:p>
        </p:txBody>
      </p:sp>
      <p:sp>
        <p:nvSpPr>
          <p:cNvPr id="17" name="Shape 15"/>
          <p:cNvSpPr/>
          <p:nvPr/>
        </p:nvSpPr>
        <p:spPr>
          <a:xfrm>
            <a:off x="9208008" y="2121408"/>
            <a:ext cx="0" cy="246888"/>
          </a:xfrm>
          <a:prstGeom prst="line">
            <a:avLst/>
          </a:prstGeom>
          <a:noFill/>
          <a:ln w="12700">
            <a:solidFill>
              <a:srgbClr val="06B6D4"/>
            </a:solidFill>
            <a:prstDash val="solid"/>
          </a:ln>
        </p:spPr>
      </p:sp>
      <p:sp>
        <p:nvSpPr>
          <p:cNvPr id="18" name="Shape 16"/>
          <p:cNvSpPr/>
          <p:nvPr/>
        </p:nvSpPr>
        <p:spPr>
          <a:xfrm>
            <a:off x="7424928" y="2377440"/>
            <a:ext cx="3566160" cy="658368"/>
          </a:xfrm>
          <a:prstGeom prst="roundRect">
            <a:avLst>
              <a:gd name="adj" fmla="val 8333"/>
            </a:avLst>
          </a:prstGeom>
          <a:solidFill>
            <a:srgbClr val="DBEAFE"/>
          </a:solidFill>
          <a:ln w="12700">
            <a:solidFill>
              <a:srgbClr val="1D4ED8"/>
            </a:solidFill>
            <a:prstDash val="solid"/>
          </a:ln>
        </p:spPr>
      </p:sp>
      <p:sp>
        <p:nvSpPr>
          <p:cNvPr id="19" name="Text 17"/>
          <p:cNvSpPr/>
          <p:nvPr/>
        </p:nvSpPr>
        <p:spPr>
          <a:xfrm>
            <a:off x="7424928" y="2578608"/>
            <a:ext cx="3566160" cy="164592"/>
          </a:xfrm>
          <a:prstGeom prst="rect">
            <a:avLst/>
          </a:prstGeom>
          <a:noFill/>
          <a:ln/>
        </p:spPr>
        <p:txBody>
          <a:bodyPr wrap="square" lIns="0" tIns="0" rIns="0" bIns="0" rtlCol="0" anchor="ctr"/>
          <a:lstStyle/>
          <a:p>
            <a:pPr marL="0" indent="0" algn="ctr">
              <a:buNone/>
            </a:pPr>
            <a:r>
              <a:rPr lang="en-US" sz="1800" b="1" dirty="0">
                <a:solidFill>
                  <a:srgbClr val="0F172A"/>
                </a:solidFill>
              </a:rPr>
              <a:t>ASP.NET Core API</a:t>
            </a:r>
            <a:endParaRPr lang="en-US" sz="1800" dirty="0"/>
          </a:p>
        </p:txBody>
      </p:sp>
      <p:sp>
        <p:nvSpPr>
          <p:cNvPr id="20" name="Shape 18"/>
          <p:cNvSpPr/>
          <p:nvPr/>
        </p:nvSpPr>
        <p:spPr>
          <a:xfrm>
            <a:off x="9208008" y="3035808"/>
            <a:ext cx="0" cy="246888"/>
          </a:xfrm>
          <a:prstGeom prst="line">
            <a:avLst/>
          </a:prstGeom>
          <a:noFill/>
          <a:ln w="12700">
            <a:solidFill>
              <a:srgbClr val="06B6D4"/>
            </a:solidFill>
            <a:prstDash val="solid"/>
          </a:ln>
        </p:spPr>
      </p:sp>
      <p:sp>
        <p:nvSpPr>
          <p:cNvPr id="21" name="Shape 19"/>
          <p:cNvSpPr/>
          <p:nvPr/>
        </p:nvSpPr>
        <p:spPr>
          <a:xfrm>
            <a:off x="7424928" y="3291840"/>
            <a:ext cx="3566160" cy="658368"/>
          </a:xfrm>
          <a:prstGeom prst="roundRect">
            <a:avLst>
              <a:gd name="adj" fmla="val 8333"/>
            </a:avLst>
          </a:prstGeom>
          <a:solidFill>
            <a:srgbClr val="DCFCE7"/>
          </a:solidFill>
          <a:ln w="12700">
            <a:solidFill>
              <a:srgbClr val="15803D"/>
            </a:solidFill>
            <a:prstDash val="solid"/>
          </a:ln>
        </p:spPr>
      </p:sp>
      <p:sp>
        <p:nvSpPr>
          <p:cNvPr id="22" name="Text 20"/>
          <p:cNvSpPr/>
          <p:nvPr/>
        </p:nvSpPr>
        <p:spPr>
          <a:xfrm>
            <a:off x="7424928" y="3493008"/>
            <a:ext cx="3566160" cy="164592"/>
          </a:xfrm>
          <a:prstGeom prst="rect">
            <a:avLst/>
          </a:prstGeom>
          <a:noFill/>
          <a:ln/>
        </p:spPr>
        <p:txBody>
          <a:bodyPr wrap="square" lIns="0" tIns="0" rIns="0" bIns="0" rtlCol="0" anchor="ctr"/>
          <a:lstStyle/>
          <a:p>
            <a:pPr marL="0" indent="0" algn="ctr">
              <a:buNone/>
            </a:pPr>
            <a:r>
              <a:rPr lang="en-US" sz="1800" b="1" dirty="0">
                <a:solidFill>
                  <a:srgbClr val="0F172A"/>
                </a:solidFill>
              </a:rPr>
              <a:t>Service &amp; Validation</a:t>
            </a:r>
            <a:endParaRPr lang="en-US" sz="1800" dirty="0"/>
          </a:p>
        </p:txBody>
      </p:sp>
      <p:sp>
        <p:nvSpPr>
          <p:cNvPr id="23" name="Shape 21"/>
          <p:cNvSpPr/>
          <p:nvPr/>
        </p:nvSpPr>
        <p:spPr>
          <a:xfrm>
            <a:off x="9208008" y="3950208"/>
            <a:ext cx="0" cy="246888"/>
          </a:xfrm>
          <a:prstGeom prst="line">
            <a:avLst/>
          </a:prstGeom>
          <a:noFill/>
          <a:ln w="12700">
            <a:solidFill>
              <a:srgbClr val="06B6D4"/>
            </a:solidFill>
            <a:prstDash val="solid"/>
          </a:ln>
        </p:spPr>
      </p:sp>
      <p:sp>
        <p:nvSpPr>
          <p:cNvPr id="24" name="Shape 22"/>
          <p:cNvSpPr/>
          <p:nvPr/>
        </p:nvSpPr>
        <p:spPr>
          <a:xfrm>
            <a:off x="7424928" y="4206240"/>
            <a:ext cx="3566160" cy="658368"/>
          </a:xfrm>
          <a:prstGeom prst="roundRect">
            <a:avLst>
              <a:gd name="adj" fmla="val 8333"/>
            </a:avLst>
          </a:prstGeom>
          <a:solidFill>
            <a:srgbClr val="CCFBF1"/>
          </a:solidFill>
          <a:ln w="12700">
            <a:solidFill>
              <a:srgbClr val="0F766E"/>
            </a:solidFill>
            <a:prstDash val="solid"/>
          </a:ln>
        </p:spPr>
      </p:sp>
      <p:sp>
        <p:nvSpPr>
          <p:cNvPr id="25" name="Text 23"/>
          <p:cNvSpPr/>
          <p:nvPr/>
        </p:nvSpPr>
        <p:spPr>
          <a:xfrm>
            <a:off x="7424928" y="4407408"/>
            <a:ext cx="3566160" cy="164592"/>
          </a:xfrm>
          <a:prstGeom prst="rect">
            <a:avLst/>
          </a:prstGeom>
          <a:noFill/>
          <a:ln/>
        </p:spPr>
        <p:txBody>
          <a:bodyPr wrap="square" lIns="0" tIns="0" rIns="0" bIns="0" rtlCol="0" anchor="ctr"/>
          <a:lstStyle/>
          <a:p>
            <a:pPr marL="0" indent="0" algn="ctr">
              <a:buNone/>
            </a:pPr>
            <a:r>
              <a:rPr lang="en-US" sz="1800" b="1" dirty="0">
                <a:solidFill>
                  <a:srgbClr val="0F172A"/>
                </a:solidFill>
              </a:rPr>
              <a:t>MongoDB Data Layer</a:t>
            </a:r>
            <a:endParaRPr lang="en-US" sz="1800" dirty="0"/>
          </a:p>
        </p:txBody>
      </p:sp>
      <p:sp>
        <p:nvSpPr>
          <p:cNvPr id="26" name="Shape 24"/>
          <p:cNvSpPr/>
          <p:nvPr/>
        </p:nvSpPr>
        <p:spPr>
          <a:xfrm>
            <a:off x="8412480" y="5248656"/>
            <a:ext cx="1234440" cy="411480"/>
          </a:xfrm>
          <a:prstGeom prst="ellipse">
            <a:avLst/>
          </a:prstGeom>
          <a:solidFill>
            <a:srgbClr val="FEF3C7"/>
          </a:solidFill>
          <a:ln w="12700">
            <a:solidFill>
              <a:srgbClr val="F59E0B"/>
            </a:solidFill>
            <a:prstDash val="solid"/>
          </a:ln>
        </p:spPr>
      </p:sp>
      <p:sp>
        <p:nvSpPr>
          <p:cNvPr id="27" name="Text 25"/>
          <p:cNvSpPr/>
          <p:nvPr/>
        </p:nvSpPr>
        <p:spPr>
          <a:xfrm>
            <a:off x="8412480" y="5394960"/>
            <a:ext cx="1234440" cy="109728"/>
          </a:xfrm>
          <a:prstGeom prst="rect">
            <a:avLst/>
          </a:prstGeom>
          <a:noFill/>
          <a:ln/>
        </p:spPr>
        <p:txBody>
          <a:bodyPr wrap="square" lIns="0" tIns="0" rIns="0" bIns="0" rtlCol="0" anchor="ctr"/>
          <a:lstStyle/>
          <a:p>
            <a:pPr marL="0" indent="0" algn="ctr">
              <a:buNone/>
            </a:pPr>
            <a:r>
              <a:rPr lang="en-US" sz="1200" b="1" dirty="0">
                <a:solidFill>
                  <a:srgbClr val="92400E"/>
                </a:solidFill>
              </a:rPr>
              <a:t>One connected flow</a:t>
            </a:r>
            <a:endParaRPr lang="en-US" sz="1200" dirty="0"/>
          </a:p>
        </p:txBody>
      </p:sp>
      <p:sp>
        <p:nvSpPr>
          <p:cNvPr id="28" name="Text 26"/>
          <p:cNvSpPr/>
          <p:nvPr/>
        </p:nvSpPr>
        <p:spPr>
          <a:xfrm>
            <a:off x="731520" y="6355080"/>
            <a:ext cx="2743200" cy="164592"/>
          </a:xfrm>
          <a:prstGeom prst="rect">
            <a:avLst/>
          </a:prstGeom>
          <a:noFill/>
          <a:ln/>
        </p:spPr>
        <p:txBody>
          <a:bodyPr wrap="square" lIns="0" tIns="0" rIns="0" bIns="0" rtlCol="0" anchor="ctr"/>
          <a:lstStyle/>
          <a:p>
            <a:pPr marL="0" indent="0">
              <a:buNone/>
            </a:pPr>
            <a:r>
              <a:rPr lang="en-US" sz="1100" dirty="0">
                <a:solidFill>
                  <a:srgbClr val="CBD5E1"/>
                </a:solidFill>
              </a:rPr>
              <a:t>Full-Stack .NET 10 Bootcamp</a:t>
            </a:r>
            <a:endParaRPr lang="en-US" sz="1100" dirty="0"/>
          </a:p>
        </p:txBody>
      </p:sp>
      <p:sp>
        <p:nvSpPr>
          <p:cNvPr id="29" name="Text 27"/>
          <p:cNvSpPr/>
          <p:nvPr/>
        </p:nvSpPr>
        <p:spPr>
          <a:xfrm>
            <a:off x="7955280" y="6355080"/>
            <a:ext cx="2834640" cy="164592"/>
          </a:xfrm>
          <a:prstGeom prst="rect">
            <a:avLst/>
          </a:prstGeom>
          <a:noFill/>
          <a:ln/>
        </p:spPr>
        <p:txBody>
          <a:bodyPr wrap="square" lIns="0" tIns="0" rIns="0" bIns="0" rtlCol="0" anchor="ctr"/>
          <a:lstStyle/>
          <a:p>
            <a:pPr marL="0" indent="0" algn="r">
              <a:buNone/>
            </a:pPr>
            <a:r>
              <a:rPr lang="en-US" sz="1100" dirty="0">
                <a:solidFill>
                  <a:srgbClr val="CBD5E1"/>
                </a:solidFill>
              </a:rPr>
              <a:t>Onsite workshop · mindset + flow + setup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76656" y="264951"/>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CONTEXT</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Why this training exists</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Information is everywhere; improvement is still not automatic.</a:t>
            </a:r>
            <a:endParaRPr lang="en-US" sz="1400" b="1" dirty="0"/>
          </a:p>
        </p:txBody>
      </p:sp>
      <p:sp>
        <p:nvSpPr>
          <p:cNvPr id="5" name="Shape 3"/>
          <p:cNvSpPr/>
          <p:nvPr/>
        </p:nvSpPr>
        <p:spPr>
          <a:xfrm>
            <a:off x="9509760" y="502920"/>
            <a:ext cx="1920240" cy="164592"/>
          </a:xfrm>
          <a:prstGeom prst="roundRect">
            <a:avLst>
              <a:gd name="adj" fmla="val 22222"/>
            </a:avLst>
          </a:prstGeom>
          <a:solidFill>
            <a:srgbClr val="14B8A6"/>
          </a:solidFill>
          <a:ln w="12700">
            <a:solidFill>
              <a:srgbClr val="14B8A6"/>
            </a:solidFill>
            <a:prstDash val="solid"/>
          </a:ln>
        </p:spPr>
      </p:sp>
      <p:sp>
        <p:nvSpPr>
          <p:cNvPr id="6" name="Text 4"/>
          <p:cNvSpPr/>
          <p:nvPr/>
        </p:nvSpPr>
        <p:spPr>
          <a:xfrm>
            <a:off x="822960" y="1572768"/>
            <a:ext cx="5486400" cy="3520440"/>
          </a:xfrm>
          <a:prstGeom prst="rect">
            <a:avLst/>
          </a:prstGeom>
          <a:noFill/>
          <a:ln/>
        </p:spPr>
        <p:txBody>
          <a:bodyPr wrap="square" lIns="254" tIns="254" rIns="254" bIns="254" rtlCol="0" anchor="ctr"/>
          <a:lstStyle/>
          <a:p>
            <a:pPr marL="0" indent="0">
              <a:buNone/>
            </a:pPr>
            <a:r>
              <a:rPr lang="en-US" sz="2000" b="1" dirty="0">
                <a:solidFill>
                  <a:srgbClr val="2563EB"/>
                </a:solidFill>
                <a:latin typeface="Aptos" pitchFamily="34" charset="0"/>
                <a:ea typeface="Aptos" pitchFamily="34" charset="-122"/>
                <a:cs typeface="Aptos" pitchFamily="34" charset="-120"/>
              </a:rPr>
              <a:t>• </a:t>
            </a:r>
            <a:r>
              <a:rPr lang="en-US" sz="2000" dirty="0">
                <a:solidFill>
                  <a:srgbClr val="334155"/>
                </a:solidFill>
                <a:latin typeface="Aptos" pitchFamily="34" charset="0"/>
                <a:ea typeface="Aptos" pitchFamily="34" charset="-122"/>
                <a:cs typeface="Aptos" pitchFamily="34" charset="-120"/>
              </a:rPr>
              <a:t>Too much scattered information creates confusion instead of capability.
</a:t>
            </a:r>
            <a:r>
              <a:rPr lang="en-US" sz="2000" b="1" dirty="0">
                <a:solidFill>
                  <a:srgbClr val="2563EB"/>
                </a:solidFill>
                <a:latin typeface="Aptos" pitchFamily="34" charset="0"/>
                <a:ea typeface="Aptos" pitchFamily="34" charset="-122"/>
                <a:cs typeface="Aptos" pitchFamily="34" charset="-120"/>
              </a:rPr>
              <a:t>• </a:t>
            </a:r>
            <a:r>
              <a:rPr lang="en-US" sz="2000" dirty="0">
                <a:solidFill>
                  <a:srgbClr val="334155"/>
                </a:solidFill>
                <a:latin typeface="Aptos" pitchFamily="34" charset="0"/>
                <a:ea typeface="Aptos" pitchFamily="34" charset="-122"/>
                <a:cs typeface="Aptos" pitchFamily="34" charset="-120"/>
              </a:rPr>
              <a:t>Teams often know syntax but still struggle with structure, flow, and delivery discipline.
</a:t>
            </a:r>
            <a:r>
              <a:rPr lang="en-US" sz="2000" b="1" dirty="0">
                <a:solidFill>
                  <a:srgbClr val="2563EB"/>
                </a:solidFill>
                <a:latin typeface="Aptos" pitchFamily="34" charset="0"/>
                <a:ea typeface="Aptos" pitchFamily="34" charset="-122"/>
                <a:cs typeface="Aptos" pitchFamily="34" charset="-120"/>
              </a:rPr>
              <a:t>• </a:t>
            </a:r>
            <a:r>
              <a:rPr lang="en-US" sz="2000" dirty="0">
                <a:solidFill>
                  <a:srgbClr val="334155"/>
                </a:solidFill>
                <a:latin typeface="Aptos" pitchFamily="34" charset="0"/>
                <a:ea typeface="Aptos" pitchFamily="34" charset="-122"/>
                <a:cs typeface="Aptos" pitchFamily="34" charset="-120"/>
              </a:rPr>
              <a:t>Code that works can still be fragile, unclear, and expensive to maintain.
</a:t>
            </a:r>
            <a:r>
              <a:rPr lang="en-US" sz="2000" b="1" dirty="0">
                <a:solidFill>
                  <a:srgbClr val="2563EB"/>
                </a:solidFill>
                <a:latin typeface="Aptos" pitchFamily="34" charset="0"/>
                <a:ea typeface="Aptos" pitchFamily="34" charset="-122"/>
                <a:cs typeface="Aptos" pitchFamily="34" charset="-120"/>
              </a:rPr>
              <a:t>• </a:t>
            </a:r>
            <a:r>
              <a:rPr lang="en-US" sz="2000" dirty="0">
                <a:solidFill>
                  <a:srgbClr val="334155"/>
                </a:solidFill>
                <a:latin typeface="Aptos" pitchFamily="34" charset="0"/>
                <a:ea typeface="Aptos" pitchFamily="34" charset="-122"/>
                <a:cs typeface="Aptos" pitchFamily="34" charset="-120"/>
              </a:rPr>
              <a:t>A shared engineering baseline is what turns individuals into a stronger team.</a:t>
            </a:r>
            <a:endParaRPr lang="en-US" sz="2000" dirty="0"/>
          </a:p>
        </p:txBody>
      </p:sp>
      <p:sp>
        <p:nvSpPr>
          <p:cNvPr id="7" name="Shape 5"/>
          <p:cNvSpPr/>
          <p:nvPr/>
        </p:nvSpPr>
        <p:spPr>
          <a:xfrm>
            <a:off x="6903720" y="1417320"/>
            <a:ext cx="4572000" cy="4434840"/>
          </a:xfrm>
          <a:prstGeom prst="roundRect">
            <a:avLst>
              <a:gd name="adj" fmla="val 2474"/>
            </a:avLst>
          </a:prstGeom>
          <a:solidFill>
            <a:srgbClr val="FFFFFF"/>
          </a:solidFill>
          <a:ln w="12700">
            <a:solidFill>
              <a:srgbClr val="CBD5E1"/>
            </a:solidFill>
            <a:prstDash val="solid"/>
          </a:ln>
          <a:effectLst>
            <a:outerShdw blurRad="25400" dist="12700" dir="2700000" algn="bl" rotWithShape="0">
              <a:srgbClr val="000000">
                <a:alpha val="16000"/>
              </a:srgbClr>
            </a:outerShdw>
          </a:effectLst>
        </p:spPr>
      </p:sp>
      <p:sp>
        <p:nvSpPr>
          <p:cNvPr id="8" name="Text 6"/>
          <p:cNvSpPr/>
          <p:nvPr/>
        </p:nvSpPr>
        <p:spPr>
          <a:xfrm>
            <a:off x="7269480" y="1755648"/>
            <a:ext cx="2468880" cy="228600"/>
          </a:xfrm>
          <a:prstGeom prst="rect">
            <a:avLst/>
          </a:prstGeom>
          <a:noFill/>
          <a:ln/>
        </p:spPr>
        <p:txBody>
          <a:bodyPr wrap="square" lIns="0" tIns="0" rIns="0" bIns="0" rtlCol="0" anchor="ctr"/>
          <a:lstStyle/>
          <a:p>
            <a:pPr marL="0" indent="0">
              <a:buNone/>
            </a:pPr>
            <a:r>
              <a:rPr lang="en-US" sz="1900" b="1" dirty="0">
                <a:solidFill>
                  <a:srgbClr val="0F172A"/>
                </a:solidFill>
              </a:rPr>
              <a:t>The gap we are closing</a:t>
            </a:r>
            <a:endParaRPr lang="en-US" sz="1900" dirty="0"/>
          </a:p>
        </p:txBody>
      </p:sp>
      <p:sp>
        <p:nvSpPr>
          <p:cNvPr id="9" name="Shape 7"/>
          <p:cNvSpPr/>
          <p:nvPr/>
        </p:nvSpPr>
        <p:spPr>
          <a:xfrm>
            <a:off x="7269480" y="2286000"/>
            <a:ext cx="1783080" cy="2651760"/>
          </a:xfrm>
          <a:prstGeom prst="roundRect">
            <a:avLst>
              <a:gd name="adj" fmla="val 3077"/>
            </a:avLst>
          </a:prstGeom>
          <a:solidFill>
            <a:srgbClr val="DBEAFE"/>
          </a:solidFill>
          <a:ln w="12700">
            <a:solidFill>
              <a:srgbClr val="2563EB"/>
            </a:solidFill>
            <a:prstDash val="solid"/>
          </a:ln>
        </p:spPr>
      </p:sp>
      <p:sp>
        <p:nvSpPr>
          <p:cNvPr id="10" name="Text 8"/>
          <p:cNvSpPr/>
          <p:nvPr/>
        </p:nvSpPr>
        <p:spPr>
          <a:xfrm>
            <a:off x="7379208" y="2450592"/>
            <a:ext cx="1572768" cy="310896"/>
          </a:xfrm>
          <a:prstGeom prst="rect">
            <a:avLst/>
          </a:prstGeom>
          <a:noFill/>
          <a:ln/>
        </p:spPr>
        <p:txBody>
          <a:bodyPr wrap="square" lIns="0" tIns="0" rIns="0" bIns="0" rtlCol="0" anchor="ctr"/>
          <a:lstStyle/>
          <a:p>
            <a:pPr marL="0" indent="0" algn="ctr">
              <a:buNone/>
            </a:pPr>
            <a:r>
              <a:rPr lang="en-US" sz="1400" b="1" dirty="0">
                <a:solidFill>
                  <a:srgbClr val="0F172A"/>
                </a:solidFill>
              </a:rPr>
              <a:t>Internet gives</a:t>
            </a:r>
            <a:endParaRPr lang="en-US" sz="1400" dirty="0"/>
          </a:p>
        </p:txBody>
      </p:sp>
      <p:sp>
        <p:nvSpPr>
          <p:cNvPr id="11" name="Text 9"/>
          <p:cNvSpPr/>
          <p:nvPr/>
        </p:nvSpPr>
        <p:spPr>
          <a:xfrm>
            <a:off x="7397496" y="2907792"/>
            <a:ext cx="1481328" cy="1737360"/>
          </a:xfrm>
          <a:prstGeom prst="rect">
            <a:avLst/>
          </a:prstGeom>
          <a:noFill/>
          <a:ln/>
        </p:spPr>
        <p:txBody>
          <a:bodyPr wrap="square" lIns="0" tIns="0" rIns="0" bIns="0" rtlCol="0" anchor="ctr"/>
          <a:lstStyle/>
          <a:p>
            <a:pPr marL="0" indent="0">
              <a:buNone/>
            </a:pPr>
            <a:r>
              <a:rPr lang="en-US" sz="1400" b="1" dirty="0">
                <a:solidFill>
                  <a:srgbClr val="2563EB"/>
                </a:solidFill>
              </a:rPr>
              <a:t>• </a:t>
            </a:r>
            <a:r>
              <a:rPr lang="en-US" sz="1400" dirty="0">
                <a:solidFill>
                  <a:srgbClr val="334155"/>
                </a:solidFill>
              </a:rPr>
              <a:t>Tutorials
</a:t>
            </a:r>
            <a:r>
              <a:rPr lang="en-US" sz="1400" b="1" dirty="0">
                <a:solidFill>
                  <a:srgbClr val="2563EB"/>
                </a:solidFill>
              </a:rPr>
              <a:t>• </a:t>
            </a:r>
            <a:r>
              <a:rPr lang="en-US" sz="1400" dirty="0">
                <a:solidFill>
                  <a:srgbClr val="334155"/>
                </a:solidFill>
              </a:rPr>
              <a:t>Examples
</a:t>
            </a:r>
            <a:r>
              <a:rPr lang="en-US" sz="1400" b="1" dirty="0">
                <a:solidFill>
                  <a:srgbClr val="2563EB"/>
                </a:solidFill>
              </a:rPr>
              <a:t>• </a:t>
            </a:r>
            <a:r>
              <a:rPr lang="en-US" sz="1400" dirty="0">
                <a:solidFill>
                  <a:srgbClr val="334155"/>
                </a:solidFill>
              </a:rPr>
              <a:t>Reference docs
</a:t>
            </a:r>
            <a:r>
              <a:rPr lang="en-US" sz="1400" b="1" dirty="0">
                <a:solidFill>
                  <a:srgbClr val="2563EB"/>
                </a:solidFill>
              </a:rPr>
              <a:t>• </a:t>
            </a:r>
            <a:r>
              <a:rPr lang="en-US" sz="1400" dirty="0">
                <a:solidFill>
                  <a:srgbClr val="334155"/>
                </a:solidFill>
              </a:rPr>
              <a:t>Fast answers</a:t>
            </a:r>
            <a:endParaRPr lang="en-US" sz="1400" dirty="0"/>
          </a:p>
        </p:txBody>
      </p:sp>
      <p:sp>
        <p:nvSpPr>
          <p:cNvPr id="12" name="Shape 10"/>
          <p:cNvSpPr/>
          <p:nvPr/>
        </p:nvSpPr>
        <p:spPr>
          <a:xfrm>
            <a:off x="9326880" y="2286000"/>
            <a:ext cx="1783080" cy="2651760"/>
          </a:xfrm>
          <a:prstGeom prst="roundRect">
            <a:avLst>
              <a:gd name="adj" fmla="val 3077"/>
            </a:avLst>
          </a:prstGeom>
          <a:solidFill>
            <a:srgbClr val="CCFBF1"/>
          </a:solidFill>
          <a:ln w="12700">
            <a:solidFill>
              <a:srgbClr val="14B8A6"/>
            </a:solidFill>
            <a:prstDash val="solid"/>
          </a:ln>
        </p:spPr>
      </p:sp>
      <p:sp>
        <p:nvSpPr>
          <p:cNvPr id="13" name="Text 11"/>
          <p:cNvSpPr/>
          <p:nvPr/>
        </p:nvSpPr>
        <p:spPr>
          <a:xfrm>
            <a:off x="9436608" y="2450592"/>
            <a:ext cx="1572768" cy="310896"/>
          </a:xfrm>
          <a:prstGeom prst="rect">
            <a:avLst/>
          </a:prstGeom>
          <a:noFill/>
          <a:ln/>
        </p:spPr>
        <p:txBody>
          <a:bodyPr wrap="square" lIns="0" tIns="0" rIns="0" bIns="0" rtlCol="0" anchor="ctr"/>
          <a:lstStyle/>
          <a:p>
            <a:pPr marL="0" indent="0" algn="ctr">
              <a:buNone/>
            </a:pPr>
            <a:r>
              <a:rPr lang="en-US" sz="1400" b="1" dirty="0">
                <a:solidFill>
                  <a:srgbClr val="0F172A"/>
                </a:solidFill>
              </a:rPr>
              <a:t>Training must add</a:t>
            </a:r>
            <a:endParaRPr lang="en-US" sz="1400" dirty="0"/>
          </a:p>
        </p:txBody>
      </p:sp>
      <p:sp>
        <p:nvSpPr>
          <p:cNvPr id="14" name="Text 12"/>
          <p:cNvSpPr/>
          <p:nvPr/>
        </p:nvSpPr>
        <p:spPr>
          <a:xfrm>
            <a:off x="9454896" y="2907792"/>
            <a:ext cx="1481328" cy="1737360"/>
          </a:xfrm>
          <a:prstGeom prst="rect">
            <a:avLst/>
          </a:prstGeom>
          <a:noFill/>
          <a:ln/>
        </p:spPr>
        <p:txBody>
          <a:bodyPr wrap="square" lIns="0" tIns="0" rIns="0" bIns="0" rtlCol="0" anchor="ctr"/>
          <a:lstStyle/>
          <a:p>
            <a:pPr marL="0" indent="0">
              <a:buNone/>
            </a:pPr>
            <a:r>
              <a:rPr lang="en-US" sz="1400" b="1" dirty="0">
                <a:solidFill>
                  <a:srgbClr val="14B8A6"/>
                </a:solidFill>
              </a:rPr>
              <a:t>• </a:t>
            </a:r>
            <a:r>
              <a:rPr lang="en-US" sz="1400" dirty="0">
                <a:solidFill>
                  <a:srgbClr val="334155"/>
                </a:solidFill>
              </a:rPr>
              <a:t>Sequence
</a:t>
            </a:r>
            <a:r>
              <a:rPr lang="en-US" sz="1400" b="1" dirty="0">
                <a:solidFill>
                  <a:srgbClr val="14B8A6"/>
                </a:solidFill>
              </a:rPr>
              <a:t>• </a:t>
            </a:r>
            <a:r>
              <a:rPr lang="en-US" sz="1400" dirty="0">
                <a:solidFill>
                  <a:srgbClr val="334155"/>
                </a:solidFill>
              </a:rPr>
              <a:t>Correction
</a:t>
            </a:r>
            <a:r>
              <a:rPr lang="en-US" sz="1400" b="1" dirty="0">
                <a:solidFill>
                  <a:srgbClr val="14B8A6"/>
                </a:solidFill>
              </a:rPr>
              <a:t>• </a:t>
            </a:r>
            <a:r>
              <a:rPr lang="en-US" sz="1400" dirty="0">
                <a:solidFill>
                  <a:srgbClr val="334155"/>
                </a:solidFill>
              </a:rPr>
              <a:t>Standards
</a:t>
            </a:r>
            <a:r>
              <a:rPr lang="en-US" sz="1400" b="1" dirty="0">
                <a:solidFill>
                  <a:srgbClr val="14B8A6"/>
                </a:solidFill>
              </a:rPr>
              <a:t>• </a:t>
            </a:r>
            <a:r>
              <a:rPr lang="en-US" sz="1400" dirty="0">
                <a:solidFill>
                  <a:srgbClr val="334155"/>
                </a:solidFill>
              </a:rPr>
              <a:t>Accountability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76656" y="264951"/>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OUTCOMES</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What this bootcamp is designed to improve</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A one-week baseline for better engineering behavior.</a:t>
            </a:r>
            <a:endParaRPr lang="en-US" sz="1400" b="1" dirty="0"/>
          </a:p>
        </p:txBody>
      </p:sp>
      <p:sp>
        <p:nvSpPr>
          <p:cNvPr id="5" name="Shape 3"/>
          <p:cNvSpPr/>
          <p:nvPr/>
        </p:nvSpPr>
        <p:spPr>
          <a:xfrm>
            <a:off x="9372600" y="502920"/>
            <a:ext cx="2103120" cy="164592"/>
          </a:xfrm>
          <a:prstGeom prst="roundRect">
            <a:avLst>
              <a:gd name="adj" fmla="val 22222"/>
            </a:avLst>
          </a:prstGeom>
          <a:solidFill>
            <a:srgbClr val="2563EB"/>
          </a:solidFill>
          <a:ln w="12700">
            <a:solidFill>
              <a:srgbClr val="2563EB"/>
            </a:solidFill>
            <a:prstDash val="solid"/>
          </a:ln>
        </p:spPr>
      </p:sp>
      <p:sp>
        <p:nvSpPr>
          <p:cNvPr id="6" name="Shape 4"/>
          <p:cNvSpPr/>
          <p:nvPr/>
        </p:nvSpPr>
        <p:spPr>
          <a:xfrm>
            <a:off x="822960" y="1554480"/>
            <a:ext cx="4983480" cy="1417320"/>
          </a:xfrm>
          <a:prstGeom prst="roundRect">
            <a:avLst>
              <a:gd name="adj" fmla="val 5161"/>
            </a:avLst>
          </a:prstGeom>
          <a:solidFill>
            <a:srgbClr val="FFFFFF"/>
          </a:solidFill>
          <a:ln w="12700">
            <a:solidFill>
              <a:srgbClr val="2563EB"/>
            </a:solidFill>
            <a:prstDash val="solid"/>
          </a:ln>
          <a:effectLst>
            <a:outerShdw blurRad="19050" dist="12700" dir="2700000" algn="bl" rotWithShape="0">
              <a:srgbClr val="000000">
                <a:alpha val="12000"/>
              </a:srgbClr>
            </a:outerShdw>
          </a:effectLst>
        </p:spPr>
      </p:sp>
      <p:sp>
        <p:nvSpPr>
          <p:cNvPr id="7" name="Shape 5"/>
          <p:cNvSpPr/>
          <p:nvPr/>
        </p:nvSpPr>
        <p:spPr>
          <a:xfrm>
            <a:off x="1024128" y="1783080"/>
            <a:ext cx="438912" cy="438912"/>
          </a:xfrm>
          <a:prstGeom prst="ellipse">
            <a:avLst/>
          </a:prstGeom>
          <a:solidFill>
            <a:srgbClr val="DBEAFE"/>
          </a:solidFill>
          <a:ln w="12700">
            <a:solidFill>
              <a:srgbClr val="2563EB"/>
            </a:solidFill>
            <a:prstDash val="solid"/>
          </a:ln>
        </p:spPr>
      </p:sp>
      <p:sp>
        <p:nvSpPr>
          <p:cNvPr id="8" name="Text 6"/>
          <p:cNvSpPr/>
          <p:nvPr/>
        </p:nvSpPr>
        <p:spPr>
          <a:xfrm>
            <a:off x="1024128" y="1901952"/>
            <a:ext cx="438912" cy="109728"/>
          </a:xfrm>
          <a:prstGeom prst="rect">
            <a:avLst/>
          </a:prstGeom>
          <a:noFill/>
          <a:ln/>
        </p:spPr>
        <p:txBody>
          <a:bodyPr wrap="square" lIns="0" tIns="0" rIns="0" bIns="0" rtlCol="0" anchor="ctr"/>
          <a:lstStyle/>
          <a:p>
            <a:pPr marL="0" indent="0" algn="ctr">
              <a:buNone/>
            </a:pPr>
            <a:r>
              <a:rPr lang="en-US" sz="1200" b="1" dirty="0">
                <a:solidFill>
                  <a:srgbClr val="2563EB"/>
                </a:solidFill>
              </a:rPr>
              <a:t>1</a:t>
            </a:r>
            <a:endParaRPr lang="en-US" sz="1200" dirty="0"/>
          </a:p>
        </p:txBody>
      </p:sp>
      <p:sp>
        <p:nvSpPr>
          <p:cNvPr id="9" name="Text 7"/>
          <p:cNvSpPr/>
          <p:nvPr/>
        </p:nvSpPr>
        <p:spPr>
          <a:xfrm>
            <a:off x="1609344" y="1746504"/>
            <a:ext cx="3886200" cy="219456"/>
          </a:xfrm>
          <a:prstGeom prst="rect">
            <a:avLst/>
          </a:prstGeom>
          <a:noFill/>
          <a:ln/>
        </p:spPr>
        <p:txBody>
          <a:bodyPr wrap="square" lIns="0" tIns="0" rIns="0" bIns="0" rtlCol="0" anchor="ctr"/>
          <a:lstStyle/>
          <a:p>
            <a:pPr marL="0" indent="0">
              <a:buNone/>
            </a:pPr>
            <a:r>
              <a:rPr lang="en-US" sz="1800" b="1" dirty="0">
                <a:solidFill>
                  <a:srgbClr val="0F172A"/>
                </a:solidFill>
              </a:rPr>
              <a:t>Cleaner backend structure</a:t>
            </a:r>
            <a:endParaRPr lang="en-US" sz="1800" dirty="0"/>
          </a:p>
        </p:txBody>
      </p:sp>
      <p:sp>
        <p:nvSpPr>
          <p:cNvPr id="10" name="Text 8"/>
          <p:cNvSpPr/>
          <p:nvPr/>
        </p:nvSpPr>
        <p:spPr>
          <a:xfrm>
            <a:off x="1609344" y="2066544"/>
            <a:ext cx="3822192" cy="502920"/>
          </a:xfrm>
          <a:prstGeom prst="rect">
            <a:avLst/>
          </a:prstGeom>
          <a:noFill/>
          <a:ln/>
        </p:spPr>
        <p:txBody>
          <a:bodyPr wrap="square" lIns="0" tIns="0" rIns="0" bIns="0" rtlCol="0" anchor="ctr"/>
          <a:lstStyle/>
          <a:p>
            <a:pPr marL="0" indent="0">
              <a:buNone/>
            </a:pPr>
            <a:r>
              <a:rPr lang="en-US" sz="1350" dirty="0">
                <a:solidFill>
                  <a:srgbClr val="334155"/>
                </a:solidFill>
              </a:rPr>
              <a:t>Controllers, services, DTOs, and clearer responsibility boundaries.</a:t>
            </a:r>
            <a:endParaRPr lang="en-US" sz="1350" dirty="0"/>
          </a:p>
        </p:txBody>
      </p:sp>
      <p:sp>
        <p:nvSpPr>
          <p:cNvPr id="11" name="Shape 9"/>
          <p:cNvSpPr/>
          <p:nvPr/>
        </p:nvSpPr>
        <p:spPr>
          <a:xfrm>
            <a:off x="6309360" y="1554480"/>
            <a:ext cx="4983480" cy="1417320"/>
          </a:xfrm>
          <a:prstGeom prst="roundRect">
            <a:avLst>
              <a:gd name="adj" fmla="val 5161"/>
            </a:avLst>
          </a:prstGeom>
          <a:solidFill>
            <a:srgbClr val="FFFFFF"/>
          </a:solidFill>
          <a:ln w="12700">
            <a:solidFill>
              <a:srgbClr val="14B8A6"/>
            </a:solidFill>
            <a:prstDash val="solid"/>
          </a:ln>
          <a:effectLst>
            <a:outerShdw blurRad="19050" dist="12700" dir="2700000" algn="bl" rotWithShape="0">
              <a:srgbClr val="000000">
                <a:alpha val="12000"/>
              </a:srgbClr>
            </a:outerShdw>
          </a:effectLst>
        </p:spPr>
      </p:sp>
      <p:sp>
        <p:nvSpPr>
          <p:cNvPr id="12" name="Shape 10"/>
          <p:cNvSpPr/>
          <p:nvPr/>
        </p:nvSpPr>
        <p:spPr>
          <a:xfrm>
            <a:off x="6510528" y="1783080"/>
            <a:ext cx="438912" cy="438912"/>
          </a:xfrm>
          <a:prstGeom prst="ellipse">
            <a:avLst/>
          </a:prstGeom>
          <a:solidFill>
            <a:srgbClr val="CCFBF1"/>
          </a:solidFill>
          <a:ln w="12700">
            <a:solidFill>
              <a:srgbClr val="14B8A6"/>
            </a:solidFill>
            <a:prstDash val="solid"/>
          </a:ln>
        </p:spPr>
      </p:sp>
      <p:sp>
        <p:nvSpPr>
          <p:cNvPr id="13" name="Text 11"/>
          <p:cNvSpPr/>
          <p:nvPr/>
        </p:nvSpPr>
        <p:spPr>
          <a:xfrm>
            <a:off x="6510528" y="1901952"/>
            <a:ext cx="438912" cy="109728"/>
          </a:xfrm>
          <a:prstGeom prst="rect">
            <a:avLst/>
          </a:prstGeom>
          <a:noFill/>
          <a:ln/>
        </p:spPr>
        <p:txBody>
          <a:bodyPr wrap="square" lIns="0" tIns="0" rIns="0" bIns="0" rtlCol="0" anchor="ctr"/>
          <a:lstStyle/>
          <a:p>
            <a:pPr marL="0" indent="0" algn="ctr">
              <a:buNone/>
            </a:pPr>
            <a:r>
              <a:rPr lang="en-US" sz="1200" b="1" dirty="0">
                <a:solidFill>
                  <a:srgbClr val="14B8A6"/>
                </a:solidFill>
              </a:rPr>
              <a:t>2</a:t>
            </a:r>
            <a:endParaRPr lang="en-US" sz="1200" dirty="0"/>
          </a:p>
        </p:txBody>
      </p:sp>
      <p:sp>
        <p:nvSpPr>
          <p:cNvPr id="14" name="Text 12"/>
          <p:cNvSpPr/>
          <p:nvPr/>
        </p:nvSpPr>
        <p:spPr>
          <a:xfrm>
            <a:off x="7095744" y="1746504"/>
            <a:ext cx="3886200" cy="219456"/>
          </a:xfrm>
          <a:prstGeom prst="rect">
            <a:avLst/>
          </a:prstGeom>
          <a:noFill/>
          <a:ln/>
        </p:spPr>
        <p:txBody>
          <a:bodyPr wrap="square" lIns="0" tIns="0" rIns="0" bIns="0" rtlCol="0" anchor="ctr"/>
          <a:lstStyle/>
          <a:p>
            <a:pPr marL="0" indent="0">
              <a:buNone/>
            </a:pPr>
            <a:r>
              <a:rPr lang="en-US" sz="1800" b="1" dirty="0">
                <a:solidFill>
                  <a:srgbClr val="0F172A"/>
                </a:solidFill>
              </a:rPr>
              <a:t>Better API thinking</a:t>
            </a:r>
            <a:endParaRPr lang="en-US" sz="1800" dirty="0"/>
          </a:p>
        </p:txBody>
      </p:sp>
      <p:sp>
        <p:nvSpPr>
          <p:cNvPr id="15" name="Text 13"/>
          <p:cNvSpPr/>
          <p:nvPr/>
        </p:nvSpPr>
        <p:spPr>
          <a:xfrm>
            <a:off x="7095744" y="2066544"/>
            <a:ext cx="3822192" cy="502920"/>
          </a:xfrm>
          <a:prstGeom prst="rect">
            <a:avLst/>
          </a:prstGeom>
          <a:noFill/>
          <a:ln/>
        </p:spPr>
        <p:txBody>
          <a:bodyPr wrap="square" lIns="0" tIns="0" rIns="0" bIns="0" rtlCol="0" anchor="ctr"/>
          <a:lstStyle/>
          <a:p>
            <a:pPr marL="0" indent="0">
              <a:buNone/>
            </a:pPr>
            <a:r>
              <a:rPr lang="en-US" sz="1350" dirty="0">
                <a:solidFill>
                  <a:srgbClr val="334155"/>
                </a:solidFill>
              </a:rPr>
              <a:t>More intentional routes, status codes, validation, and response contracts.</a:t>
            </a:r>
            <a:endParaRPr lang="en-US" sz="1350" dirty="0"/>
          </a:p>
        </p:txBody>
      </p:sp>
      <p:sp>
        <p:nvSpPr>
          <p:cNvPr id="16" name="Shape 14"/>
          <p:cNvSpPr/>
          <p:nvPr/>
        </p:nvSpPr>
        <p:spPr>
          <a:xfrm>
            <a:off x="822960" y="3429000"/>
            <a:ext cx="4983480" cy="1417320"/>
          </a:xfrm>
          <a:prstGeom prst="roundRect">
            <a:avLst>
              <a:gd name="adj" fmla="val 5161"/>
            </a:avLst>
          </a:prstGeom>
          <a:solidFill>
            <a:srgbClr val="FFFFFF"/>
          </a:solidFill>
          <a:ln w="12700">
            <a:solidFill>
              <a:srgbClr val="2563EB"/>
            </a:solidFill>
            <a:prstDash val="solid"/>
          </a:ln>
          <a:effectLst>
            <a:outerShdw blurRad="19050" dist="12700" dir="2700000" algn="bl" rotWithShape="0">
              <a:srgbClr val="000000">
                <a:alpha val="12000"/>
              </a:srgbClr>
            </a:outerShdw>
          </a:effectLst>
        </p:spPr>
      </p:sp>
      <p:sp>
        <p:nvSpPr>
          <p:cNvPr id="17" name="Shape 15"/>
          <p:cNvSpPr/>
          <p:nvPr/>
        </p:nvSpPr>
        <p:spPr>
          <a:xfrm>
            <a:off x="1024128" y="3657600"/>
            <a:ext cx="438912" cy="438912"/>
          </a:xfrm>
          <a:prstGeom prst="ellipse">
            <a:avLst/>
          </a:prstGeom>
          <a:solidFill>
            <a:srgbClr val="DBEAFE"/>
          </a:solidFill>
          <a:ln w="12700">
            <a:solidFill>
              <a:srgbClr val="2563EB"/>
            </a:solidFill>
            <a:prstDash val="solid"/>
          </a:ln>
        </p:spPr>
      </p:sp>
      <p:sp>
        <p:nvSpPr>
          <p:cNvPr id="18" name="Text 16"/>
          <p:cNvSpPr/>
          <p:nvPr/>
        </p:nvSpPr>
        <p:spPr>
          <a:xfrm>
            <a:off x="1024128" y="3776472"/>
            <a:ext cx="438912" cy="109728"/>
          </a:xfrm>
          <a:prstGeom prst="rect">
            <a:avLst/>
          </a:prstGeom>
          <a:noFill/>
          <a:ln/>
        </p:spPr>
        <p:txBody>
          <a:bodyPr wrap="square" lIns="0" tIns="0" rIns="0" bIns="0" rtlCol="0" anchor="ctr"/>
          <a:lstStyle/>
          <a:p>
            <a:pPr marL="0" indent="0" algn="ctr">
              <a:buNone/>
            </a:pPr>
            <a:r>
              <a:rPr lang="en-US" sz="1200" b="1" dirty="0">
                <a:solidFill>
                  <a:srgbClr val="2563EB"/>
                </a:solidFill>
              </a:rPr>
              <a:t>3</a:t>
            </a:r>
            <a:endParaRPr lang="en-US" sz="1200" dirty="0"/>
          </a:p>
        </p:txBody>
      </p:sp>
      <p:sp>
        <p:nvSpPr>
          <p:cNvPr id="19" name="Text 17"/>
          <p:cNvSpPr/>
          <p:nvPr/>
        </p:nvSpPr>
        <p:spPr>
          <a:xfrm>
            <a:off x="1609344" y="3621024"/>
            <a:ext cx="3886200" cy="219456"/>
          </a:xfrm>
          <a:prstGeom prst="rect">
            <a:avLst/>
          </a:prstGeom>
          <a:noFill/>
          <a:ln/>
        </p:spPr>
        <p:txBody>
          <a:bodyPr wrap="square" lIns="0" tIns="0" rIns="0" bIns="0" rtlCol="0" anchor="ctr"/>
          <a:lstStyle/>
          <a:p>
            <a:pPr marL="0" indent="0">
              <a:buNone/>
            </a:pPr>
            <a:r>
              <a:rPr lang="en-US" sz="1800" b="1" dirty="0">
                <a:solidFill>
                  <a:srgbClr val="0F172A"/>
                </a:solidFill>
              </a:rPr>
              <a:t>Stronger full-stack awareness</a:t>
            </a:r>
            <a:endParaRPr lang="en-US" sz="1800" dirty="0"/>
          </a:p>
        </p:txBody>
      </p:sp>
      <p:sp>
        <p:nvSpPr>
          <p:cNvPr id="20" name="Text 18"/>
          <p:cNvSpPr/>
          <p:nvPr/>
        </p:nvSpPr>
        <p:spPr>
          <a:xfrm>
            <a:off x="1609344" y="3941064"/>
            <a:ext cx="3822192" cy="502920"/>
          </a:xfrm>
          <a:prstGeom prst="rect">
            <a:avLst/>
          </a:prstGeom>
          <a:noFill/>
          <a:ln/>
        </p:spPr>
        <p:txBody>
          <a:bodyPr wrap="square" lIns="0" tIns="0" rIns="0" bIns="0" rtlCol="0" anchor="ctr"/>
          <a:lstStyle/>
          <a:p>
            <a:pPr marL="0" indent="0">
              <a:buNone/>
            </a:pPr>
            <a:r>
              <a:rPr lang="en-US" sz="1350" dirty="0">
                <a:solidFill>
                  <a:srgbClr val="334155"/>
                </a:solidFill>
              </a:rPr>
              <a:t>React, API, and database seen as one connected delivery flow.</a:t>
            </a:r>
            <a:endParaRPr lang="en-US" sz="1350" dirty="0"/>
          </a:p>
        </p:txBody>
      </p:sp>
      <p:sp>
        <p:nvSpPr>
          <p:cNvPr id="21" name="Shape 19"/>
          <p:cNvSpPr/>
          <p:nvPr/>
        </p:nvSpPr>
        <p:spPr>
          <a:xfrm>
            <a:off x="6309360" y="3429000"/>
            <a:ext cx="4983480" cy="1417320"/>
          </a:xfrm>
          <a:prstGeom prst="roundRect">
            <a:avLst>
              <a:gd name="adj" fmla="val 5161"/>
            </a:avLst>
          </a:prstGeom>
          <a:solidFill>
            <a:srgbClr val="FFFFFF"/>
          </a:solidFill>
          <a:ln w="12700">
            <a:solidFill>
              <a:srgbClr val="14B8A6"/>
            </a:solidFill>
            <a:prstDash val="solid"/>
          </a:ln>
          <a:effectLst>
            <a:outerShdw blurRad="19050" dist="12700" dir="2700000" algn="bl" rotWithShape="0">
              <a:srgbClr val="000000">
                <a:alpha val="12000"/>
              </a:srgbClr>
            </a:outerShdw>
          </a:effectLst>
        </p:spPr>
      </p:sp>
      <p:sp>
        <p:nvSpPr>
          <p:cNvPr id="22" name="Shape 20"/>
          <p:cNvSpPr/>
          <p:nvPr/>
        </p:nvSpPr>
        <p:spPr>
          <a:xfrm>
            <a:off x="6510528" y="3657600"/>
            <a:ext cx="438912" cy="438912"/>
          </a:xfrm>
          <a:prstGeom prst="ellipse">
            <a:avLst/>
          </a:prstGeom>
          <a:solidFill>
            <a:srgbClr val="CCFBF1"/>
          </a:solidFill>
          <a:ln w="12700">
            <a:solidFill>
              <a:srgbClr val="14B8A6"/>
            </a:solidFill>
            <a:prstDash val="solid"/>
          </a:ln>
        </p:spPr>
      </p:sp>
      <p:sp>
        <p:nvSpPr>
          <p:cNvPr id="23" name="Text 21"/>
          <p:cNvSpPr/>
          <p:nvPr/>
        </p:nvSpPr>
        <p:spPr>
          <a:xfrm>
            <a:off x="6510528" y="3776472"/>
            <a:ext cx="438912" cy="109728"/>
          </a:xfrm>
          <a:prstGeom prst="rect">
            <a:avLst/>
          </a:prstGeom>
          <a:noFill/>
          <a:ln/>
        </p:spPr>
        <p:txBody>
          <a:bodyPr wrap="square" lIns="0" tIns="0" rIns="0" bIns="0" rtlCol="0" anchor="ctr"/>
          <a:lstStyle/>
          <a:p>
            <a:pPr marL="0" indent="0" algn="ctr">
              <a:buNone/>
            </a:pPr>
            <a:r>
              <a:rPr lang="en-US" sz="1200" b="1" dirty="0">
                <a:solidFill>
                  <a:srgbClr val="14B8A6"/>
                </a:solidFill>
              </a:rPr>
              <a:t>4</a:t>
            </a:r>
            <a:endParaRPr lang="en-US" sz="1200" dirty="0"/>
          </a:p>
        </p:txBody>
      </p:sp>
      <p:sp>
        <p:nvSpPr>
          <p:cNvPr id="24" name="Text 22"/>
          <p:cNvSpPr/>
          <p:nvPr/>
        </p:nvSpPr>
        <p:spPr>
          <a:xfrm>
            <a:off x="7095744" y="3621024"/>
            <a:ext cx="3886200" cy="219456"/>
          </a:xfrm>
          <a:prstGeom prst="rect">
            <a:avLst/>
          </a:prstGeom>
          <a:noFill/>
          <a:ln/>
        </p:spPr>
        <p:txBody>
          <a:bodyPr wrap="square" lIns="0" tIns="0" rIns="0" bIns="0" rtlCol="0" anchor="ctr"/>
          <a:lstStyle/>
          <a:p>
            <a:pPr marL="0" indent="0">
              <a:buNone/>
            </a:pPr>
            <a:r>
              <a:rPr lang="en-US" sz="1800" b="1" dirty="0">
                <a:solidFill>
                  <a:srgbClr val="0F172A"/>
                </a:solidFill>
              </a:rPr>
              <a:t>Better delivery discipline</a:t>
            </a:r>
            <a:endParaRPr lang="en-US" sz="1800" dirty="0"/>
          </a:p>
        </p:txBody>
      </p:sp>
      <p:sp>
        <p:nvSpPr>
          <p:cNvPr id="25" name="Text 23"/>
          <p:cNvSpPr/>
          <p:nvPr/>
        </p:nvSpPr>
        <p:spPr>
          <a:xfrm>
            <a:off x="7095744" y="3941064"/>
            <a:ext cx="3822192" cy="502920"/>
          </a:xfrm>
          <a:prstGeom prst="rect">
            <a:avLst/>
          </a:prstGeom>
          <a:noFill/>
          <a:ln/>
        </p:spPr>
        <p:txBody>
          <a:bodyPr wrap="square" lIns="0" tIns="0" rIns="0" bIns="0" rtlCol="0" anchor="ctr"/>
          <a:lstStyle/>
          <a:p>
            <a:pPr marL="0" indent="0">
              <a:buNone/>
            </a:pPr>
            <a:r>
              <a:rPr lang="en-US" sz="1350" dirty="0">
                <a:solidFill>
                  <a:srgbClr val="334155"/>
                </a:solidFill>
              </a:rPr>
              <a:t>Improved naming, review language, and definition of done.</a:t>
            </a:r>
            <a:endParaRPr lang="en-US" sz="1350" dirty="0"/>
          </a:p>
        </p:txBody>
      </p:sp>
      <p:sp>
        <p:nvSpPr>
          <p:cNvPr id="26" name="Shape 24"/>
          <p:cNvSpPr/>
          <p:nvPr/>
        </p:nvSpPr>
        <p:spPr>
          <a:xfrm>
            <a:off x="868680" y="5440680"/>
            <a:ext cx="10424160" cy="658368"/>
          </a:xfrm>
          <a:prstGeom prst="roundRect">
            <a:avLst>
              <a:gd name="adj" fmla="val 8333"/>
            </a:avLst>
          </a:prstGeom>
          <a:solidFill>
            <a:srgbClr val="0F172A"/>
          </a:solidFill>
          <a:ln w="12700">
            <a:solidFill>
              <a:srgbClr val="0F172A"/>
            </a:solidFill>
            <a:prstDash val="solid"/>
          </a:ln>
        </p:spPr>
      </p:sp>
      <p:sp>
        <p:nvSpPr>
          <p:cNvPr id="27" name="Text 25"/>
          <p:cNvSpPr/>
          <p:nvPr/>
        </p:nvSpPr>
        <p:spPr>
          <a:xfrm>
            <a:off x="1097280" y="5650992"/>
            <a:ext cx="10012680" cy="164592"/>
          </a:xfrm>
          <a:prstGeom prst="rect">
            <a:avLst/>
          </a:prstGeom>
          <a:noFill/>
          <a:ln/>
        </p:spPr>
        <p:txBody>
          <a:bodyPr wrap="square" lIns="0" tIns="0" rIns="0" bIns="0" rtlCol="0" anchor="ctr"/>
          <a:lstStyle/>
          <a:p>
            <a:pPr marL="0" indent="0" algn="ctr">
              <a:buNone/>
            </a:pPr>
            <a:r>
              <a:rPr lang="en-US" sz="1700" b="1" dirty="0">
                <a:solidFill>
                  <a:srgbClr val="FFFFFF"/>
                </a:solidFill>
              </a:rPr>
              <a:t>Not mastery in five days — a stronger baseline for how the team thinks, builds, reviews, and explains software.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76656" y="253800"/>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MENTAL MODEL</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Full-stack is one connected flow</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Frontend and backend are not separate worlds; they are one delivery pipeline.</a:t>
            </a:r>
            <a:endParaRPr lang="en-US" sz="1400" b="1" dirty="0"/>
          </a:p>
        </p:txBody>
      </p:sp>
      <p:sp>
        <p:nvSpPr>
          <p:cNvPr id="5" name="Shape 3"/>
          <p:cNvSpPr/>
          <p:nvPr/>
        </p:nvSpPr>
        <p:spPr>
          <a:xfrm>
            <a:off x="9601200" y="502920"/>
            <a:ext cx="1737360" cy="164592"/>
          </a:xfrm>
          <a:prstGeom prst="roundRect">
            <a:avLst>
              <a:gd name="adj" fmla="val 22222"/>
            </a:avLst>
          </a:prstGeom>
          <a:solidFill>
            <a:srgbClr val="14B8A6"/>
          </a:solidFill>
          <a:ln w="12700">
            <a:solidFill>
              <a:srgbClr val="14B8A6"/>
            </a:solidFill>
            <a:prstDash val="solid"/>
          </a:ln>
        </p:spPr>
      </p:sp>
      <p:sp>
        <p:nvSpPr>
          <p:cNvPr id="6" name="Shape 4"/>
          <p:cNvSpPr/>
          <p:nvPr/>
        </p:nvSpPr>
        <p:spPr>
          <a:xfrm>
            <a:off x="822960" y="2240280"/>
            <a:ext cx="1920240" cy="914400"/>
          </a:xfrm>
          <a:prstGeom prst="roundRect">
            <a:avLst>
              <a:gd name="adj" fmla="val 8000"/>
            </a:avLst>
          </a:prstGeom>
          <a:solidFill>
            <a:srgbClr val="DBEAFE"/>
          </a:solidFill>
          <a:ln w="12700">
            <a:solidFill>
              <a:srgbClr val="2563EB"/>
            </a:solidFill>
            <a:prstDash val="solid"/>
          </a:ln>
        </p:spPr>
      </p:sp>
      <p:sp>
        <p:nvSpPr>
          <p:cNvPr id="7" name="Text 5"/>
          <p:cNvSpPr/>
          <p:nvPr/>
        </p:nvSpPr>
        <p:spPr>
          <a:xfrm>
            <a:off x="896112" y="2395728"/>
            <a:ext cx="1773936" cy="164592"/>
          </a:xfrm>
          <a:prstGeom prst="rect">
            <a:avLst/>
          </a:prstGeom>
          <a:noFill/>
          <a:ln/>
        </p:spPr>
        <p:txBody>
          <a:bodyPr wrap="square" lIns="0" tIns="0" rIns="0" bIns="0" rtlCol="0" anchor="ctr"/>
          <a:lstStyle/>
          <a:p>
            <a:pPr marL="0" indent="0" algn="ctr">
              <a:buNone/>
            </a:pPr>
            <a:r>
              <a:rPr lang="en-US" sz="1700" b="1" dirty="0">
                <a:solidFill>
                  <a:srgbClr val="0F172A"/>
                </a:solidFill>
              </a:rPr>
              <a:t>React UI</a:t>
            </a:r>
            <a:endParaRPr lang="en-US" sz="1700" dirty="0"/>
          </a:p>
        </p:txBody>
      </p:sp>
      <p:sp>
        <p:nvSpPr>
          <p:cNvPr id="8" name="Text 6"/>
          <p:cNvSpPr/>
          <p:nvPr/>
        </p:nvSpPr>
        <p:spPr>
          <a:xfrm>
            <a:off x="932688" y="2651760"/>
            <a:ext cx="1700784" cy="347472"/>
          </a:xfrm>
          <a:prstGeom prst="rect">
            <a:avLst/>
          </a:prstGeom>
          <a:noFill/>
          <a:ln/>
        </p:spPr>
        <p:txBody>
          <a:bodyPr wrap="square" lIns="0" tIns="0" rIns="0" bIns="0" rtlCol="0" anchor="ctr"/>
          <a:lstStyle/>
          <a:p>
            <a:pPr marL="0" indent="0" algn="ctr">
              <a:buNone/>
            </a:pPr>
            <a:r>
              <a:rPr lang="en-US" sz="1200" dirty="0">
                <a:solidFill>
                  <a:srgbClr val="334155"/>
                </a:solidFill>
              </a:rPr>
              <a:t>User input</a:t>
            </a:r>
            <a:endParaRPr lang="en-US" sz="1200" dirty="0"/>
          </a:p>
          <a:p>
            <a:pPr marL="0" indent="0" algn="ctr">
              <a:buNone/>
            </a:pPr>
            <a:r>
              <a:rPr lang="en-US" sz="1200" dirty="0">
                <a:solidFill>
                  <a:srgbClr val="334155"/>
                </a:solidFill>
              </a:rPr>
              <a:t>button click</a:t>
            </a:r>
            <a:endParaRPr lang="en-US" sz="1200" dirty="0"/>
          </a:p>
          <a:p>
            <a:pPr marL="0" indent="0" algn="ctr">
              <a:buNone/>
            </a:pPr>
            <a:r>
              <a:rPr lang="en-US" sz="1200" dirty="0">
                <a:solidFill>
                  <a:srgbClr val="334155"/>
                </a:solidFill>
              </a:rPr>
              <a:t>form state</a:t>
            </a:r>
            <a:endParaRPr lang="en-US" sz="1200" dirty="0"/>
          </a:p>
        </p:txBody>
      </p:sp>
      <p:sp>
        <p:nvSpPr>
          <p:cNvPr id="9" name="Shape 7"/>
          <p:cNvSpPr/>
          <p:nvPr/>
        </p:nvSpPr>
        <p:spPr>
          <a:xfrm>
            <a:off x="2807208" y="2697480"/>
            <a:ext cx="237744" cy="0"/>
          </a:xfrm>
          <a:prstGeom prst="line">
            <a:avLst/>
          </a:prstGeom>
          <a:noFill/>
          <a:ln w="12700">
            <a:solidFill>
              <a:srgbClr val="64748B"/>
            </a:solidFill>
            <a:prstDash val="solid"/>
          </a:ln>
        </p:spPr>
      </p:sp>
      <p:sp>
        <p:nvSpPr>
          <p:cNvPr id="10" name="Shape 8"/>
          <p:cNvSpPr/>
          <p:nvPr/>
        </p:nvSpPr>
        <p:spPr>
          <a:xfrm>
            <a:off x="3017520" y="2240280"/>
            <a:ext cx="1920240" cy="914400"/>
          </a:xfrm>
          <a:prstGeom prst="roundRect">
            <a:avLst>
              <a:gd name="adj" fmla="val 8000"/>
            </a:avLst>
          </a:prstGeom>
          <a:solidFill>
            <a:srgbClr val="E0F2FE"/>
          </a:solidFill>
          <a:ln w="12700">
            <a:solidFill>
              <a:srgbClr val="06B6D4"/>
            </a:solidFill>
            <a:prstDash val="solid"/>
          </a:ln>
        </p:spPr>
      </p:sp>
      <p:sp>
        <p:nvSpPr>
          <p:cNvPr id="11" name="Text 9"/>
          <p:cNvSpPr/>
          <p:nvPr/>
        </p:nvSpPr>
        <p:spPr>
          <a:xfrm>
            <a:off x="3090672" y="2395728"/>
            <a:ext cx="1773936" cy="164592"/>
          </a:xfrm>
          <a:prstGeom prst="rect">
            <a:avLst/>
          </a:prstGeom>
          <a:noFill/>
          <a:ln/>
        </p:spPr>
        <p:txBody>
          <a:bodyPr wrap="square" lIns="0" tIns="0" rIns="0" bIns="0" rtlCol="0" anchor="ctr"/>
          <a:lstStyle/>
          <a:p>
            <a:pPr marL="0" indent="0" algn="ctr">
              <a:buNone/>
            </a:pPr>
            <a:r>
              <a:rPr lang="en-US" sz="1700" b="1" dirty="0">
                <a:solidFill>
                  <a:srgbClr val="0F172A"/>
                </a:solidFill>
              </a:rPr>
              <a:t>HTTP API</a:t>
            </a:r>
            <a:endParaRPr lang="en-US" sz="1700" dirty="0"/>
          </a:p>
        </p:txBody>
      </p:sp>
      <p:sp>
        <p:nvSpPr>
          <p:cNvPr id="12" name="Text 10"/>
          <p:cNvSpPr/>
          <p:nvPr/>
        </p:nvSpPr>
        <p:spPr>
          <a:xfrm>
            <a:off x="3127248" y="2651760"/>
            <a:ext cx="1700784" cy="347472"/>
          </a:xfrm>
          <a:prstGeom prst="rect">
            <a:avLst/>
          </a:prstGeom>
          <a:noFill/>
          <a:ln/>
        </p:spPr>
        <p:txBody>
          <a:bodyPr wrap="square" lIns="0" tIns="0" rIns="0" bIns="0" rtlCol="0" anchor="ctr"/>
          <a:lstStyle/>
          <a:p>
            <a:pPr marL="0" indent="0" algn="ctr">
              <a:buNone/>
            </a:pPr>
            <a:r>
              <a:rPr lang="en-US" sz="1200" dirty="0">
                <a:solidFill>
                  <a:srgbClr val="334155"/>
                </a:solidFill>
              </a:rPr>
              <a:t>Request</a:t>
            </a:r>
            <a:endParaRPr lang="en-US" sz="1200" dirty="0"/>
          </a:p>
          <a:p>
            <a:pPr marL="0" indent="0" algn="ctr">
              <a:buNone/>
            </a:pPr>
            <a:r>
              <a:rPr lang="en-US" sz="1200" dirty="0">
                <a:solidFill>
                  <a:srgbClr val="334155"/>
                </a:solidFill>
              </a:rPr>
              <a:t>routes</a:t>
            </a:r>
            <a:endParaRPr lang="en-US" sz="1200" dirty="0"/>
          </a:p>
          <a:p>
            <a:pPr marL="0" indent="0" algn="ctr">
              <a:buNone/>
            </a:pPr>
            <a:r>
              <a:rPr lang="en-US" sz="1200" dirty="0">
                <a:solidFill>
                  <a:srgbClr val="334155"/>
                </a:solidFill>
              </a:rPr>
              <a:t>status codes</a:t>
            </a:r>
            <a:endParaRPr lang="en-US" sz="1200" dirty="0"/>
          </a:p>
        </p:txBody>
      </p:sp>
      <p:sp>
        <p:nvSpPr>
          <p:cNvPr id="13" name="Shape 11"/>
          <p:cNvSpPr/>
          <p:nvPr/>
        </p:nvSpPr>
        <p:spPr>
          <a:xfrm>
            <a:off x="5001768" y="2697480"/>
            <a:ext cx="237744" cy="0"/>
          </a:xfrm>
          <a:prstGeom prst="line">
            <a:avLst/>
          </a:prstGeom>
          <a:noFill/>
          <a:ln w="12700">
            <a:solidFill>
              <a:srgbClr val="64748B"/>
            </a:solidFill>
            <a:prstDash val="solid"/>
          </a:ln>
        </p:spPr>
      </p:sp>
      <p:sp>
        <p:nvSpPr>
          <p:cNvPr id="14" name="Shape 12"/>
          <p:cNvSpPr/>
          <p:nvPr/>
        </p:nvSpPr>
        <p:spPr>
          <a:xfrm>
            <a:off x="5212080" y="2240280"/>
            <a:ext cx="1920240" cy="914400"/>
          </a:xfrm>
          <a:prstGeom prst="roundRect">
            <a:avLst>
              <a:gd name="adj" fmla="val 8000"/>
            </a:avLst>
          </a:prstGeom>
          <a:solidFill>
            <a:srgbClr val="DCFCE7"/>
          </a:solidFill>
          <a:ln w="12700">
            <a:solidFill>
              <a:srgbClr val="22C55E"/>
            </a:solidFill>
            <a:prstDash val="solid"/>
          </a:ln>
        </p:spPr>
      </p:sp>
      <p:sp>
        <p:nvSpPr>
          <p:cNvPr id="15" name="Text 13"/>
          <p:cNvSpPr/>
          <p:nvPr/>
        </p:nvSpPr>
        <p:spPr>
          <a:xfrm>
            <a:off x="5285232" y="2395728"/>
            <a:ext cx="1773936" cy="164592"/>
          </a:xfrm>
          <a:prstGeom prst="rect">
            <a:avLst/>
          </a:prstGeom>
          <a:noFill/>
          <a:ln/>
        </p:spPr>
        <p:txBody>
          <a:bodyPr wrap="square" lIns="0" tIns="0" rIns="0" bIns="0" rtlCol="0" anchor="ctr"/>
          <a:lstStyle/>
          <a:p>
            <a:pPr marL="0" indent="0" algn="ctr">
              <a:buNone/>
            </a:pPr>
            <a:r>
              <a:rPr lang="en-US" sz="1700" b="1" dirty="0">
                <a:solidFill>
                  <a:srgbClr val="0F172A"/>
                </a:solidFill>
              </a:rPr>
              <a:t>Service Logic</a:t>
            </a:r>
            <a:endParaRPr lang="en-US" sz="1700" dirty="0"/>
          </a:p>
        </p:txBody>
      </p:sp>
      <p:sp>
        <p:nvSpPr>
          <p:cNvPr id="16" name="Text 14"/>
          <p:cNvSpPr/>
          <p:nvPr/>
        </p:nvSpPr>
        <p:spPr>
          <a:xfrm>
            <a:off x="5321808" y="2651760"/>
            <a:ext cx="1700784" cy="347472"/>
          </a:xfrm>
          <a:prstGeom prst="rect">
            <a:avLst/>
          </a:prstGeom>
          <a:noFill/>
          <a:ln/>
        </p:spPr>
        <p:txBody>
          <a:bodyPr wrap="square" lIns="0" tIns="0" rIns="0" bIns="0" rtlCol="0" anchor="ctr"/>
          <a:lstStyle/>
          <a:p>
            <a:pPr marL="0" indent="0" algn="ctr">
              <a:buNone/>
            </a:pPr>
            <a:r>
              <a:rPr lang="en-US" sz="1200" dirty="0">
                <a:solidFill>
                  <a:srgbClr val="334155"/>
                </a:solidFill>
              </a:rPr>
              <a:t>Rules</a:t>
            </a:r>
            <a:endParaRPr lang="en-US" sz="1200" dirty="0"/>
          </a:p>
          <a:p>
            <a:pPr marL="0" indent="0" algn="ctr">
              <a:buNone/>
            </a:pPr>
            <a:r>
              <a:rPr lang="en-US" sz="1200" dirty="0">
                <a:solidFill>
                  <a:srgbClr val="334155"/>
                </a:solidFill>
              </a:rPr>
              <a:t>validation</a:t>
            </a:r>
            <a:endParaRPr lang="en-US" sz="1200" dirty="0"/>
          </a:p>
          <a:p>
            <a:pPr marL="0" indent="0" algn="ctr">
              <a:buNone/>
            </a:pPr>
            <a:r>
              <a:rPr lang="en-US" sz="1200" dirty="0">
                <a:solidFill>
                  <a:srgbClr val="334155"/>
                </a:solidFill>
              </a:rPr>
              <a:t>workflow</a:t>
            </a:r>
            <a:endParaRPr lang="en-US" sz="1200" dirty="0"/>
          </a:p>
        </p:txBody>
      </p:sp>
      <p:sp>
        <p:nvSpPr>
          <p:cNvPr id="17" name="Shape 15"/>
          <p:cNvSpPr/>
          <p:nvPr/>
        </p:nvSpPr>
        <p:spPr>
          <a:xfrm>
            <a:off x="7196328" y="2697480"/>
            <a:ext cx="237744" cy="0"/>
          </a:xfrm>
          <a:prstGeom prst="line">
            <a:avLst/>
          </a:prstGeom>
          <a:noFill/>
          <a:ln w="12700">
            <a:solidFill>
              <a:srgbClr val="64748B"/>
            </a:solidFill>
            <a:prstDash val="solid"/>
          </a:ln>
        </p:spPr>
      </p:sp>
      <p:sp>
        <p:nvSpPr>
          <p:cNvPr id="18" name="Shape 16"/>
          <p:cNvSpPr/>
          <p:nvPr/>
        </p:nvSpPr>
        <p:spPr>
          <a:xfrm>
            <a:off x="7406640" y="2240280"/>
            <a:ext cx="1920240" cy="914400"/>
          </a:xfrm>
          <a:prstGeom prst="roundRect">
            <a:avLst>
              <a:gd name="adj" fmla="val 8000"/>
            </a:avLst>
          </a:prstGeom>
          <a:solidFill>
            <a:srgbClr val="CCFBF1"/>
          </a:solidFill>
          <a:ln w="12700">
            <a:solidFill>
              <a:srgbClr val="14B8A6"/>
            </a:solidFill>
            <a:prstDash val="solid"/>
          </a:ln>
        </p:spPr>
      </p:sp>
      <p:sp>
        <p:nvSpPr>
          <p:cNvPr id="19" name="Text 17"/>
          <p:cNvSpPr/>
          <p:nvPr/>
        </p:nvSpPr>
        <p:spPr>
          <a:xfrm>
            <a:off x="7479792" y="2395728"/>
            <a:ext cx="1773936" cy="164592"/>
          </a:xfrm>
          <a:prstGeom prst="rect">
            <a:avLst/>
          </a:prstGeom>
          <a:noFill/>
          <a:ln/>
        </p:spPr>
        <p:txBody>
          <a:bodyPr wrap="square" lIns="0" tIns="0" rIns="0" bIns="0" rtlCol="0" anchor="ctr"/>
          <a:lstStyle/>
          <a:p>
            <a:pPr marL="0" indent="0" algn="ctr">
              <a:buNone/>
            </a:pPr>
            <a:r>
              <a:rPr lang="en-US" sz="1700" b="1" dirty="0">
                <a:solidFill>
                  <a:srgbClr val="0F172A"/>
                </a:solidFill>
              </a:rPr>
              <a:t>MongoDB</a:t>
            </a:r>
            <a:endParaRPr lang="en-US" sz="1700" dirty="0"/>
          </a:p>
        </p:txBody>
      </p:sp>
      <p:sp>
        <p:nvSpPr>
          <p:cNvPr id="20" name="Text 18"/>
          <p:cNvSpPr/>
          <p:nvPr/>
        </p:nvSpPr>
        <p:spPr>
          <a:xfrm>
            <a:off x="7516368" y="2651760"/>
            <a:ext cx="1700784" cy="347472"/>
          </a:xfrm>
          <a:prstGeom prst="rect">
            <a:avLst/>
          </a:prstGeom>
          <a:noFill/>
          <a:ln/>
        </p:spPr>
        <p:txBody>
          <a:bodyPr wrap="square" lIns="0" tIns="0" rIns="0" bIns="0" rtlCol="0" anchor="ctr"/>
          <a:lstStyle/>
          <a:p>
            <a:pPr marL="0" indent="0" algn="ctr">
              <a:buNone/>
            </a:pPr>
            <a:r>
              <a:rPr lang="en-US" sz="1200" dirty="0">
                <a:solidFill>
                  <a:srgbClr val="334155"/>
                </a:solidFill>
              </a:rPr>
              <a:t>Documents</a:t>
            </a:r>
            <a:endParaRPr lang="en-US" sz="1200" dirty="0"/>
          </a:p>
          <a:p>
            <a:pPr marL="0" indent="0" algn="ctr">
              <a:buNone/>
            </a:pPr>
            <a:r>
              <a:rPr lang="en-US" sz="1200" dirty="0">
                <a:solidFill>
                  <a:srgbClr val="334155"/>
                </a:solidFill>
              </a:rPr>
              <a:t>queries</a:t>
            </a:r>
            <a:endParaRPr lang="en-US" sz="1200" dirty="0"/>
          </a:p>
          <a:p>
            <a:pPr marL="0" indent="0" algn="ctr">
              <a:buNone/>
            </a:pPr>
            <a:r>
              <a:rPr lang="en-US" sz="1200" dirty="0">
                <a:solidFill>
                  <a:srgbClr val="334155"/>
                </a:solidFill>
              </a:rPr>
              <a:t>persistence</a:t>
            </a:r>
            <a:endParaRPr lang="en-US" sz="1200" dirty="0"/>
          </a:p>
        </p:txBody>
      </p:sp>
      <p:sp>
        <p:nvSpPr>
          <p:cNvPr id="21" name="Shape 19"/>
          <p:cNvSpPr/>
          <p:nvPr/>
        </p:nvSpPr>
        <p:spPr>
          <a:xfrm>
            <a:off x="9390888" y="2697480"/>
            <a:ext cx="237744" cy="0"/>
          </a:xfrm>
          <a:prstGeom prst="line">
            <a:avLst/>
          </a:prstGeom>
          <a:noFill/>
          <a:ln w="12700">
            <a:solidFill>
              <a:srgbClr val="64748B"/>
            </a:solidFill>
            <a:prstDash val="solid"/>
          </a:ln>
        </p:spPr>
      </p:sp>
      <p:sp>
        <p:nvSpPr>
          <p:cNvPr id="22" name="Shape 20"/>
          <p:cNvSpPr/>
          <p:nvPr/>
        </p:nvSpPr>
        <p:spPr>
          <a:xfrm>
            <a:off x="9601200" y="2240280"/>
            <a:ext cx="1828800" cy="914400"/>
          </a:xfrm>
          <a:prstGeom prst="roundRect">
            <a:avLst>
              <a:gd name="adj" fmla="val 8000"/>
            </a:avLst>
          </a:prstGeom>
          <a:solidFill>
            <a:srgbClr val="FEF3C7"/>
          </a:solidFill>
          <a:ln w="12700">
            <a:solidFill>
              <a:srgbClr val="F59E0B"/>
            </a:solidFill>
            <a:prstDash val="solid"/>
          </a:ln>
        </p:spPr>
      </p:sp>
      <p:sp>
        <p:nvSpPr>
          <p:cNvPr id="23" name="Text 21"/>
          <p:cNvSpPr/>
          <p:nvPr/>
        </p:nvSpPr>
        <p:spPr>
          <a:xfrm>
            <a:off x="9674352" y="2395728"/>
            <a:ext cx="1682496" cy="164592"/>
          </a:xfrm>
          <a:prstGeom prst="rect">
            <a:avLst/>
          </a:prstGeom>
          <a:noFill/>
          <a:ln/>
        </p:spPr>
        <p:txBody>
          <a:bodyPr wrap="square" lIns="0" tIns="0" rIns="0" bIns="0" rtlCol="0" anchor="ctr"/>
          <a:lstStyle/>
          <a:p>
            <a:pPr marL="0" indent="0" algn="ctr">
              <a:buNone/>
            </a:pPr>
            <a:r>
              <a:rPr lang="en-US" sz="1700" b="1" dirty="0">
                <a:solidFill>
                  <a:srgbClr val="0F172A"/>
                </a:solidFill>
              </a:rPr>
              <a:t>UI Update</a:t>
            </a:r>
            <a:endParaRPr lang="en-US" sz="1700" dirty="0"/>
          </a:p>
        </p:txBody>
      </p:sp>
      <p:sp>
        <p:nvSpPr>
          <p:cNvPr id="24" name="Text 22"/>
          <p:cNvSpPr/>
          <p:nvPr/>
        </p:nvSpPr>
        <p:spPr>
          <a:xfrm>
            <a:off x="9710928" y="2651760"/>
            <a:ext cx="1609344" cy="347472"/>
          </a:xfrm>
          <a:prstGeom prst="rect">
            <a:avLst/>
          </a:prstGeom>
          <a:noFill/>
          <a:ln/>
        </p:spPr>
        <p:txBody>
          <a:bodyPr wrap="square" lIns="0" tIns="0" rIns="0" bIns="0" rtlCol="0" anchor="ctr"/>
          <a:lstStyle/>
          <a:p>
            <a:pPr marL="0" indent="0" algn="ctr">
              <a:buNone/>
            </a:pPr>
            <a:r>
              <a:rPr lang="en-US" sz="1200" dirty="0">
                <a:solidFill>
                  <a:srgbClr val="334155"/>
                </a:solidFill>
              </a:rPr>
              <a:t>Feedback</a:t>
            </a:r>
            <a:endParaRPr lang="en-US" sz="1200" dirty="0"/>
          </a:p>
          <a:p>
            <a:pPr marL="0" indent="0" algn="ctr">
              <a:buNone/>
            </a:pPr>
            <a:r>
              <a:rPr lang="en-US" sz="1200" dirty="0">
                <a:solidFill>
                  <a:srgbClr val="334155"/>
                </a:solidFill>
              </a:rPr>
              <a:t>refresh</a:t>
            </a:r>
            <a:endParaRPr lang="en-US" sz="1200" dirty="0"/>
          </a:p>
          <a:p>
            <a:pPr marL="0" indent="0" algn="ctr">
              <a:buNone/>
            </a:pPr>
            <a:r>
              <a:rPr lang="en-US" sz="1200" dirty="0">
                <a:solidFill>
                  <a:srgbClr val="334155"/>
                </a:solidFill>
              </a:rPr>
              <a:t>next action</a:t>
            </a:r>
            <a:endParaRPr lang="en-US" sz="1200" dirty="0"/>
          </a:p>
        </p:txBody>
      </p:sp>
      <p:sp>
        <p:nvSpPr>
          <p:cNvPr id="25" name="Shape 23"/>
          <p:cNvSpPr/>
          <p:nvPr/>
        </p:nvSpPr>
        <p:spPr>
          <a:xfrm>
            <a:off x="1783080" y="3840480"/>
            <a:ext cx="7955280" cy="0"/>
          </a:xfrm>
          <a:prstGeom prst="line">
            <a:avLst/>
          </a:prstGeom>
          <a:noFill/>
          <a:ln w="12700">
            <a:solidFill>
              <a:srgbClr val="CBD5E1"/>
            </a:solidFill>
            <a:prstDash val="solid"/>
          </a:ln>
        </p:spPr>
      </p:sp>
      <p:sp>
        <p:nvSpPr>
          <p:cNvPr id="26" name="Text 24"/>
          <p:cNvSpPr/>
          <p:nvPr/>
        </p:nvSpPr>
        <p:spPr>
          <a:xfrm>
            <a:off x="2286000" y="3977640"/>
            <a:ext cx="7498080" cy="182880"/>
          </a:xfrm>
          <a:prstGeom prst="rect">
            <a:avLst/>
          </a:prstGeom>
          <a:noFill/>
          <a:ln/>
        </p:spPr>
        <p:txBody>
          <a:bodyPr wrap="square" lIns="0" tIns="0" rIns="0" bIns="0" rtlCol="0" anchor="ctr"/>
          <a:lstStyle/>
          <a:p>
            <a:pPr marL="0" indent="0" algn="ctr">
              <a:buNone/>
            </a:pPr>
            <a:r>
              <a:rPr lang="en-US" sz="1700" b="1" dirty="0">
                <a:solidFill>
                  <a:srgbClr val="0F172A"/>
                </a:solidFill>
              </a:rPr>
              <a:t>When one part of the flow is weak, the whole feature gets weaker.</a:t>
            </a:r>
            <a:endParaRPr lang="en-US" sz="1700" dirty="0"/>
          </a:p>
        </p:txBody>
      </p:sp>
      <p:sp>
        <p:nvSpPr>
          <p:cNvPr id="27" name="Text 25"/>
          <p:cNvSpPr/>
          <p:nvPr/>
        </p:nvSpPr>
        <p:spPr>
          <a:xfrm>
            <a:off x="960120" y="4617720"/>
            <a:ext cx="10241280" cy="1097280"/>
          </a:xfrm>
          <a:prstGeom prst="rect">
            <a:avLst/>
          </a:prstGeom>
          <a:noFill/>
          <a:ln/>
        </p:spPr>
        <p:txBody>
          <a:bodyPr wrap="square" lIns="0" tIns="0" rIns="0" bIns="0" rtlCol="0" anchor="ctr"/>
          <a:lstStyle/>
          <a:p>
            <a:pPr marL="0" indent="0">
              <a:buNone/>
            </a:pPr>
            <a:r>
              <a:rPr lang="en-US" sz="1600" b="1" dirty="0">
                <a:solidFill>
                  <a:srgbClr val="2563EB"/>
                </a:solidFill>
              </a:rPr>
              <a:t>• </a:t>
            </a:r>
            <a:r>
              <a:rPr lang="en-US" sz="1600" dirty="0">
                <a:solidFill>
                  <a:srgbClr val="334155"/>
                </a:solidFill>
              </a:rPr>
              <a:t>Frontend quality depends on clear API contracts.
</a:t>
            </a:r>
            <a:r>
              <a:rPr lang="en-US" sz="1600" b="1" dirty="0">
                <a:solidFill>
                  <a:srgbClr val="2563EB"/>
                </a:solidFill>
              </a:rPr>
              <a:t>• </a:t>
            </a:r>
            <a:r>
              <a:rPr lang="en-US" sz="1600" dirty="0">
                <a:solidFill>
                  <a:srgbClr val="334155"/>
                </a:solidFill>
              </a:rPr>
              <a:t>Backend quality depends on separation, validation, and predictable responses.
</a:t>
            </a:r>
            <a:r>
              <a:rPr lang="en-US" sz="1600" b="1" dirty="0">
                <a:solidFill>
                  <a:srgbClr val="2563EB"/>
                </a:solidFill>
              </a:rPr>
              <a:t>• </a:t>
            </a:r>
            <a:r>
              <a:rPr lang="en-US" sz="1600" dirty="0">
                <a:solidFill>
                  <a:srgbClr val="334155"/>
                </a:solidFill>
              </a:rPr>
              <a:t>Database access should support the flow, not leak everywhere.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76656" y="253800"/>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LIFECYCLE</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From button click to saved data</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This request lifecycle is the backbone of the whole bootcamp.</a:t>
            </a:r>
            <a:endParaRPr lang="en-US" sz="1400" b="1" dirty="0"/>
          </a:p>
        </p:txBody>
      </p:sp>
      <p:sp>
        <p:nvSpPr>
          <p:cNvPr id="5" name="Shape 3"/>
          <p:cNvSpPr/>
          <p:nvPr/>
        </p:nvSpPr>
        <p:spPr>
          <a:xfrm>
            <a:off x="9601200" y="502920"/>
            <a:ext cx="1645920" cy="164592"/>
          </a:xfrm>
          <a:prstGeom prst="roundRect">
            <a:avLst>
              <a:gd name="adj" fmla="val 22222"/>
            </a:avLst>
          </a:prstGeom>
          <a:solidFill>
            <a:srgbClr val="06B6D4"/>
          </a:solidFill>
          <a:ln w="12700">
            <a:solidFill>
              <a:srgbClr val="06B6D4"/>
            </a:solidFill>
            <a:prstDash val="solid"/>
          </a:ln>
        </p:spPr>
      </p:sp>
      <p:sp>
        <p:nvSpPr>
          <p:cNvPr id="6" name="Shape 4"/>
          <p:cNvSpPr/>
          <p:nvPr/>
        </p:nvSpPr>
        <p:spPr>
          <a:xfrm>
            <a:off x="1005840" y="2944368"/>
            <a:ext cx="10058400" cy="0"/>
          </a:xfrm>
          <a:prstGeom prst="line">
            <a:avLst/>
          </a:prstGeom>
          <a:noFill/>
          <a:ln w="12700">
            <a:solidFill>
              <a:srgbClr val="CBD5E1"/>
            </a:solidFill>
            <a:prstDash val="solid"/>
          </a:ln>
        </p:spPr>
      </p:sp>
      <p:sp>
        <p:nvSpPr>
          <p:cNvPr id="7" name="Shape 5"/>
          <p:cNvSpPr/>
          <p:nvPr/>
        </p:nvSpPr>
        <p:spPr>
          <a:xfrm>
            <a:off x="868680" y="2633472"/>
            <a:ext cx="566928" cy="566928"/>
          </a:xfrm>
          <a:prstGeom prst="ellipse">
            <a:avLst/>
          </a:prstGeom>
          <a:solidFill>
            <a:srgbClr val="DBEAFE"/>
          </a:solidFill>
          <a:ln w="12700">
            <a:solidFill>
              <a:srgbClr val="2563EB"/>
            </a:solidFill>
            <a:prstDash val="solid"/>
          </a:ln>
        </p:spPr>
      </p:sp>
      <p:sp>
        <p:nvSpPr>
          <p:cNvPr id="8" name="Text 6"/>
          <p:cNvSpPr/>
          <p:nvPr/>
        </p:nvSpPr>
        <p:spPr>
          <a:xfrm>
            <a:off x="868680" y="2807208"/>
            <a:ext cx="566928" cy="109728"/>
          </a:xfrm>
          <a:prstGeom prst="rect">
            <a:avLst/>
          </a:prstGeom>
          <a:noFill/>
          <a:ln/>
        </p:spPr>
        <p:txBody>
          <a:bodyPr wrap="square" lIns="0" tIns="0" rIns="0" bIns="0" rtlCol="0" anchor="ctr"/>
          <a:lstStyle/>
          <a:p>
            <a:pPr marL="0" indent="0" algn="ctr">
              <a:buNone/>
            </a:pPr>
            <a:r>
              <a:rPr lang="en-US" sz="1400" b="1" dirty="0">
                <a:solidFill>
                  <a:srgbClr val="2563EB"/>
                </a:solidFill>
              </a:rPr>
              <a:t>1</a:t>
            </a:r>
            <a:endParaRPr lang="en-US" sz="1400" dirty="0"/>
          </a:p>
        </p:txBody>
      </p:sp>
      <p:sp>
        <p:nvSpPr>
          <p:cNvPr id="9" name="Text 7"/>
          <p:cNvSpPr/>
          <p:nvPr/>
        </p:nvSpPr>
        <p:spPr>
          <a:xfrm>
            <a:off x="566928" y="3346704"/>
            <a:ext cx="1188720" cy="676656"/>
          </a:xfrm>
          <a:prstGeom prst="rect">
            <a:avLst/>
          </a:prstGeom>
          <a:noFill/>
          <a:ln/>
        </p:spPr>
        <p:txBody>
          <a:bodyPr wrap="square" lIns="0" tIns="0" rIns="0" bIns="0" rtlCol="0" anchor="ctr"/>
          <a:lstStyle/>
          <a:p>
            <a:pPr marL="0" indent="0" algn="ctr">
              <a:buNone/>
            </a:pPr>
            <a:r>
              <a:rPr lang="en-US" sz="1300" dirty="0">
                <a:solidFill>
                  <a:srgbClr val="334155"/>
                </a:solidFill>
              </a:rPr>
              <a:t>User enters data</a:t>
            </a:r>
            <a:endParaRPr lang="en-US" sz="1300" dirty="0"/>
          </a:p>
        </p:txBody>
      </p:sp>
      <p:sp>
        <p:nvSpPr>
          <p:cNvPr id="10" name="Shape 8"/>
          <p:cNvSpPr/>
          <p:nvPr/>
        </p:nvSpPr>
        <p:spPr>
          <a:xfrm>
            <a:off x="2221992" y="2633472"/>
            <a:ext cx="566928" cy="566928"/>
          </a:xfrm>
          <a:prstGeom prst="ellipse">
            <a:avLst/>
          </a:prstGeom>
          <a:solidFill>
            <a:srgbClr val="CCFBF1"/>
          </a:solidFill>
          <a:ln w="12700">
            <a:solidFill>
              <a:srgbClr val="14B8A6"/>
            </a:solidFill>
            <a:prstDash val="solid"/>
          </a:ln>
        </p:spPr>
      </p:sp>
      <p:sp>
        <p:nvSpPr>
          <p:cNvPr id="11" name="Text 9"/>
          <p:cNvSpPr/>
          <p:nvPr/>
        </p:nvSpPr>
        <p:spPr>
          <a:xfrm>
            <a:off x="2221992" y="2807208"/>
            <a:ext cx="566928" cy="109728"/>
          </a:xfrm>
          <a:prstGeom prst="rect">
            <a:avLst/>
          </a:prstGeom>
          <a:noFill/>
          <a:ln/>
        </p:spPr>
        <p:txBody>
          <a:bodyPr wrap="square" lIns="0" tIns="0" rIns="0" bIns="0" rtlCol="0" anchor="ctr"/>
          <a:lstStyle/>
          <a:p>
            <a:pPr marL="0" indent="0" algn="ctr">
              <a:buNone/>
            </a:pPr>
            <a:r>
              <a:rPr lang="en-US" sz="1400" b="1" dirty="0">
                <a:solidFill>
                  <a:srgbClr val="14B8A6"/>
                </a:solidFill>
              </a:rPr>
              <a:t>2</a:t>
            </a:r>
            <a:endParaRPr lang="en-US" sz="1400" dirty="0"/>
          </a:p>
        </p:txBody>
      </p:sp>
      <p:sp>
        <p:nvSpPr>
          <p:cNvPr id="12" name="Text 10"/>
          <p:cNvSpPr/>
          <p:nvPr/>
        </p:nvSpPr>
        <p:spPr>
          <a:xfrm>
            <a:off x="1920240" y="3346704"/>
            <a:ext cx="1188720" cy="676656"/>
          </a:xfrm>
          <a:prstGeom prst="rect">
            <a:avLst/>
          </a:prstGeom>
          <a:noFill/>
          <a:ln/>
        </p:spPr>
        <p:txBody>
          <a:bodyPr wrap="square" lIns="0" tIns="0" rIns="0" bIns="0" rtlCol="0" anchor="ctr"/>
          <a:lstStyle/>
          <a:p>
            <a:pPr marL="0" indent="0" algn="ctr">
              <a:buNone/>
            </a:pPr>
            <a:r>
              <a:rPr lang="en-US" sz="1300" dirty="0">
                <a:solidFill>
                  <a:srgbClr val="334155"/>
                </a:solidFill>
              </a:rPr>
              <a:t>Frontend validates basic input</a:t>
            </a:r>
            <a:endParaRPr lang="en-US" sz="1300" dirty="0"/>
          </a:p>
        </p:txBody>
      </p:sp>
      <p:sp>
        <p:nvSpPr>
          <p:cNvPr id="13" name="Shape 11"/>
          <p:cNvSpPr/>
          <p:nvPr/>
        </p:nvSpPr>
        <p:spPr>
          <a:xfrm>
            <a:off x="3575304" y="2633472"/>
            <a:ext cx="566928" cy="566928"/>
          </a:xfrm>
          <a:prstGeom prst="ellipse">
            <a:avLst/>
          </a:prstGeom>
          <a:solidFill>
            <a:srgbClr val="DBEAFE"/>
          </a:solidFill>
          <a:ln w="12700">
            <a:solidFill>
              <a:srgbClr val="2563EB"/>
            </a:solidFill>
            <a:prstDash val="solid"/>
          </a:ln>
        </p:spPr>
      </p:sp>
      <p:sp>
        <p:nvSpPr>
          <p:cNvPr id="14" name="Text 12"/>
          <p:cNvSpPr/>
          <p:nvPr/>
        </p:nvSpPr>
        <p:spPr>
          <a:xfrm>
            <a:off x="3575304" y="2807208"/>
            <a:ext cx="566928" cy="109728"/>
          </a:xfrm>
          <a:prstGeom prst="rect">
            <a:avLst/>
          </a:prstGeom>
          <a:noFill/>
          <a:ln/>
        </p:spPr>
        <p:txBody>
          <a:bodyPr wrap="square" lIns="0" tIns="0" rIns="0" bIns="0" rtlCol="0" anchor="ctr"/>
          <a:lstStyle/>
          <a:p>
            <a:pPr marL="0" indent="0" algn="ctr">
              <a:buNone/>
            </a:pPr>
            <a:r>
              <a:rPr lang="en-US" sz="1400" b="1" dirty="0">
                <a:solidFill>
                  <a:srgbClr val="2563EB"/>
                </a:solidFill>
              </a:rPr>
              <a:t>3</a:t>
            </a:r>
            <a:endParaRPr lang="en-US" sz="1400" dirty="0"/>
          </a:p>
        </p:txBody>
      </p:sp>
      <p:sp>
        <p:nvSpPr>
          <p:cNvPr id="15" name="Text 13"/>
          <p:cNvSpPr/>
          <p:nvPr/>
        </p:nvSpPr>
        <p:spPr>
          <a:xfrm>
            <a:off x="3273552" y="3346704"/>
            <a:ext cx="1188720" cy="676656"/>
          </a:xfrm>
          <a:prstGeom prst="rect">
            <a:avLst/>
          </a:prstGeom>
          <a:noFill/>
          <a:ln/>
        </p:spPr>
        <p:txBody>
          <a:bodyPr wrap="square" lIns="0" tIns="0" rIns="0" bIns="0" rtlCol="0" anchor="ctr"/>
          <a:lstStyle/>
          <a:p>
            <a:pPr marL="0" indent="0" algn="ctr">
              <a:buNone/>
            </a:pPr>
            <a:r>
              <a:rPr lang="en-US" sz="1300" dirty="0">
                <a:solidFill>
                  <a:srgbClr val="334155"/>
                </a:solidFill>
              </a:rPr>
              <a:t>API request is sent</a:t>
            </a:r>
            <a:endParaRPr lang="en-US" sz="1300" dirty="0"/>
          </a:p>
        </p:txBody>
      </p:sp>
      <p:sp>
        <p:nvSpPr>
          <p:cNvPr id="16" name="Shape 14"/>
          <p:cNvSpPr/>
          <p:nvPr/>
        </p:nvSpPr>
        <p:spPr>
          <a:xfrm>
            <a:off x="4928616" y="2633472"/>
            <a:ext cx="566928" cy="566928"/>
          </a:xfrm>
          <a:prstGeom prst="ellipse">
            <a:avLst/>
          </a:prstGeom>
          <a:solidFill>
            <a:srgbClr val="CCFBF1"/>
          </a:solidFill>
          <a:ln w="12700">
            <a:solidFill>
              <a:srgbClr val="14B8A6"/>
            </a:solidFill>
            <a:prstDash val="solid"/>
          </a:ln>
        </p:spPr>
      </p:sp>
      <p:sp>
        <p:nvSpPr>
          <p:cNvPr id="17" name="Text 15"/>
          <p:cNvSpPr/>
          <p:nvPr/>
        </p:nvSpPr>
        <p:spPr>
          <a:xfrm>
            <a:off x="4928616" y="2807208"/>
            <a:ext cx="566928" cy="109728"/>
          </a:xfrm>
          <a:prstGeom prst="rect">
            <a:avLst/>
          </a:prstGeom>
          <a:noFill/>
          <a:ln/>
        </p:spPr>
        <p:txBody>
          <a:bodyPr wrap="square" lIns="0" tIns="0" rIns="0" bIns="0" rtlCol="0" anchor="ctr"/>
          <a:lstStyle/>
          <a:p>
            <a:pPr marL="0" indent="0" algn="ctr">
              <a:buNone/>
            </a:pPr>
            <a:r>
              <a:rPr lang="en-US" sz="1400" b="1" dirty="0">
                <a:solidFill>
                  <a:srgbClr val="14B8A6"/>
                </a:solidFill>
              </a:rPr>
              <a:t>4</a:t>
            </a:r>
            <a:endParaRPr lang="en-US" sz="1400" dirty="0"/>
          </a:p>
        </p:txBody>
      </p:sp>
      <p:sp>
        <p:nvSpPr>
          <p:cNvPr id="18" name="Text 16"/>
          <p:cNvSpPr/>
          <p:nvPr/>
        </p:nvSpPr>
        <p:spPr>
          <a:xfrm>
            <a:off x="4626864" y="3346704"/>
            <a:ext cx="1188720" cy="676656"/>
          </a:xfrm>
          <a:prstGeom prst="rect">
            <a:avLst/>
          </a:prstGeom>
          <a:noFill/>
          <a:ln/>
        </p:spPr>
        <p:txBody>
          <a:bodyPr wrap="square" lIns="0" tIns="0" rIns="0" bIns="0" rtlCol="0" anchor="ctr"/>
          <a:lstStyle/>
          <a:p>
            <a:pPr marL="0" indent="0" algn="ctr">
              <a:buNone/>
            </a:pPr>
            <a:r>
              <a:rPr lang="en-US" sz="1300" dirty="0">
                <a:solidFill>
                  <a:srgbClr val="334155"/>
                </a:solidFill>
              </a:rPr>
              <a:t>Backend validates and routes</a:t>
            </a:r>
            <a:endParaRPr lang="en-US" sz="1300" dirty="0"/>
          </a:p>
        </p:txBody>
      </p:sp>
      <p:sp>
        <p:nvSpPr>
          <p:cNvPr id="19" name="Shape 17"/>
          <p:cNvSpPr/>
          <p:nvPr/>
        </p:nvSpPr>
        <p:spPr>
          <a:xfrm>
            <a:off x="6281928" y="2633472"/>
            <a:ext cx="566928" cy="566928"/>
          </a:xfrm>
          <a:prstGeom prst="ellipse">
            <a:avLst/>
          </a:prstGeom>
          <a:solidFill>
            <a:srgbClr val="DBEAFE"/>
          </a:solidFill>
          <a:ln w="12700">
            <a:solidFill>
              <a:srgbClr val="2563EB"/>
            </a:solidFill>
            <a:prstDash val="solid"/>
          </a:ln>
        </p:spPr>
      </p:sp>
      <p:sp>
        <p:nvSpPr>
          <p:cNvPr id="20" name="Text 18"/>
          <p:cNvSpPr/>
          <p:nvPr/>
        </p:nvSpPr>
        <p:spPr>
          <a:xfrm>
            <a:off x="6281928" y="2807208"/>
            <a:ext cx="566928" cy="109728"/>
          </a:xfrm>
          <a:prstGeom prst="rect">
            <a:avLst/>
          </a:prstGeom>
          <a:noFill/>
          <a:ln/>
        </p:spPr>
        <p:txBody>
          <a:bodyPr wrap="square" lIns="0" tIns="0" rIns="0" bIns="0" rtlCol="0" anchor="ctr"/>
          <a:lstStyle/>
          <a:p>
            <a:pPr marL="0" indent="0" algn="ctr">
              <a:buNone/>
            </a:pPr>
            <a:r>
              <a:rPr lang="en-US" sz="1400" b="1" dirty="0">
                <a:solidFill>
                  <a:srgbClr val="2563EB"/>
                </a:solidFill>
              </a:rPr>
              <a:t>5</a:t>
            </a:r>
            <a:endParaRPr lang="en-US" sz="1400" dirty="0"/>
          </a:p>
        </p:txBody>
      </p:sp>
      <p:sp>
        <p:nvSpPr>
          <p:cNvPr id="21" name="Text 19"/>
          <p:cNvSpPr/>
          <p:nvPr/>
        </p:nvSpPr>
        <p:spPr>
          <a:xfrm>
            <a:off x="5980176" y="3346704"/>
            <a:ext cx="1188720" cy="676656"/>
          </a:xfrm>
          <a:prstGeom prst="rect">
            <a:avLst/>
          </a:prstGeom>
          <a:noFill/>
          <a:ln/>
        </p:spPr>
        <p:txBody>
          <a:bodyPr wrap="square" lIns="0" tIns="0" rIns="0" bIns="0" rtlCol="0" anchor="ctr"/>
          <a:lstStyle/>
          <a:p>
            <a:pPr marL="0" indent="0" algn="ctr">
              <a:buNone/>
            </a:pPr>
            <a:r>
              <a:rPr lang="en-US" sz="1300" dirty="0">
                <a:solidFill>
                  <a:srgbClr val="334155"/>
                </a:solidFill>
              </a:rPr>
              <a:t>Service applies rules</a:t>
            </a:r>
            <a:endParaRPr lang="en-US" sz="1300" dirty="0"/>
          </a:p>
        </p:txBody>
      </p:sp>
      <p:sp>
        <p:nvSpPr>
          <p:cNvPr id="22" name="Shape 20"/>
          <p:cNvSpPr/>
          <p:nvPr/>
        </p:nvSpPr>
        <p:spPr>
          <a:xfrm>
            <a:off x="7635240" y="2633472"/>
            <a:ext cx="566928" cy="566928"/>
          </a:xfrm>
          <a:prstGeom prst="ellipse">
            <a:avLst/>
          </a:prstGeom>
          <a:solidFill>
            <a:srgbClr val="CCFBF1"/>
          </a:solidFill>
          <a:ln w="12700">
            <a:solidFill>
              <a:srgbClr val="14B8A6"/>
            </a:solidFill>
            <a:prstDash val="solid"/>
          </a:ln>
        </p:spPr>
      </p:sp>
      <p:sp>
        <p:nvSpPr>
          <p:cNvPr id="23" name="Text 21"/>
          <p:cNvSpPr/>
          <p:nvPr/>
        </p:nvSpPr>
        <p:spPr>
          <a:xfrm>
            <a:off x="7635240" y="2807208"/>
            <a:ext cx="566928" cy="109728"/>
          </a:xfrm>
          <a:prstGeom prst="rect">
            <a:avLst/>
          </a:prstGeom>
          <a:noFill/>
          <a:ln/>
        </p:spPr>
        <p:txBody>
          <a:bodyPr wrap="square" lIns="0" tIns="0" rIns="0" bIns="0" rtlCol="0" anchor="ctr"/>
          <a:lstStyle/>
          <a:p>
            <a:pPr marL="0" indent="0" algn="ctr">
              <a:buNone/>
            </a:pPr>
            <a:r>
              <a:rPr lang="en-US" sz="1400" b="1" dirty="0">
                <a:solidFill>
                  <a:srgbClr val="14B8A6"/>
                </a:solidFill>
              </a:rPr>
              <a:t>6</a:t>
            </a:r>
            <a:endParaRPr lang="en-US" sz="1400" dirty="0"/>
          </a:p>
        </p:txBody>
      </p:sp>
      <p:sp>
        <p:nvSpPr>
          <p:cNvPr id="24" name="Text 22"/>
          <p:cNvSpPr/>
          <p:nvPr/>
        </p:nvSpPr>
        <p:spPr>
          <a:xfrm>
            <a:off x="7333488" y="3346704"/>
            <a:ext cx="1188720" cy="676656"/>
          </a:xfrm>
          <a:prstGeom prst="rect">
            <a:avLst/>
          </a:prstGeom>
          <a:noFill/>
          <a:ln/>
        </p:spPr>
        <p:txBody>
          <a:bodyPr wrap="square" lIns="0" tIns="0" rIns="0" bIns="0" rtlCol="0" anchor="ctr"/>
          <a:lstStyle/>
          <a:p>
            <a:pPr marL="0" indent="0" algn="ctr">
              <a:buNone/>
            </a:pPr>
            <a:r>
              <a:rPr lang="en-US" sz="1300" dirty="0">
                <a:solidFill>
                  <a:srgbClr val="334155"/>
                </a:solidFill>
              </a:rPr>
              <a:t>Data is stored or read</a:t>
            </a:r>
            <a:endParaRPr lang="en-US" sz="1300" dirty="0"/>
          </a:p>
        </p:txBody>
      </p:sp>
      <p:sp>
        <p:nvSpPr>
          <p:cNvPr id="25" name="Shape 23"/>
          <p:cNvSpPr/>
          <p:nvPr/>
        </p:nvSpPr>
        <p:spPr>
          <a:xfrm>
            <a:off x="8988552" y="2633472"/>
            <a:ext cx="566928" cy="566928"/>
          </a:xfrm>
          <a:prstGeom prst="ellipse">
            <a:avLst/>
          </a:prstGeom>
          <a:solidFill>
            <a:srgbClr val="DBEAFE"/>
          </a:solidFill>
          <a:ln w="12700">
            <a:solidFill>
              <a:srgbClr val="2563EB"/>
            </a:solidFill>
            <a:prstDash val="solid"/>
          </a:ln>
        </p:spPr>
      </p:sp>
      <p:sp>
        <p:nvSpPr>
          <p:cNvPr id="26" name="Text 24"/>
          <p:cNvSpPr/>
          <p:nvPr/>
        </p:nvSpPr>
        <p:spPr>
          <a:xfrm>
            <a:off x="8988552" y="2807208"/>
            <a:ext cx="566928" cy="109728"/>
          </a:xfrm>
          <a:prstGeom prst="rect">
            <a:avLst/>
          </a:prstGeom>
          <a:noFill/>
          <a:ln/>
        </p:spPr>
        <p:txBody>
          <a:bodyPr wrap="square" lIns="0" tIns="0" rIns="0" bIns="0" rtlCol="0" anchor="ctr"/>
          <a:lstStyle/>
          <a:p>
            <a:pPr marL="0" indent="0" algn="ctr">
              <a:buNone/>
            </a:pPr>
            <a:r>
              <a:rPr lang="en-US" sz="1400" b="1" dirty="0">
                <a:solidFill>
                  <a:srgbClr val="2563EB"/>
                </a:solidFill>
              </a:rPr>
              <a:t>7</a:t>
            </a:r>
            <a:endParaRPr lang="en-US" sz="1400" dirty="0"/>
          </a:p>
        </p:txBody>
      </p:sp>
      <p:sp>
        <p:nvSpPr>
          <p:cNvPr id="27" name="Text 25"/>
          <p:cNvSpPr/>
          <p:nvPr/>
        </p:nvSpPr>
        <p:spPr>
          <a:xfrm>
            <a:off x="8686800" y="3346704"/>
            <a:ext cx="1188720" cy="676656"/>
          </a:xfrm>
          <a:prstGeom prst="rect">
            <a:avLst/>
          </a:prstGeom>
          <a:noFill/>
          <a:ln/>
        </p:spPr>
        <p:txBody>
          <a:bodyPr wrap="square" lIns="0" tIns="0" rIns="0" bIns="0" rtlCol="0" anchor="ctr"/>
          <a:lstStyle/>
          <a:p>
            <a:pPr marL="0" indent="0" algn="ctr">
              <a:buNone/>
            </a:pPr>
            <a:r>
              <a:rPr lang="en-US" sz="1300" dirty="0">
                <a:solidFill>
                  <a:srgbClr val="334155"/>
                </a:solidFill>
              </a:rPr>
              <a:t>API returns status + payload</a:t>
            </a:r>
            <a:endParaRPr lang="en-US" sz="1300" dirty="0"/>
          </a:p>
        </p:txBody>
      </p:sp>
      <p:sp>
        <p:nvSpPr>
          <p:cNvPr id="28" name="Shape 26"/>
          <p:cNvSpPr/>
          <p:nvPr/>
        </p:nvSpPr>
        <p:spPr>
          <a:xfrm>
            <a:off x="10341864" y="2633472"/>
            <a:ext cx="566928" cy="566928"/>
          </a:xfrm>
          <a:prstGeom prst="ellipse">
            <a:avLst/>
          </a:prstGeom>
          <a:solidFill>
            <a:srgbClr val="CCFBF1"/>
          </a:solidFill>
          <a:ln w="12700">
            <a:solidFill>
              <a:srgbClr val="14B8A6"/>
            </a:solidFill>
            <a:prstDash val="solid"/>
          </a:ln>
        </p:spPr>
      </p:sp>
      <p:sp>
        <p:nvSpPr>
          <p:cNvPr id="29" name="Text 27"/>
          <p:cNvSpPr/>
          <p:nvPr/>
        </p:nvSpPr>
        <p:spPr>
          <a:xfrm>
            <a:off x="10341864" y="2807208"/>
            <a:ext cx="566928" cy="109728"/>
          </a:xfrm>
          <a:prstGeom prst="rect">
            <a:avLst/>
          </a:prstGeom>
          <a:noFill/>
          <a:ln/>
        </p:spPr>
        <p:txBody>
          <a:bodyPr wrap="square" lIns="0" tIns="0" rIns="0" bIns="0" rtlCol="0" anchor="ctr"/>
          <a:lstStyle/>
          <a:p>
            <a:pPr marL="0" indent="0" algn="ctr">
              <a:buNone/>
            </a:pPr>
            <a:r>
              <a:rPr lang="en-US" sz="1400" b="1" dirty="0">
                <a:solidFill>
                  <a:srgbClr val="14B8A6"/>
                </a:solidFill>
              </a:rPr>
              <a:t>8</a:t>
            </a:r>
            <a:endParaRPr lang="en-US" sz="1400" dirty="0"/>
          </a:p>
        </p:txBody>
      </p:sp>
      <p:sp>
        <p:nvSpPr>
          <p:cNvPr id="30" name="Text 28"/>
          <p:cNvSpPr/>
          <p:nvPr/>
        </p:nvSpPr>
        <p:spPr>
          <a:xfrm>
            <a:off x="10040112" y="3346704"/>
            <a:ext cx="1188720" cy="676656"/>
          </a:xfrm>
          <a:prstGeom prst="rect">
            <a:avLst/>
          </a:prstGeom>
          <a:noFill/>
          <a:ln/>
        </p:spPr>
        <p:txBody>
          <a:bodyPr wrap="square" lIns="0" tIns="0" rIns="0" bIns="0" rtlCol="0" anchor="ctr"/>
          <a:lstStyle/>
          <a:p>
            <a:pPr marL="0" indent="0" algn="ctr">
              <a:buNone/>
            </a:pPr>
            <a:r>
              <a:rPr lang="en-US" sz="1300" dirty="0">
                <a:solidFill>
                  <a:srgbClr val="334155"/>
                </a:solidFill>
              </a:rPr>
              <a:t>UI updates and shows result</a:t>
            </a:r>
            <a:endParaRPr lang="en-US" sz="1300" dirty="0"/>
          </a:p>
        </p:txBody>
      </p:sp>
      <p:sp>
        <p:nvSpPr>
          <p:cNvPr id="31" name="Shape 29"/>
          <p:cNvSpPr/>
          <p:nvPr/>
        </p:nvSpPr>
        <p:spPr>
          <a:xfrm>
            <a:off x="868680" y="4828032"/>
            <a:ext cx="10469880" cy="713232"/>
          </a:xfrm>
          <a:prstGeom prst="roundRect">
            <a:avLst>
              <a:gd name="adj" fmla="val 6410"/>
            </a:avLst>
          </a:prstGeom>
          <a:solidFill>
            <a:srgbClr val="FFFFFF"/>
          </a:solidFill>
          <a:ln w="12700">
            <a:solidFill>
              <a:srgbClr val="CBD5E1"/>
            </a:solidFill>
            <a:prstDash val="solid"/>
          </a:ln>
        </p:spPr>
      </p:sp>
      <p:sp>
        <p:nvSpPr>
          <p:cNvPr id="32" name="Text 30"/>
          <p:cNvSpPr/>
          <p:nvPr/>
        </p:nvSpPr>
        <p:spPr>
          <a:xfrm>
            <a:off x="1170432" y="5074920"/>
            <a:ext cx="9875520" cy="164592"/>
          </a:xfrm>
          <a:prstGeom prst="rect">
            <a:avLst/>
          </a:prstGeom>
          <a:noFill/>
          <a:ln/>
        </p:spPr>
        <p:txBody>
          <a:bodyPr wrap="square" lIns="0" tIns="0" rIns="0" bIns="0" rtlCol="0" anchor="ctr"/>
          <a:lstStyle/>
          <a:p>
            <a:pPr marL="0" indent="0" algn="ctr">
              <a:buNone/>
            </a:pPr>
            <a:r>
              <a:rPr lang="en-US" sz="1800" b="1" dirty="0">
                <a:solidFill>
                  <a:srgbClr val="0F172A"/>
                </a:solidFill>
              </a:rPr>
              <a:t>Understand this flow clearly and debug problems against it.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76656" y="253800"/>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QUALITY</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Working code is not enough</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Engineering starts where “it runs” is no longer the only standard.</a:t>
            </a:r>
            <a:endParaRPr lang="en-US" sz="1400" b="1" dirty="0"/>
          </a:p>
        </p:txBody>
      </p:sp>
      <p:sp>
        <p:nvSpPr>
          <p:cNvPr id="5" name="Shape 3"/>
          <p:cNvSpPr/>
          <p:nvPr/>
        </p:nvSpPr>
        <p:spPr>
          <a:xfrm>
            <a:off x="9646920" y="502920"/>
            <a:ext cx="1737360" cy="164592"/>
          </a:xfrm>
          <a:prstGeom prst="roundRect">
            <a:avLst>
              <a:gd name="adj" fmla="val 22222"/>
            </a:avLst>
          </a:prstGeom>
          <a:solidFill>
            <a:srgbClr val="2563EB"/>
          </a:solidFill>
          <a:ln w="12700">
            <a:solidFill>
              <a:srgbClr val="2563EB"/>
            </a:solidFill>
            <a:prstDash val="solid"/>
          </a:ln>
        </p:spPr>
      </p:sp>
      <p:sp>
        <p:nvSpPr>
          <p:cNvPr id="6" name="Shape 4"/>
          <p:cNvSpPr/>
          <p:nvPr/>
        </p:nvSpPr>
        <p:spPr>
          <a:xfrm>
            <a:off x="868680" y="1600200"/>
            <a:ext cx="4937760" cy="4069080"/>
          </a:xfrm>
          <a:prstGeom prst="roundRect">
            <a:avLst>
              <a:gd name="adj" fmla="val 1798"/>
            </a:avLst>
          </a:prstGeom>
          <a:solidFill>
            <a:srgbClr val="F1F5F9"/>
          </a:solidFill>
          <a:ln w="12700">
            <a:solidFill>
              <a:srgbClr val="CBD5E1"/>
            </a:solidFill>
            <a:prstDash val="solid"/>
          </a:ln>
        </p:spPr>
      </p:sp>
      <p:sp>
        <p:nvSpPr>
          <p:cNvPr id="7" name="Shape 5"/>
          <p:cNvSpPr/>
          <p:nvPr/>
        </p:nvSpPr>
        <p:spPr>
          <a:xfrm>
            <a:off x="6355080" y="1600200"/>
            <a:ext cx="4937760" cy="4069080"/>
          </a:xfrm>
          <a:prstGeom prst="roundRect">
            <a:avLst>
              <a:gd name="adj" fmla="val 1798"/>
            </a:avLst>
          </a:prstGeom>
          <a:solidFill>
            <a:srgbClr val="ECFDF5"/>
          </a:solidFill>
          <a:ln w="12700">
            <a:solidFill>
              <a:srgbClr val="86EFAC"/>
            </a:solidFill>
            <a:prstDash val="solid"/>
          </a:ln>
        </p:spPr>
      </p:sp>
      <p:sp>
        <p:nvSpPr>
          <p:cNvPr id="8" name="Text 6"/>
          <p:cNvSpPr/>
          <p:nvPr/>
        </p:nvSpPr>
        <p:spPr>
          <a:xfrm>
            <a:off x="1115568" y="1847088"/>
            <a:ext cx="4297680" cy="228600"/>
          </a:xfrm>
          <a:prstGeom prst="rect">
            <a:avLst/>
          </a:prstGeom>
          <a:noFill/>
          <a:ln/>
        </p:spPr>
        <p:txBody>
          <a:bodyPr wrap="square" lIns="0" tIns="0" rIns="0" bIns="0" rtlCol="0" anchor="ctr"/>
          <a:lstStyle/>
          <a:p>
            <a:pPr marL="0" indent="0" algn="ctr">
              <a:buNone/>
            </a:pPr>
            <a:r>
              <a:rPr lang="en-US" sz="2100" b="1" dirty="0">
                <a:solidFill>
                  <a:srgbClr val="0F172A"/>
                </a:solidFill>
              </a:rPr>
              <a:t>Code that only “works”</a:t>
            </a:r>
            <a:endParaRPr lang="en-US" sz="2100" dirty="0"/>
          </a:p>
        </p:txBody>
      </p:sp>
      <p:sp>
        <p:nvSpPr>
          <p:cNvPr id="9" name="Text 7"/>
          <p:cNvSpPr/>
          <p:nvPr/>
        </p:nvSpPr>
        <p:spPr>
          <a:xfrm>
            <a:off x="6601968" y="1847088"/>
            <a:ext cx="4389120" cy="228600"/>
          </a:xfrm>
          <a:prstGeom prst="rect">
            <a:avLst/>
          </a:prstGeom>
          <a:noFill/>
          <a:ln/>
        </p:spPr>
        <p:txBody>
          <a:bodyPr wrap="square" lIns="0" tIns="0" rIns="0" bIns="0" rtlCol="0" anchor="ctr"/>
          <a:lstStyle/>
          <a:p>
            <a:pPr marL="0" indent="0" algn="ctr">
              <a:buNone/>
            </a:pPr>
            <a:r>
              <a:rPr lang="en-US" sz="2100" b="1" dirty="0">
                <a:solidFill>
                  <a:srgbClr val="14532D"/>
                </a:solidFill>
              </a:rPr>
              <a:t>Code that is engineered</a:t>
            </a:r>
            <a:endParaRPr lang="en-US" sz="2100" dirty="0"/>
          </a:p>
        </p:txBody>
      </p:sp>
      <p:sp>
        <p:nvSpPr>
          <p:cNvPr id="10" name="Text 8"/>
          <p:cNvSpPr/>
          <p:nvPr/>
        </p:nvSpPr>
        <p:spPr>
          <a:xfrm>
            <a:off x="1261872" y="2423160"/>
            <a:ext cx="4069080" cy="2377440"/>
          </a:xfrm>
          <a:prstGeom prst="rect">
            <a:avLst/>
          </a:prstGeom>
          <a:noFill/>
          <a:ln/>
        </p:spPr>
        <p:txBody>
          <a:bodyPr wrap="square" lIns="0" tIns="0" rIns="0" bIns="0" rtlCol="0" anchor="ctr"/>
          <a:lstStyle/>
          <a:p>
            <a:pPr marL="0" indent="0">
              <a:buNone/>
            </a:pPr>
            <a:r>
              <a:rPr lang="en-US" sz="1700" b="1" dirty="0">
                <a:solidFill>
                  <a:srgbClr val="DC2626"/>
                </a:solidFill>
              </a:rPr>
              <a:t>• </a:t>
            </a:r>
            <a:r>
              <a:rPr lang="en-US" sz="1700" dirty="0">
                <a:solidFill>
                  <a:srgbClr val="334155"/>
                </a:solidFill>
              </a:rPr>
              <a:t>Passes the happy path
</a:t>
            </a:r>
            <a:r>
              <a:rPr lang="en-US" sz="1700" b="1" dirty="0">
                <a:solidFill>
                  <a:srgbClr val="DC2626"/>
                </a:solidFill>
              </a:rPr>
              <a:t>• </a:t>
            </a:r>
            <a:r>
              <a:rPr lang="en-US" sz="1700" dirty="0">
                <a:solidFill>
                  <a:srgbClr val="334155"/>
                </a:solidFill>
              </a:rPr>
              <a:t>Hard to explain later
</a:t>
            </a:r>
            <a:r>
              <a:rPr lang="en-US" sz="1700" b="1" dirty="0">
                <a:solidFill>
                  <a:srgbClr val="DC2626"/>
                </a:solidFill>
              </a:rPr>
              <a:t>• </a:t>
            </a:r>
            <a:r>
              <a:rPr lang="en-US" sz="1700" dirty="0">
                <a:solidFill>
                  <a:srgbClr val="334155"/>
                </a:solidFill>
              </a:rPr>
              <a:t>Logic mixed together
</a:t>
            </a:r>
            <a:r>
              <a:rPr lang="en-US" sz="1700" b="1" dirty="0">
                <a:solidFill>
                  <a:srgbClr val="DC2626"/>
                </a:solidFill>
              </a:rPr>
              <a:t>• </a:t>
            </a:r>
            <a:r>
              <a:rPr lang="en-US" sz="1700" dirty="0">
                <a:solidFill>
                  <a:srgbClr val="334155"/>
                </a:solidFill>
              </a:rPr>
              <a:t>Weak error handling
</a:t>
            </a:r>
            <a:r>
              <a:rPr lang="en-US" sz="1700" b="1" dirty="0">
                <a:solidFill>
                  <a:srgbClr val="DC2626"/>
                </a:solidFill>
              </a:rPr>
              <a:t>• </a:t>
            </a:r>
            <a:r>
              <a:rPr lang="en-US" sz="1700" dirty="0">
                <a:solidFill>
                  <a:srgbClr val="334155"/>
                </a:solidFill>
              </a:rPr>
              <a:t>Difficult to change safely</a:t>
            </a:r>
            <a:endParaRPr lang="en-US" sz="1700" dirty="0"/>
          </a:p>
        </p:txBody>
      </p:sp>
      <p:sp>
        <p:nvSpPr>
          <p:cNvPr id="11" name="Text 9"/>
          <p:cNvSpPr/>
          <p:nvPr/>
        </p:nvSpPr>
        <p:spPr>
          <a:xfrm>
            <a:off x="6748272" y="2423160"/>
            <a:ext cx="4069080" cy="2377440"/>
          </a:xfrm>
          <a:prstGeom prst="rect">
            <a:avLst/>
          </a:prstGeom>
          <a:noFill/>
          <a:ln/>
        </p:spPr>
        <p:txBody>
          <a:bodyPr wrap="square" lIns="0" tIns="0" rIns="0" bIns="0" rtlCol="0" anchor="ctr"/>
          <a:lstStyle/>
          <a:p>
            <a:pPr marL="0" indent="0">
              <a:buNone/>
            </a:pPr>
            <a:r>
              <a:rPr lang="en-US" sz="1700" b="1" dirty="0">
                <a:solidFill>
                  <a:srgbClr val="16A34A"/>
                </a:solidFill>
              </a:rPr>
              <a:t>• </a:t>
            </a:r>
            <a:r>
              <a:rPr lang="en-US" sz="1700" dirty="0">
                <a:solidFill>
                  <a:srgbClr val="14532D"/>
                </a:solidFill>
              </a:rPr>
              <a:t>Readable structure
</a:t>
            </a:r>
            <a:r>
              <a:rPr lang="en-US" sz="1700" b="1" dirty="0">
                <a:solidFill>
                  <a:srgbClr val="16A34A"/>
                </a:solidFill>
              </a:rPr>
              <a:t>• </a:t>
            </a:r>
            <a:r>
              <a:rPr lang="en-US" sz="1700" dirty="0">
                <a:solidFill>
                  <a:srgbClr val="14532D"/>
                </a:solidFill>
              </a:rPr>
              <a:t>Clear responsibilities
</a:t>
            </a:r>
            <a:r>
              <a:rPr lang="en-US" sz="1700" b="1" dirty="0">
                <a:solidFill>
                  <a:srgbClr val="16A34A"/>
                </a:solidFill>
              </a:rPr>
              <a:t>• </a:t>
            </a:r>
            <a:r>
              <a:rPr lang="en-US" sz="1700" dirty="0">
                <a:solidFill>
                  <a:srgbClr val="14532D"/>
                </a:solidFill>
              </a:rPr>
              <a:t>Intentional validation
</a:t>
            </a:r>
            <a:r>
              <a:rPr lang="en-US" sz="1700" b="1" dirty="0">
                <a:solidFill>
                  <a:srgbClr val="16A34A"/>
                </a:solidFill>
              </a:rPr>
              <a:t>• </a:t>
            </a:r>
            <a:r>
              <a:rPr lang="en-US" sz="1700" dirty="0">
                <a:solidFill>
                  <a:srgbClr val="14532D"/>
                </a:solidFill>
              </a:rPr>
              <a:t>Predictable responses
</a:t>
            </a:r>
            <a:r>
              <a:rPr lang="en-US" sz="1700" b="1" dirty="0">
                <a:solidFill>
                  <a:srgbClr val="16A34A"/>
                </a:solidFill>
              </a:rPr>
              <a:t>• </a:t>
            </a:r>
            <a:r>
              <a:rPr lang="en-US" sz="1700" dirty="0">
                <a:solidFill>
                  <a:srgbClr val="14532D"/>
                </a:solidFill>
              </a:rPr>
              <a:t>Safer to review and extend</a:t>
            </a:r>
            <a:endParaRPr lang="en-US" sz="1700" dirty="0"/>
          </a:p>
        </p:txBody>
      </p:sp>
      <p:sp>
        <p:nvSpPr>
          <p:cNvPr id="12" name="Text 10"/>
          <p:cNvSpPr/>
          <p:nvPr/>
        </p:nvSpPr>
        <p:spPr>
          <a:xfrm>
            <a:off x="1005840" y="5897880"/>
            <a:ext cx="10149840" cy="182880"/>
          </a:xfrm>
          <a:prstGeom prst="rect">
            <a:avLst/>
          </a:prstGeom>
          <a:noFill/>
          <a:ln/>
        </p:spPr>
        <p:txBody>
          <a:bodyPr wrap="square" lIns="0" tIns="0" rIns="0" bIns="0" rtlCol="0" anchor="ctr"/>
          <a:lstStyle/>
          <a:p>
            <a:pPr marL="0" indent="0" algn="ctr">
              <a:buNone/>
            </a:pPr>
            <a:r>
              <a:rPr lang="en-US" sz="1700" b="1" dirty="0">
                <a:solidFill>
                  <a:srgbClr val="0F172A"/>
                </a:solidFill>
              </a:rPr>
              <a:t>Question to keep repeating: Can the next developer understand and safely change this?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76656" y="231498"/>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STRUCTURE</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What a clean backend looks like</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Use responsibility boundaries to keep the codebase understandable.</a:t>
            </a:r>
            <a:endParaRPr lang="en-US" sz="1400" b="1" dirty="0"/>
          </a:p>
        </p:txBody>
      </p:sp>
      <p:sp>
        <p:nvSpPr>
          <p:cNvPr id="5" name="Shape 3"/>
          <p:cNvSpPr/>
          <p:nvPr/>
        </p:nvSpPr>
        <p:spPr>
          <a:xfrm>
            <a:off x="9555480" y="502920"/>
            <a:ext cx="1828800" cy="164592"/>
          </a:xfrm>
          <a:prstGeom prst="roundRect">
            <a:avLst>
              <a:gd name="adj" fmla="val 22222"/>
            </a:avLst>
          </a:prstGeom>
          <a:solidFill>
            <a:srgbClr val="14B8A6"/>
          </a:solidFill>
          <a:ln w="12700">
            <a:solidFill>
              <a:srgbClr val="14B8A6"/>
            </a:solidFill>
            <a:prstDash val="solid"/>
          </a:ln>
        </p:spPr>
      </p:sp>
      <p:sp>
        <p:nvSpPr>
          <p:cNvPr id="6" name="Shape 4"/>
          <p:cNvSpPr/>
          <p:nvPr/>
        </p:nvSpPr>
        <p:spPr>
          <a:xfrm>
            <a:off x="1828800" y="1645920"/>
            <a:ext cx="8412480" cy="566928"/>
          </a:xfrm>
          <a:prstGeom prst="roundRect">
            <a:avLst>
              <a:gd name="adj" fmla="val 8065"/>
            </a:avLst>
          </a:prstGeom>
          <a:solidFill>
            <a:srgbClr val="DBEAFE"/>
          </a:solidFill>
          <a:ln w="12700">
            <a:solidFill>
              <a:srgbClr val="2563EB"/>
            </a:solidFill>
            <a:prstDash val="solid"/>
          </a:ln>
        </p:spPr>
      </p:sp>
      <p:sp>
        <p:nvSpPr>
          <p:cNvPr id="7" name="Text 5"/>
          <p:cNvSpPr/>
          <p:nvPr/>
        </p:nvSpPr>
        <p:spPr>
          <a:xfrm>
            <a:off x="1965960" y="1773936"/>
            <a:ext cx="2468880" cy="164592"/>
          </a:xfrm>
          <a:prstGeom prst="rect">
            <a:avLst/>
          </a:prstGeom>
          <a:noFill/>
          <a:ln/>
        </p:spPr>
        <p:txBody>
          <a:bodyPr wrap="square" lIns="0" tIns="0" rIns="0" bIns="0" rtlCol="0" anchor="ctr"/>
          <a:lstStyle/>
          <a:p>
            <a:pPr marL="0" indent="0">
              <a:buNone/>
            </a:pPr>
            <a:r>
              <a:rPr lang="en-US" sz="1700" b="1" dirty="0">
                <a:solidFill>
                  <a:srgbClr val="0F172A"/>
                </a:solidFill>
              </a:rPr>
              <a:t>Controller / Endpoint</a:t>
            </a:r>
            <a:endParaRPr lang="en-US" sz="1700" dirty="0"/>
          </a:p>
        </p:txBody>
      </p:sp>
      <p:sp>
        <p:nvSpPr>
          <p:cNvPr id="8" name="Text 6"/>
          <p:cNvSpPr/>
          <p:nvPr/>
        </p:nvSpPr>
        <p:spPr>
          <a:xfrm>
            <a:off x="4572000" y="1783080"/>
            <a:ext cx="5486400" cy="164592"/>
          </a:xfrm>
          <a:prstGeom prst="rect">
            <a:avLst/>
          </a:prstGeom>
          <a:noFill/>
          <a:ln/>
        </p:spPr>
        <p:txBody>
          <a:bodyPr wrap="square" lIns="0" tIns="0" rIns="0" bIns="0" rtlCol="0" anchor="ctr"/>
          <a:lstStyle/>
          <a:p>
            <a:pPr marL="0" indent="0">
              <a:buNone/>
            </a:pPr>
            <a:r>
              <a:rPr lang="en-US" sz="1350" b="1" dirty="0">
                <a:solidFill>
                  <a:srgbClr val="334155"/>
                </a:solidFill>
              </a:rPr>
              <a:t>Receives HTTP requests and returns HTTP responses</a:t>
            </a:r>
            <a:endParaRPr lang="en-US" sz="1350" b="1" dirty="0"/>
          </a:p>
        </p:txBody>
      </p:sp>
      <p:sp>
        <p:nvSpPr>
          <p:cNvPr id="9" name="Shape 7"/>
          <p:cNvSpPr/>
          <p:nvPr/>
        </p:nvSpPr>
        <p:spPr>
          <a:xfrm>
            <a:off x="2103120" y="2468880"/>
            <a:ext cx="7863840" cy="566928"/>
          </a:xfrm>
          <a:prstGeom prst="roundRect">
            <a:avLst>
              <a:gd name="adj" fmla="val 8065"/>
            </a:avLst>
          </a:prstGeom>
          <a:solidFill>
            <a:srgbClr val="E0F2FE"/>
          </a:solidFill>
          <a:ln w="12700">
            <a:solidFill>
              <a:srgbClr val="06B6D4"/>
            </a:solidFill>
            <a:prstDash val="solid"/>
          </a:ln>
        </p:spPr>
      </p:sp>
      <p:sp>
        <p:nvSpPr>
          <p:cNvPr id="10" name="Text 8"/>
          <p:cNvSpPr/>
          <p:nvPr/>
        </p:nvSpPr>
        <p:spPr>
          <a:xfrm>
            <a:off x="2240280" y="2596896"/>
            <a:ext cx="2468880" cy="164592"/>
          </a:xfrm>
          <a:prstGeom prst="rect">
            <a:avLst/>
          </a:prstGeom>
          <a:noFill/>
          <a:ln/>
        </p:spPr>
        <p:txBody>
          <a:bodyPr wrap="square" lIns="0" tIns="0" rIns="0" bIns="0" rtlCol="0" anchor="ctr"/>
          <a:lstStyle/>
          <a:p>
            <a:pPr marL="0" indent="0">
              <a:buNone/>
            </a:pPr>
            <a:r>
              <a:rPr lang="en-US" sz="1700" b="1" dirty="0">
                <a:solidFill>
                  <a:srgbClr val="0F172A"/>
                </a:solidFill>
              </a:rPr>
              <a:t>DTO / Contract</a:t>
            </a:r>
            <a:endParaRPr lang="en-US" sz="1700" dirty="0"/>
          </a:p>
        </p:txBody>
      </p:sp>
      <p:sp>
        <p:nvSpPr>
          <p:cNvPr id="11" name="Text 9"/>
          <p:cNvSpPr/>
          <p:nvPr/>
        </p:nvSpPr>
        <p:spPr>
          <a:xfrm>
            <a:off x="4846320" y="2606040"/>
            <a:ext cx="4937760" cy="164592"/>
          </a:xfrm>
          <a:prstGeom prst="rect">
            <a:avLst/>
          </a:prstGeom>
          <a:noFill/>
          <a:ln/>
        </p:spPr>
        <p:txBody>
          <a:bodyPr wrap="square" lIns="0" tIns="0" rIns="0" bIns="0" rtlCol="0" anchor="ctr"/>
          <a:lstStyle/>
          <a:p>
            <a:pPr marL="0" indent="0">
              <a:buNone/>
            </a:pPr>
            <a:r>
              <a:rPr lang="en-US" sz="1350" b="1" dirty="0">
                <a:solidFill>
                  <a:srgbClr val="334155"/>
                </a:solidFill>
              </a:rPr>
              <a:t>Defines what the client sends and receives</a:t>
            </a:r>
            <a:endParaRPr lang="en-US" sz="1350" b="1" dirty="0"/>
          </a:p>
        </p:txBody>
      </p:sp>
      <p:sp>
        <p:nvSpPr>
          <p:cNvPr id="12" name="Shape 10"/>
          <p:cNvSpPr/>
          <p:nvPr/>
        </p:nvSpPr>
        <p:spPr>
          <a:xfrm>
            <a:off x="2377440" y="3291840"/>
            <a:ext cx="7315200" cy="566928"/>
          </a:xfrm>
          <a:prstGeom prst="roundRect">
            <a:avLst>
              <a:gd name="adj" fmla="val 8065"/>
            </a:avLst>
          </a:prstGeom>
          <a:solidFill>
            <a:srgbClr val="DCFCE7"/>
          </a:solidFill>
          <a:ln w="12700">
            <a:solidFill>
              <a:srgbClr val="16A34A"/>
            </a:solidFill>
            <a:prstDash val="solid"/>
          </a:ln>
        </p:spPr>
      </p:sp>
      <p:sp>
        <p:nvSpPr>
          <p:cNvPr id="13" name="Text 11"/>
          <p:cNvSpPr/>
          <p:nvPr/>
        </p:nvSpPr>
        <p:spPr>
          <a:xfrm>
            <a:off x="2514600" y="3419856"/>
            <a:ext cx="2468880" cy="164592"/>
          </a:xfrm>
          <a:prstGeom prst="rect">
            <a:avLst/>
          </a:prstGeom>
          <a:noFill/>
          <a:ln/>
        </p:spPr>
        <p:txBody>
          <a:bodyPr wrap="square" lIns="0" tIns="0" rIns="0" bIns="0" rtlCol="0" anchor="ctr"/>
          <a:lstStyle/>
          <a:p>
            <a:pPr marL="0" indent="0">
              <a:buNone/>
            </a:pPr>
            <a:r>
              <a:rPr lang="en-US" sz="1700" b="1" dirty="0">
                <a:solidFill>
                  <a:srgbClr val="0F172A"/>
                </a:solidFill>
              </a:rPr>
              <a:t>Service Layer</a:t>
            </a:r>
            <a:endParaRPr lang="en-US" sz="1700" dirty="0"/>
          </a:p>
        </p:txBody>
      </p:sp>
      <p:sp>
        <p:nvSpPr>
          <p:cNvPr id="14" name="Text 12"/>
          <p:cNvSpPr/>
          <p:nvPr/>
        </p:nvSpPr>
        <p:spPr>
          <a:xfrm>
            <a:off x="5120640" y="3429000"/>
            <a:ext cx="4389120" cy="164592"/>
          </a:xfrm>
          <a:prstGeom prst="rect">
            <a:avLst/>
          </a:prstGeom>
          <a:noFill/>
          <a:ln/>
        </p:spPr>
        <p:txBody>
          <a:bodyPr wrap="square" lIns="0" tIns="0" rIns="0" bIns="0" rtlCol="0" anchor="ctr"/>
          <a:lstStyle/>
          <a:p>
            <a:pPr marL="0" indent="0">
              <a:buNone/>
            </a:pPr>
            <a:r>
              <a:rPr lang="en-US" sz="1350" b="1" dirty="0">
                <a:solidFill>
                  <a:srgbClr val="334155"/>
                </a:solidFill>
              </a:rPr>
              <a:t>Holds application rules, coordination, and decisions</a:t>
            </a:r>
            <a:endParaRPr lang="en-US" sz="1350" b="1" dirty="0"/>
          </a:p>
        </p:txBody>
      </p:sp>
      <p:sp>
        <p:nvSpPr>
          <p:cNvPr id="15" name="Shape 13"/>
          <p:cNvSpPr/>
          <p:nvPr/>
        </p:nvSpPr>
        <p:spPr>
          <a:xfrm>
            <a:off x="2651760" y="4114800"/>
            <a:ext cx="6766560" cy="566928"/>
          </a:xfrm>
          <a:prstGeom prst="roundRect">
            <a:avLst>
              <a:gd name="adj" fmla="val 8065"/>
            </a:avLst>
          </a:prstGeom>
          <a:solidFill>
            <a:srgbClr val="CCFBF1"/>
          </a:solidFill>
          <a:ln w="12700">
            <a:solidFill>
              <a:srgbClr val="14B8A6"/>
            </a:solidFill>
            <a:prstDash val="solid"/>
          </a:ln>
        </p:spPr>
      </p:sp>
      <p:sp>
        <p:nvSpPr>
          <p:cNvPr id="16" name="Text 14"/>
          <p:cNvSpPr/>
          <p:nvPr/>
        </p:nvSpPr>
        <p:spPr>
          <a:xfrm>
            <a:off x="2788920" y="4242816"/>
            <a:ext cx="2468880" cy="164592"/>
          </a:xfrm>
          <a:prstGeom prst="rect">
            <a:avLst/>
          </a:prstGeom>
          <a:noFill/>
          <a:ln/>
        </p:spPr>
        <p:txBody>
          <a:bodyPr wrap="square" lIns="0" tIns="0" rIns="0" bIns="0" rtlCol="0" anchor="ctr"/>
          <a:lstStyle/>
          <a:p>
            <a:pPr marL="0" indent="0">
              <a:buNone/>
            </a:pPr>
            <a:r>
              <a:rPr lang="en-US" sz="1700" b="1" dirty="0">
                <a:solidFill>
                  <a:srgbClr val="0F172A"/>
                </a:solidFill>
              </a:rPr>
              <a:t>Data Access Layer</a:t>
            </a:r>
            <a:endParaRPr lang="en-US" sz="1700" dirty="0"/>
          </a:p>
        </p:txBody>
      </p:sp>
      <p:sp>
        <p:nvSpPr>
          <p:cNvPr id="17" name="Text 15"/>
          <p:cNvSpPr/>
          <p:nvPr/>
        </p:nvSpPr>
        <p:spPr>
          <a:xfrm>
            <a:off x="5394960" y="4251960"/>
            <a:ext cx="3840480" cy="164592"/>
          </a:xfrm>
          <a:prstGeom prst="rect">
            <a:avLst/>
          </a:prstGeom>
          <a:noFill/>
          <a:ln/>
        </p:spPr>
        <p:txBody>
          <a:bodyPr wrap="square" lIns="0" tIns="0" rIns="0" bIns="0" rtlCol="0" anchor="ctr"/>
          <a:lstStyle/>
          <a:p>
            <a:pPr marL="0" indent="0">
              <a:buNone/>
            </a:pPr>
            <a:r>
              <a:rPr lang="en-US" sz="1350" b="1" dirty="0">
                <a:solidFill>
                  <a:srgbClr val="334155"/>
                </a:solidFill>
              </a:rPr>
              <a:t>Talks to Database in a focused, repeatable way</a:t>
            </a:r>
            <a:endParaRPr lang="en-US" sz="1350" b="1" dirty="0"/>
          </a:p>
        </p:txBody>
      </p:sp>
      <p:sp>
        <p:nvSpPr>
          <p:cNvPr id="18" name="Shape 16"/>
          <p:cNvSpPr/>
          <p:nvPr/>
        </p:nvSpPr>
        <p:spPr>
          <a:xfrm>
            <a:off x="2926080" y="4937760"/>
            <a:ext cx="6217920" cy="566928"/>
          </a:xfrm>
          <a:prstGeom prst="roundRect">
            <a:avLst>
              <a:gd name="adj" fmla="val 8065"/>
            </a:avLst>
          </a:prstGeom>
          <a:solidFill>
            <a:srgbClr val="FEF3C7"/>
          </a:solidFill>
          <a:ln w="12700">
            <a:solidFill>
              <a:srgbClr val="F59E0B"/>
            </a:solidFill>
            <a:prstDash val="solid"/>
          </a:ln>
        </p:spPr>
      </p:sp>
      <p:sp>
        <p:nvSpPr>
          <p:cNvPr id="19" name="Text 17"/>
          <p:cNvSpPr/>
          <p:nvPr/>
        </p:nvSpPr>
        <p:spPr>
          <a:xfrm>
            <a:off x="3063240" y="5065776"/>
            <a:ext cx="2468880" cy="164592"/>
          </a:xfrm>
          <a:prstGeom prst="rect">
            <a:avLst/>
          </a:prstGeom>
          <a:noFill/>
          <a:ln/>
        </p:spPr>
        <p:txBody>
          <a:bodyPr wrap="square" lIns="0" tIns="0" rIns="0" bIns="0" rtlCol="0" anchor="ctr"/>
          <a:lstStyle/>
          <a:p>
            <a:pPr marL="0" indent="0">
              <a:buNone/>
            </a:pPr>
            <a:r>
              <a:rPr lang="en-US" sz="1700" b="1" dirty="0">
                <a:solidFill>
                  <a:srgbClr val="0F172A"/>
                </a:solidFill>
              </a:rPr>
              <a:t>Database</a:t>
            </a:r>
            <a:endParaRPr lang="en-US" sz="1700" dirty="0"/>
          </a:p>
        </p:txBody>
      </p:sp>
      <p:sp>
        <p:nvSpPr>
          <p:cNvPr id="20" name="Text 18"/>
          <p:cNvSpPr/>
          <p:nvPr/>
        </p:nvSpPr>
        <p:spPr>
          <a:xfrm>
            <a:off x="5669280" y="5008014"/>
            <a:ext cx="3291840" cy="429768"/>
          </a:xfrm>
          <a:prstGeom prst="rect">
            <a:avLst/>
          </a:prstGeom>
          <a:noFill/>
          <a:ln/>
        </p:spPr>
        <p:txBody>
          <a:bodyPr wrap="square" lIns="0" tIns="0" rIns="0" bIns="0" rtlCol="0" anchor="ctr"/>
          <a:lstStyle/>
          <a:p>
            <a:pPr marL="0" indent="0">
              <a:buNone/>
            </a:pPr>
            <a:r>
              <a:rPr lang="en-US" sz="1350" b="1" dirty="0">
                <a:solidFill>
                  <a:srgbClr val="334155"/>
                </a:solidFill>
              </a:rPr>
              <a:t>Persists data and supports query / update operations</a:t>
            </a:r>
            <a:endParaRPr lang="en-US" sz="1350" b="1" dirty="0"/>
          </a:p>
        </p:txBody>
      </p:sp>
      <p:sp>
        <p:nvSpPr>
          <p:cNvPr id="21" name="Text 19"/>
          <p:cNvSpPr/>
          <p:nvPr/>
        </p:nvSpPr>
        <p:spPr>
          <a:xfrm>
            <a:off x="1417320" y="5897880"/>
            <a:ext cx="9509760" cy="182880"/>
          </a:xfrm>
          <a:prstGeom prst="rect">
            <a:avLst/>
          </a:prstGeom>
          <a:noFill/>
          <a:ln/>
        </p:spPr>
        <p:txBody>
          <a:bodyPr wrap="square" lIns="0" tIns="0" rIns="0" bIns="0" rtlCol="0" anchor="ctr"/>
          <a:lstStyle/>
          <a:p>
            <a:pPr marL="0" indent="0" algn="ctr">
              <a:buNone/>
            </a:pPr>
            <a:r>
              <a:rPr lang="en-US" sz="1700" b="1" dirty="0">
                <a:solidFill>
                  <a:srgbClr val="0F172A"/>
                </a:solidFill>
              </a:rPr>
              <a:t>If one layer starts doing everyone else’s job, structure breaks down fast.</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76656" y="253800"/>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ANTI-PATTERNS</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Mistakes that make software hard to grow</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Bad habits usually look small at first and expensive later.</a:t>
            </a:r>
            <a:endParaRPr lang="en-US" sz="1400" b="1" dirty="0"/>
          </a:p>
        </p:txBody>
      </p:sp>
      <p:sp>
        <p:nvSpPr>
          <p:cNvPr id="5" name="Shape 3"/>
          <p:cNvSpPr/>
          <p:nvPr/>
        </p:nvSpPr>
        <p:spPr>
          <a:xfrm>
            <a:off x="9601200" y="502920"/>
            <a:ext cx="1737360" cy="164592"/>
          </a:xfrm>
          <a:prstGeom prst="roundRect">
            <a:avLst>
              <a:gd name="adj" fmla="val 22222"/>
            </a:avLst>
          </a:prstGeom>
          <a:solidFill>
            <a:srgbClr val="F97316"/>
          </a:solidFill>
          <a:ln w="12700">
            <a:solidFill>
              <a:srgbClr val="F97316"/>
            </a:solidFill>
            <a:prstDash val="solid"/>
          </a:ln>
        </p:spPr>
      </p:sp>
      <p:sp>
        <p:nvSpPr>
          <p:cNvPr id="6" name="Shape 4"/>
          <p:cNvSpPr/>
          <p:nvPr/>
        </p:nvSpPr>
        <p:spPr>
          <a:xfrm>
            <a:off x="822960" y="1645920"/>
            <a:ext cx="3337560" cy="1325880"/>
          </a:xfrm>
          <a:prstGeom prst="roundRect">
            <a:avLst>
              <a:gd name="adj" fmla="val 4138"/>
            </a:avLst>
          </a:prstGeom>
          <a:solidFill>
            <a:srgbClr val="FFFFFF"/>
          </a:solidFill>
          <a:ln w="12700">
            <a:solidFill>
              <a:srgbClr val="2563EB"/>
            </a:solidFill>
            <a:prstDash val="solid"/>
          </a:ln>
          <a:effectLst>
            <a:outerShdw blurRad="15240" dist="10160" dir="2700000" algn="bl" rotWithShape="0">
              <a:srgbClr val="000000">
                <a:alpha val="8000"/>
              </a:srgbClr>
            </a:outerShdw>
          </a:effectLst>
        </p:spPr>
      </p:sp>
      <p:sp>
        <p:nvSpPr>
          <p:cNvPr id="7" name="Shape 5"/>
          <p:cNvSpPr/>
          <p:nvPr/>
        </p:nvSpPr>
        <p:spPr>
          <a:xfrm>
            <a:off x="969264" y="1810512"/>
            <a:ext cx="310896" cy="310896"/>
          </a:xfrm>
          <a:prstGeom prst="ellipse">
            <a:avLst/>
          </a:prstGeom>
          <a:solidFill>
            <a:srgbClr val="FEE2E2"/>
          </a:solidFill>
          <a:ln w="12700">
            <a:solidFill>
              <a:srgbClr val="DC2626"/>
            </a:solidFill>
            <a:prstDash val="solid"/>
          </a:ln>
        </p:spPr>
      </p:sp>
      <p:sp>
        <p:nvSpPr>
          <p:cNvPr id="8" name="Text 6"/>
          <p:cNvSpPr/>
          <p:nvPr/>
        </p:nvSpPr>
        <p:spPr>
          <a:xfrm>
            <a:off x="1389888" y="1792224"/>
            <a:ext cx="2542032" cy="201168"/>
          </a:xfrm>
          <a:prstGeom prst="rect">
            <a:avLst/>
          </a:prstGeom>
          <a:noFill/>
          <a:ln/>
        </p:spPr>
        <p:txBody>
          <a:bodyPr wrap="square" lIns="0" tIns="0" rIns="0" bIns="0" rtlCol="0" anchor="ctr"/>
          <a:lstStyle/>
          <a:p>
            <a:pPr marL="0" indent="0">
              <a:buNone/>
            </a:pPr>
            <a:r>
              <a:rPr lang="en-US" sz="1700" b="1" dirty="0">
                <a:solidFill>
                  <a:srgbClr val="0F172A"/>
                </a:solidFill>
              </a:rPr>
              <a:t>Fat controllers</a:t>
            </a:r>
            <a:endParaRPr lang="en-US" sz="1700" dirty="0"/>
          </a:p>
        </p:txBody>
      </p:sp>
      <p:sp>
        <p:nvSpPr>
          <p:cNvPr id="9" name="Text 7"/>
          <p:cNvSpPr/>
          <p:nvPr/>
        </p:nvSpPr>
        <p:spPr>
          <a:xfrm>
            <a:off x="987552" y="2157984"/>
            <a:ext cx="2944368" cy="457200"/>
          </a:xfrm>
          <a:prstGeom prst="rect">
            <a:avLst/>
          </a:prstGeom>
          <a:noFill/>
          <a:ln/>
        </p:spPr>
        <p:txBody>
          <a:bodyPr wrap="square" lIns="0" tIns="0" rIns="0" bIns="0" rtlCol="0" anchor="ctr"/>
          <a:lstStyle/>
          <a:p>
            <a:pPr marL="0" indent="0">
              <a:buNone/>
            </a:pPr>
            <a:r>
              <a:rPr lang="en-US" sz="1320" b="1" dirty="0">
                <a:solidFill>
                  <a:srgbClr val="334155"/>
                </a:solidFill>
              </a:rPr>
              <a:t>Too much logic in the API layer makes code hard to test and review.</a:t>
            </a:r>
            <a:endParaRPr lang="en-US" sz="1320" b="1" dirty="0"/>
          </a:p>
        </p:txBody>
      </p:sp>
      <p:sp>
        <p:nvSpPr>
          <p:cNvPr id="10" name="Shape 8"/>
          <p:cNvSpPr/>
          <p:nvPr/>
        </p:nvSpPr>
        <p:spPr>
          <a:xfrm>
            <a:off x="4617720" y="1645920"/>
            <a:ext cx="3337560" cy="1325880"/>
          </a:xfrm>
          <a:prstGeom prst="roundRect">
            <a:avLst>
              <a:gd name="adj" fmla="val 4138"/>
            </a:avLst>
          </a:prstGeom>
          <a:solidFill>
            <a:srgbClr val="FFFFFF"/>
          </a:solidFill>
          <a:ln w="12700">
            <a:solidFill>
              <a:srgbClr val="2563EB"/>
            </a:solidFill>
            <a:prstDash val="solid"/>
          </a:ln>
          <a:effectLst>
            <a:outerShdw blurRad="15240" dist="10160" dir="2700000" algn="bl" rotWithShape="0">
              <a:srgbClr val="000000">
                <a:alpha val="8000"/>
              </a:srgbClr>
            </a:outerShdw>
          </a:effectLst>
        </p:spPr>
      </p:sp>
      <p:sp>
        <p:nvSpPr>
          <p:cNvPr id="11" name="Shape 9"/>
          <p:cNvSpPr/>
          <p:nvPr/>
        </p:nvSpPr>
        <p:spPr>
          <a:xfrm>
            <a:off x="4764024" y="1810512"/>
            <a:ext cx="310896" cy="310896"/>
          </a:xfrm>
          <a:prstGeom prst="ellipse">
            <a:avLst/>
          </a:prstGeom>
          <a:solidFill>
            <a:srgbClr val="FEE2E2"/>
          </a:solidFill>
          <a:ln w="12700">
            <a:solidFill>
              <a:srgbClr val="DC2626"/>
            </a:solidFill>
            <a:prstDash val="solid"/>
          </a:ln>
        </p:spPr>
      </p:sp>
      <p:sp>
        <p:nvSpPr>
          <p:cNvPr id="12" name="Text 10"/>
          <p:cNvSpPr/>
          <p:nvPr/>
        </p:nvSpPr>
        <p:spPr>
          <a:xfrm>
            <a:off x="5184648" y="1792224"/>
            <a:ext cx="2542032" cy="201168"/>
          </a:xfrm>
          <a:prstGeom prst="rect">
            <a:avLst/>
          </a:prstGeom>
          <a:noFill/>
          <a:ln/>
        </p:spPr>
        <p:txBody>
          <a:bodyPr wrap="square" lIns="0" tIns="0" rIns="0" bIns="0" rtlCol="0" anchor="ctr"/>
          <a:lstStyle/>
          <a:p>
            <a:pPr marL="0" indent="0">
              <a:buNone/>
            </a:pPr>
            <a:r>
              <a:rPr lang="en-US" sz="1700" b="1" dirty="0">
                <a:solidFill>
                  <a:srgbClr val="0F172A"/>
                </a:solidFill>
              </a:rPr>
              <a:t>Weak naming</a:t>
            </a:r>
            <a:endParaRPr lang="en-US" sz="1700" dirty="0"/>
          </a:p>
        </p:txBody>
      </p:sp>
      <p:sp>
        <p:nvSpPr>
          <p:cNvPr id="13" name="Text 11"/>
          <p:cNvSpPr/>
          <p:nvPr/>
        </p:nvSpPr>
        <p:spPr>
          <a:xfrm>
            <a:off x="4782312" y="2157984"/>
            <a:ext cx="2944368" cy="457200"/>
          </a:xfrm>
          <a:prstGeom prst="rect">
            <a:avLst/>
          </a:prstGeom>
          <a:noFill/>
          <a:ln/>
        </p:spPr>
        <p:txBody>
          <a:bodyPr wrap="square" lIns="0" tIns="0" rIns="0" bIns="0" rtlCol="0" anchor="ctr"/>
          <a:lstStyle/>
          <a:p>
            <a:pPr marL="0" indent="0">
              <a:buNone/>
            </a:pPr>
            <a:r>
              <a:rPr lang="en-US" sz="1320" b="1" dirty="0">
                <a:solidFill>
                  <a:srgbClr val="334155"/>
                </a:solidFill>
              </a:rPr>
              <a:t>Unclear names multiply confusion across code reviews and handoffs.</a:t>
            </a:r>
            <a:endParaRPr lang="en-US" sz="1320" b="1" dirty="0"/>
          </a:p>
        </p:txBody>
      </p:sp>
      <p:sp>
        <p:nvSpPr>
          <p:cNvPr id="14" name="Shape 12"/>
          <p:cNvSpPr/>
          <p:nvPr/>
        </p:nvSpPr>
        <p:spPr>
          <a:xfrm>
            <a:off x="8412480" y="1645920"/>
            <a:ext cx="3337560" cy="1325880"/>
          </a:xfrm>
          <a:prstGeom prst="roundRect">
            <a:avLst>
              <a:gd name="adj" fmla="val 4138"/>
            </a:avLst>
          </a:prstGeom>
          <a:solidFill>
            <a:srgbClr val="FFFFFF"/>
          </a:solidFill>
          <a:ln w="12700">
            <a:solidFill>
              <a:srgbClr val="2563EB"/>
            </a:solidFill>
            <a:prstDash val="solid"/>
          </a:ln>
          <a:effectLst>
            <a:outerShdw blurRad="15240" dist="10160" dir="2700000" algn="bl" rotWithShape="0">
              <a:srgbClr val="000000">
                <a:alpha val="8000"/>
              </a:srgbClr>
            </a:outerShdw>
          </a:effectLst>
        </p:spPr>
      </p:sp>
      <p:sp>
        <p:nvSpPr>
          <p:cNvPr id="15" name="Shape 13"/>
          <p:cNvSpPr/>
          <p:nvPr/>
        </p:nvSpPr>
        <p:spPr>
          <a:xfrm>
            <a:off x="8558784" y="1810512"/>
            <a:ext cx="310896" cy="310896"/>
          </a:xfrm>
          <a:prstGeom prst="ellipse">
            <a:avLst/>
          </a:prstGeom>
          <a:solidFill>
            <a:srgbClr val="FEE2E2"/>
          </a:solidFill>
          <a:ln w="12700">
            <a:solidFill>
              <a:srgbClr val="DC2626"/>
            </a:solidFill>
            <a:prstDash val="solid"/>
          </a:ln>
        </p:spPr>
      </p:sp>
      <p:sp>
        <p:nvSpPr>
          <p:cNvPr id="16" name="Text 14"/>
          <p:cNvSpPr/>
          <p:nvPr/>
        </p:nvSpPr>
        <p:spPr>
          <a:xfrm>
            <a:off x="8979408" y="1792224"/>
            <a:ext cx="2542032" cy="201168"/>
          </a:xfrm>
          <a:prstGeom prst="rect">
            <a:avLst/>
          </a:prstGeom>
          <a:noFill/>
          <a:ln/>
        </p:spPr>
        <p:txBody>
          <a:bodyPr wrap="square" lIns="0" tIns="0" rIns="0" bIns="0" rtlCol="0" anchor="ctr"/>
          <a:lstStyle/>
          <a:p>
            <a:pPr marL="0" indent="0">
              <a:buNone/>
            </a:pPr>
            <a:r>
              <a:rPr lang="en-US" sz="1700" b="1" dirty="0">
                <a:solidFill>
                  <a:srgbClr val="0F172A"/>
                </a:solidFill>
              </a:rPr>
              <a:t>No validation</a:t>
            </a:r>
            <a:endParaRPr lang="en-US" sz="1700" dirty="0"/>
          </a:p>
        </p:txBody>
      </p:sp>
      <p:sp>
        <p:nvSpPr>
          <p:cNvPr id="17" name="Text 15"/>
          <p:cNvSpPr/>
          <p:nvPr/>
        </p:nvSpPr>
        <p:spPr>
          <a:xfrm>
            <a:off x="8577072" y="2157984"/>
            <a:ext cx="2944368" cy="457200"/>
          </a:xfrm>
          <a:prstGeom prst="rect">
            <a:avLst/>
          </a:prstGeom>
          <a:noFill/>
          <a:ln/>
        </p:spPr>
        <p:txBody>
          <a:bodyPr wrap="square" lIns="0" tIns="0" rIns="0" bIns="0" rtlCol="0" anchor="ctr"/>
          <a:lstStyle/>
          <a:p>
            <a:pPr marL="0" indent="0">
              <a:buNone/>
            </a:pPr>
            <a:r>
              <a:rPr lang="en-US" sz="1320" b="1" dirty="0">
                <a:solidFill>
                  <a:srgbClr val="334155"/>
                </a:solidFill>
              </a:rPr>
              <a:t>Bad input spreads bugs through the system instead of failing early.</a:t>
            </a:r>
            <a:endParaRPr lang="en-US" sz="1320" b="1" dirty="0"/>
          </a:p>
        </p:txBody>
      </p:sp>
      <p:sp>
        <p:nvSpPr>
          <p:cNvPr id="18" name="Shape 16"/>
          <p:cNvSpPr/>
          <p:nvPr/>
        </p:nvSpPr>
        <p:spPr>
          <a:xfrm>
            <a:off x="822960" y="3474720"/>
            <a:ext cx="3337560" cy="1325880"/>
          </a:xfrm>
          <a:prstGeom prst="roundRect">
            <a:avLst>
              <a:gd name="adj" fmla="val 4138"/>
            </a:avLst>
          </a:prstGeom>
          <a:solidFill>
            <a:srgbClr val="FFFFFF"/>
          </a:solidFill>
          <a:ln w="12700">
            <a:solidFill>
              <a:srgbClr val="14B8A6"/>
            </a:solidFill>
            <a:prstDash val="solid"/>
          </a:ln>
          <a:effectLst>
            <a:outerShdw blurRad="15240" dist="10160" dir="2700000" algn="bl" rotWithShape="0">
              <a:srgbClr val="000000">
                <a:alpha val="8000"/>
              </a:srgbClr>
            </a:outerShdw>
          </a:effectLst>
        </p:spPr>
      </p:sp>
      <p:sp>
        <p:nvSpPr>
          <p:cNvPr id="19" name="Shape 17"/>
          <p:cNvSpPr/>
          <p:nvPr/>
        </p:nvSpPr>
        <p:spPr>
          <a:xfrm>
            <a:off x="969264" y="3639312"/>
            <a:ext cx="310896" cy="310896"/>
          </a:xfrm>
          <a:prstGeom prst="ellipse">
            <a:avLst/>
          </a:prstGeom>
          <a:solidFill>
            <a:srgbClr val="FEF3C7"/>
          </a:solidFill>
          <a:ln w="12700">
            <a:solidFill>
              <a:srgbClr val="D97706"/>
            </a:solidFill>
            <a:prstDash val="solid"/>
          </a:ln>
        </p:spPr>
      </p:sp>
      <p:sp>
        <p:nvSpPr>
          <p:cNvPr id="20" name="Text 18"/>
          <p:cNvSpPr/>
          <p:nvPr/>
        </p:nvSpPr>
        <p:spPr>
          <a:xfrm>
            <a:off x="1389888" y="3621024"/>
            <a:ext cx="2542032" cy="201168"/>
          </a:xfrm>
          <a:prstGeom prst="rect">
            <a:avLst/>
          </a:prstGeom>
          <a:noFill/>
          <a:ln/>
        </p:spPr>
        <p:txBody>
          <a:bodyPr wrap="square" lIns="0" tIns="0" rIns="0" bIns="0" rtlCol="0" anchor="ctr"/>
          <a:lstStyle/>
          <a:p>
            <a:pPr marL="0" indent="0">
              <a:buNone/>
            </a:pPr>
            <a:r>
              <a:rPr lang="en-US" sz="1700" b="1" dirty="0">
                <a:solidFill>
                  <a:srgbClr val="0F172A"/>
                </a:solidFill>
              </a:rPr>
              <a:t>Logic everywhere</a:t>
            </a:r>
            <a:endParaRPr lang="en-US" sz="1700" dirty="0"/>
          </a:p>
        </p:txBody>
      </p:sp>
      <p:sp>
        <p:nvSpPr>
          <p:cNvPr id="21" name="Text 19"/>
          <p:cNvSpPr/>
          <p:nvPr/>
        </p:nvSpPr>
        <p:spPr>
          <a:xfrm>
            <a:off x="987552" y="4053690"/>
            <a:ext cx="2944368" cy="457200"/>
          </a:xfrm>
          <a:prstGeom prst="rect">
            <a:avLst/>
          </a:prstGeom>
          <a:noFill/>
          <a:ln/>
        </p:spPr>
        <p:txBody>
          <a:bodyPr wrap="square" lIns="0" tIns="0" rIns="0" bIns="0" rtlCol="0" anchor="ctr"/>
          <a:lstStyle/>
          <a:p>
            <a:pPr marL="0" indent="0">
              <a:buNone/>
            </a:pPr>
            <a:r>
              <a:rPr lang="en-US" sz="1320" b="1" dirty="0">
                <a:solidFill>
                  <a:srgbClr val="334155"/>
                </a:solidFill>
              </a:rPr>
              <a:t>Business rules scattered across UI, controller, and data access become fragile.</a:t>
            </a:r>
            <a:endParaRPr lang="en-US" sz="1320" b="1" dirty="0"/>
          </a:p>
        </p:txBody>
      </p:sp>
      <p:sp>
        <p:nvSpPr>
          <p:cNvPr id="22" name="Shape 20"/>
          <p:cNvSpPr/>
          <p:nvPr/>
        </p:nvSpPr>
        <p:spPr>
          <a:xfrm>
            <a:off x="4617720" y="3474720"/>
            <a:ext cx="3337560" cy="1325880"/>
          </a:xfrm>
          <a:prstGeom prst="roundRect">
            <a:avLst>
              <a:gd name="adj" fmla="val 4138"/>
            </a:avLst>
          </a:prstGeom>
          <a:solidFill>
            <a:srgbClr val="FFFFFF"/>
          </a:solidFill>
          <a:ln w="12700">
            <a:solidFill>
              <a:srgbClr val="14B8A6"/>
            </a:solidFill>
            <a:prstDash val="solid"/>
          </a:ln>
          <a:effectLst>
            <a:outerShdw blurRad="15240" dist="10160" dir="2700000" algn="bl" rotWithShape="0">
              <a:srgbClr val="000000">
                <a:alpha val="8000"/>
              </a:srgbClr>
            </a:outerShdw>
          </a:effectLst>
        </p:spPr>
      </p:sp>
      <p:sp>
        <p:nvSpPr>
          <p:cNvPr id="23" name="Shape 21"/>
          <p:cNvSpPr/>
          <p:nvPr/>
        </p:nvSpPr>
        <p:spPr>
          <a:xfrm>
            <a:off x="4764024" y="3639312"/>
            <a:ext cx="310896" cy="310896"/>
          </a:xfrm>
          <a:prstGeom prst="ellipse">
            <a:avLst/>
          </a:prstGeom>
          <a:solidFill>
            <a:srgbClr val="FEF3C7"/>
          </a:solidFill>
          <a:ln w="12700">
            <a:solidFill>
              <a:srgbClr val="D97706"/>
            </a:solidFill>
            <a:prstDash val="solid"/>
          </a:ln>
        </p:spPr>
      </p:sp>
      <p:sp>
        <p:nvSpPr>
          <p:cNvPr id="24" name="Text 22"/>
          <p:cNvSpPr/>
          <p:nvPr/>
        </p:nvSpPr>
        <p:spPr>
          <a:xfrm>
            <a:off x="5184648" y="3621024"/>
            <a:ext cx="2542032" cy="201168"/>
          </a:xfrm>
          <a:prstGeom prst="rect">
            <a:avLst/>
          </a:prstGeom>
          <a:noFill/>
          <a:ln/>
        </p:spPr>
        <p:txBody>
          <a:bodyPr wrap="square" lIns="0" tIns="0" rIns="0" bIns="0" rtlCol="0" anchor="ctr"/>
          <a:lstStyle/>
          <a:p>
            <a:pPr marL="0" indent="0">
              <a:buNone/>
            </a:pPr>
            <a:r>
              <a:rPr lang="en-US" sz="1700" b="1" dirty="0">
                <a:solidFill>
                  <a:srgbClr val="0F172A"/>
                </a:solidFill>
              </a:rPr>
              <a:t>Poor errors</a:t>
            </a:r>
            <a:endParaRPr lang="en-US" sz="1700" dirty="0"/>
          </a:p>
        </p:txBody>
      </p:sp>
      <p:sp>
        <p:nvSpPr>
          <p:cNvPr id="25" name="Text 23"/>
          <p:cNvSpPr/>
          <p:nvPr/>
        </p:nvSpPr>
        <p:spPr>
          <a:xfrm>
            <a:off x="4782312" y="3986784"/>
            <a:ext cx="2944368" cy="457200"/>
          </a:xfrm>
          <a:prstGeom prst="rect">
            <a:avLst/>
          </a:prstGeom>
          <a:noFill/>
          <a:ln/>
        </p:spPr>
        <p:txBody>
          <a:bodyPr wrap="square" lIns="0" tIns="0" rIns="0" bIns="0" rtlCol="0" anchor="ctr"/>
          <a:lstStyle/>
          <a:p>
            <a:pPr marL="0" indent="0">
              <a:buNone/>
            </a:pPr>
            <a:r>
              <a:rPr lang="en-US" sz="1320" b="1" dirty="0">
                <a:solidFill>
                  <a:srgbClr val="334155"/>
                </a:solidFill>
              </a:rPr>
              <a:t>Silent or inconsistent failures make debugging and user feedback harder.</a:t>
            </a:r>
            <a:endParaRPr lang="en-US" sz="1320" b="1" dirty="0"/>
          </a:p>
        </p:txBody>
      </p:sp>
      <p:sp>
        <p:nvSpPr>
          <p:cNvPr id="26" name="Shape 24"/>
          <p:cNvSpPr/>
          <p:nvPr/>
        </p:nvSpPr>
        <p:spPr>
          <a:xfrm>
            <a:off x="8412480" y="3474720"/>
            <a:ext cx="3337560" cy="1325880"/>
          </a:xfrm>
          <a:prstGeom prst="roundRect">
            <a:avLst>
              <a:gd name="adj" fmla="val 4138"/>
            </a:avLst>
          </a:prstGeom>
          <a:solidFill>
            <a:srgbClr val="FFFFFF"/>
          </a:solidFill>
          <a:ln w="12700">
            <a:solidFill>
              <a:srgbClr val="14B8A6"/>
            </a:solidFill>
            <a:prstDash val="solid"/>
          </a:ln>
          <a:effectLst>
            <a:outerShdw blurRad="15240" dist="10160" dir="2700000" algn="bl" rotWithShape="0">
              <a:srgbClr val="000000">
                <a:alpha val="8000"/>
              </a:srgbClr>
            </a:outerShdw>
          </a:effectLst>
        </p:spPr>
      </p:sp>
      <p:sp>
        <p:nvSpPr>
          <p:cNvPr id="27" name="Shape 25"/>
          <p:cNvSpPr/>
          <p:nvPr/>
        </p:nvSpPr>
        <p:spPr>
          <a:xfrm>
            <a:off x="8558784" y="3639312"/>
            <a:ext cx="310896" cy="310896"/>
          </a:xfrm>
          <a:prstGeom prst="ellipse">
            <a:avLst/>
          </a:prstGeom>
          <a:solidFill>
            <a:srgbClr val="FEF3C7"/>
          </a:solidFill>
          <a:ln w="12700">
            <a:solidFill>
              <a:srgbClr val="D97706"/>
            </a:solidFill>
            <a:prstDash val="solid"/>
          </a:ln>
        </p:spPr>
      </p:sp>
      <p:sp>
        <p:nvSpPr>
          <p:cNvPr id="28" name="Text 26"/>
          <p:cNvSpPr/>
          <p:nvPr/>
        </p:nvSpPr>
        <p:spPr>
          <a:xfrm>
            <a:off x="8979408" y="3621024"/>
            <a:ext cx="2542032" cy="201168"/>
          </a:xfrm>
          <a:prstGeom prst="rect">
            <a:avLst/>
          </a:prstGeom>
          <a:noFill/>
          <a:ln/>
        </p:spPr>
        <p:txBody>
          <a:bodyPr wrap="square" lIns="0" tIns="0" rIns="0" bIns="0" rtlCol="0" anchor="ctr"/>
          <a:lstStyle/>
          <a:p>
            <a:pPr marL="0" indent="0">
              <a:buNone/>
            </a:pPr>
            <a:r>
              <a:rPr lang="en-US" sz="1700" b="1" dirty="0">
                <a:solidFill>
                  <a:srgbClr val="0F172A"/>
                </a:solidFill>
              </a:rPr>
              <a:t>No standards</a:t>
            </a:r>
            <a:endParaRPr lang="en-US" sz="1700" dirty="0"/>
          </a:p>
        </p:txBody>
      </p:sp>
      <p:sp>
        <p:nvSpPr>
          <p:cNvPr id="29" name="Text 27"/>
          <p:cNvSpPr/>
          <p:nvPr/>
        </p:nvSpPr>
        <p:spPr>
          <a:xfrm>
            <a:off x="8577072" y="3986784"/>
            <a:ext cx="2944368" cy="457200"/>
          </a:xfrm>
          <a:prstGeom prst="rect">
            <a:avLst/>
          </a:prstGeom>
          <a:noFill/>
          <a:ln/>
        </p:spPr>
        <p:txBody>
          <a:bodyPr wrap="square" lIns="0" tIns="0" rIns="0" bIns="0" rtlCol="0" anchor="ctr"/>
          <a:lstStyle/>
          <a:p>
            <a:pPr marL="0" indent="0">
              <a:buNone/>
            </a:pPr>
            <a:r>
              <a:rPr lang="en-US" sz="1320" b="1" dirty="0">
                <a:solidFill>
                  <a:srgbClr val="334155"/>
                </a:solidFill>
              </a:rPr>
              <a:t>Without a shared baseline, every feature is built differently.</a:t>
            </a:r>
            <a:endParaRPr lang="en-US" sz="1320" b="1" dirty="0"/>
          </a:p>
        </p:txBody>
      </p:sp>
      <p:sp>
        <p:nvSpPr>
          <p:cNvPr id="30" name="Text 28"/>
          <p:cNvSpPr/>
          <p:nvPr/>
        </p:nvSpPr>
        <p:spPr>
          <a:xfrm>
            <a:off x="1005840" y="5577840"/>
            <a:ext cx="10058400" cy="201168"/>
          </a:xfrm>
          <a:prstGeom prst="rect">
            <a:avLst/>
          </a:prstGeom>
          <a:noFill/>
          <a:ln/>
        </p:spPr>
        <p:txBody>
          <a:bodyPr wrap="square" lIns="0" tIns="0" rIns="0" bIns="0" rtlCol="0" anchor="ctr"/>
          <a:lstStyle/>
          <a:p>
            <a:pPr marL="0" indent="0" algn="ctr">
              <a:buNone/>
            </a:pPr>
            <a:r>
              <a:rPr lang="en-US" sz="1700" b="1" dirty="0">
                <a:solidFill>
                  <a:srgbClr val="0F172A"/>
                </a:solidFill>
              </a:rPr>
              <a:t>The rest of the week is about replacing these patterns with cleaner defaults.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76656" y="253800"/>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PROJECT</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The application we will build in this training</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One end-to-end example keeps every concept connected.</a:t>
            </a:r>
            <a:endParaRPr lang="en-US" sz="1400" b="1" dirty="0"/>
          </a:p>
        </p:txBody>
      </p:sp>
      <p:sp>
        <p:nvSpPr>
          <p:cNvPr id="5" name="Shape 3"/>
          <p:cNvSpPr/>
          <p:nvPr/>
        </p:nvSpPr>
        <p:spPr>
          <a:xfrm>
            <a:off x="9601200" y="502920"/>
            <a:ext cx="1691640" cy="164592"/>
          </a:xfrm>
          <a:prstGeom prst="roundRect">
            <a:avLst>
              <a:gd name="adj" fmla="val 22222"/>
            </a:avLst>
          </a:prstGeom>
          <a:solidFill>
            <a:srgbClr val="06B6D4"/>
          </a:solidFill>
          <a:ln w="12700">
            <a:solidFill>
              <a:srgbClr val="06B6D4"/>
            </a:solidFill>
            <a:prstDash val="solid"/>
          </a:ln>
        </p:spPr>
      </p:sp>
      <p:sp>
        <p:nvSpPr>
          <p:cNvPr id="6" name="Shape 4"/>
          <p:cNvSpPr/>
          <p:nvPr/>
        </p:nvSpPr>
        <p:spPr>
          <a:xfrm>
            <a:off x="822960" y="1572768"/>
            <a:ext cx="3886200" cy="4526280"/>
          </a:xfrm>
          <a:prstGeom prst="roundRect">
            <a:avLst>
              <a:gd name="adj" fmla="val 1882"/>
            </a:avLst>
          </a:prstGeom>
          <a:solidFill>
            <a:srgbClr val="0F172A"/>
          </a:solidFill>
          <a:ln w="12700">
            <a:solidFill>
              <a:srgbClr val="0F172A"/>
            </a:solidFill>
            <a:prstDash val="solid"/>
          </a:ln>
        </p:spPr>
      </p:sp>
      <p:sp>
        <p:nvSpPr>
          <p:cNvPr id="7" name="Text 5"/>
          <p:cNvSpPr/>
          <p:nvPr/>
        </p:nvSpPr>
        <p:spPr>
          <a:xfrm>
            <a:off x="1097280" y="1874520"/>
            <a:ext cx="1828800" cy="292608"/>
          </a:xfrm>
          <a:prstGeom prst="rect">
            <a:avLst/>
          </a:prstGeom>
          <a:noFill/>
          <a:ln/>
        </p:spPr>
        <p:txBody>
          <a:bodyPr wrap="square" lIns="0" tIns="0" rIns="0" bIns="0" rtlCol="0" anchor="ctr"/>
          <a:lstStyle/>
          <a:p>
            <a:pPr marL="0" indent="0">
              <a:buNone/>
            </a:pPr>
            <a:r>
              <a:rPr lang="en-US" sz="2600" b="1" dirty="0">
                <a:solidFill>
                  <a:srgbClr val="FFFFFF"/>
                </a:solidFill>
              </a:rPr>
              <a:t>TaskFlow</a:t>
            </a:r>
            <a:endParaRPr lang="en-US" sz="2600" dirty="0"/>
          </a:p>
        </p:txBody>
      </p:sp>
      <p:sp>
        <p:nvSpPr>
          <p:cNvPr id="8" name="Text 6"/>
          <p:cNvSpPr/>
          <p:nvPr/>
        </p:nvSpPr>
        <p:spPr>
          <a:xfrm>
            <a:off x="1097280" y="2471553"/>
            <a:ext cx="3108960" cy="594360"/>
          </a:xfrm>
          <a:prstGeom prst="rect">
            <a:avLst/>
          </a:prstGeom>
          <a:noFill/>
          <a:ln/>
        </p:spPr>
        <p:txBody>
          <a:bodyPr wrap="square" lIns="0" tIns="0" rIns="0" bIns="0" rtlCol="0" anchor="ctr"/>
          <a:lstStyle/>
          <a:p>
            <a:pPr marL="0" indent="0">
              <a:buNone/>
            </a:pPr>
            <a:r>
              <a:rPr lang="en-US" sz="1550" dirty="0">
                <a:solidFill>
                  <a:srgbClr val="CBD5E1"/>
                </a:solidFill>
              </a:rPr>
              <a:t>A small work-item tracker that is simple enough for and realistic enough to show full-stack delivery.</a:t>
            </a:r>
            <a:endParaRPr lang="en-US" sz="1550" dirty="0"/>
          </a:p>
        </p:txBody>
      </p:sp>
      <p:sp>
        <p:nvSpPr>
          <p:cNvPr id="9" name="Text 7"/>
          <p:cNvSpPr/>
          <p:nvPr/>
        </p:nvSpPr>
        <p:spPr>
          <a:xfrm>
            <a:off x="1097280" y="3246120"/>
            <a:ext cx="2377440" cy="2194560"/>
          </a:xfrm>
          <a:prstGeom prst="rect">
            <a:avLst/>
          </a:prstGeom>
          <a:noFill/>
          <a:ln/>
        </p:spPr>
        <p:txBody>
          <a:bodyPr wrap="square" lIns="0" tIns="0" rIns="0" bIns="0" rtlCol="0" anchor="ctr"/>
          <a:lstStyle/>
          <a:p>
            <a:pPr marL="0" indent="0">
              <a:buNone/>
            </a:pPr>
            <a:r>
              <a:rPr lang="en-US" sz="1700" b="1" dirty="0">
                <a:solidFill>
                  <a:srgbClr val="93C5FD"/>
                </a:solidFill>
              </a:rPr>
              <a:t>• </a:t>
            </a:r>
            <a:r>
              <a:rPr lang="en-US" sz="1700" dirty="0">
                <a:solidFill>
                  <a:srgbClr val="FFFFFF"/>
                </a:solidFill>
              </a:rPr>
              <a:t>Create task
</a:t>
            </a:r>
            <a:r>
              <a:rPr lang="en-US" sz="1700" b="1" dirty="0">
                <a:solidFill>
                  <a:srgbClr val="93C5FD"/>
                </a:solidFill>
              </a:rPr>
              <a:t>• </a:t>
            </a:r>
            <a:r>
              <a:rPr lang="en-US" sz="1700" dirty="0">
                <a:solidFill>
                  <a:srgbClr val="FFFFFF"/>
                </a:solidFill>
              </a:rPr>
              <a:t>List tasks
</a:t>
            </a:r>
            <a:r>
              <a:rPr lang="en-US" sz="1700" b="1" dirty="0">
                <a:solidFill>
                  <a:srgbClr val="93C5FD"/>
                </a:solidFill>
              </a:rPr>
              <a:t>• </a:t>
            </a:r>
            <a:r>
              <a:rPr lang="en-US" sz="1700" dirty="0">
                <a:solidFill>
                  <a:srgbClr val="FFFFFF"/>
                </a:solidFill>
              </a:rPr>
              <a:t>Update status
</a:t>
            </a:r>
            <a:r>
              <a:rPr lang="en-US" sz="1700" b="1" dirty="0">
                <a:solidFill>
                  <a:srgbClr val="93C5FD"/>
                </a:solidFill>
              </a:rPr>
              <a:t>• </a:t>
            </a:r>
            <a:r>
              <a:rPr lang="en-US" sz="1700" dirty="0">
                <a:solidFill>
                  <a:srgbClr val="FFFFFF"/>
                </a:solidFill>
              </a:rPr>
              <a:t>Delete task
</a:t>
            </a:r>
            <a:r>
              <a:rPr lang="en-US" sz="1700" b="1" dirty="0">
                <a:solidFill>
                  <a:srgbClr val="93C5FD"/>
                </a:solidFill>
              </a:rPr>
              <a:t>• </a:t>
            </a:r>
            <a:r>
              <a:rPr lang="en-US" sz="1700" dirty="0">
                <a:solidFill>
                  <a:srgbClr val="FFFFFF"/>
                </a:solidFill>
              </a:rPr>
              <a:t>Search / filter
</a:t>
            </a:r>
            <a:r>
              <a:rPr lang="en-US" sz="1700" b="1" dirty="0">
                <a:solidFill>
                  <a:srgbClr val="93C5FD"/>
                </a:solidFill>
              </a:rPr>
              <a:t>• </a:t>
            </a:r>
            <a:r>
              <a:rPr lang="en-US" sz="1700" dirty="0">
                <a:solidFill>
                  <a:srgbClr val="FFFFFF"/>
                </a:solidFill>
              </a:rPr>
              <a:t>Show UI feedback</a:t>
            </a:r>
            <a:endParaRPr lang="en-US" sz="1700" dirty="0"/>
          </a:p>
        </p:txBody>
      </p:sp>
      <p:sp>
        <p:nvSpPr>
          <p:cNvPr id="10" name="Shape 8"/>
          <p:cNvSpPr/>
          <p:nvPr/>
        </p:nvSpPr>
        <p:spPr>
          <a:xfrm>
            <a:off x="5212080" y="1828800"/>
            <a:ext cx="1874520" cy="777240"/>
          </a:xfrm>
          <a:prstGeom prst="roundRect">
            <a:avLst>
              <a:gd name="adj" fmla="val 7059"/>
            </a:avLst>
          </a:prstGeom>
          <a:solidFill>
            <a:srgbClr val="DBEAFE"/>
          </a:solidFill>
          <a:ln w="12700">
            <a:solidFill>
              <a:srgbClr val="2563EB"/>
            </a:solidFill>
            <a:prstDash val="solid"/>
          </a:ln>
        </p:spPr>
      </p:sp>
      <p:sp>
        <p:nvSpPr>
          <p:cNvPr id="11" name="Text 9"/>
          <p:cNvSpPr/>
          <p:nvPr/>
        </p:nvSpPr>
        <p:spPr>
          <a:xfrm>
            <a:off x="5212080" y="2103120"/>
            <a:ext cx="1874520" cy="146304"/>
          </a:xfrm>
          <a:prstGeom prst="rect">
            <a:avLst/>
          </a:prstGeom>
          <a:noFill/>
          <a:ln/>
        </p:spPr>
        <p:txBody>
          <a:bodyPr wrap="square" lIns="0" tIns="0" rIns="0" bIns="0" rtlCol="0" anchor="ctr"/>
          <a:lstStyle/>
          <a:p>
            <a:pPr marL="0" indent="0" algn="ctr">
              <a:buNone/>
            </a:pPr>
            <a:r>
              <a:rPr lang="en-US" sz="1800" b="1" dirty="0">
                <a:solidFill>
                  <a:srgbClr val="0F172A"/>
                </a:solidFill>
              </a:rPr>
              <a:t>React UI</a:t>
            </a:r>
            <a:endParaRPr lang="en-US" sz="1800" dirty="0"/>
          </a:p>
        </p:txBody>
      </p:sp>
      <p:sp>
        <p:nvSpPr>
          <p:cNvPr id="12" name="Shape 10"/>
          <p:cNvSpPr/>
          <p:nvPr/>
        </p:nvSpPr>
        <p:spPr>
          <a:xfrm>
            <a:off x="7296912" y="2084832"/>
            <a:ext cx="411480" cy="292608"/>
          </a:xfrm>
          <a:prstGeom prst="chevron">
            <a:avLst/>
          </a:prstGeom>
          <a:solidFill>
            <a:srgbClr val="64748B"/>
          </a:solidFill>
          <a:ln w="12700">
            <a:solidFill>
              <a:srgbClr val="64748B"/>
            </a:solidFill>
            <a:prstDash val="solid"/>
          </a:ln>
        </p:spPr>
      </p:sp>
      <p:sp>
        <p:nvSpPr>
          <p:cNvPr id="13" name="Shape 11"/>
          <p:cNvSpPr/>
          <p:nvPr/>
        </p:nvSpPr>
        <p:spPr>
          <a:xfrm>
            <a:off x="7818120" y="1828800"/>
            <a:ext cx="2011680" cy="777240"/>
          </a:xfrm>
          <a:prstGeom prst="roundRect">
            <a:avLst>
              <a:gd name="adj" fmla="val 7059"/>
            </a:avLst>
          </a:prstGeom>
          <a:solidFill>
            <a:srgbClr val="DCFCE7"/>
          </a:solidFill>
          <a:ln w="12700">
            <a:solidFill>
              <a:srgbClr val="16A34A"/>
            </a:solidFill>
            <a:prstDash val="solid"/>
          </a:ln>
        </p:spPr>
      </p:sp>
      <p:sp>
        <p:nvSpPr>
          <p:cNvPr id="14" name="Text 12"/>
          <p:cNvSpPr/>
          <p:nvPr/>
        </p:nvSpPr>
        <p:spPr>
          <a:xfrm>
            <a:off x="7818120" y="2103120"/>
            <a:ext cx="2011680" cy="146304"/>
          </a:xfrm>
          <a:prstGeom prst="rect">
            <a:avLst/>
          </a:prstGeom>
          <a:noFill/>
          <a:ln/>
        </p:spPr>
        <p:txBody>
          <a:bodyPr wrap="square" lIns="0" tIns="0" rIns="0" bIns="0" rtlCol="0" anchor="ctr"/>
          <a:lstStyle/>
          <a:p>
            <a:pPr marL="0" indent="0" algn="ctr">
              <a:buNone/>
            </a:pPr>
            <a:r>
              <a:rPr lang="en-US" sz="1800" b="1" dirty="0">
                <a:solidFill>
                  <a:srgbClr val="0F172A"/>
                </a:solidFill>
              </a:rPr>
              <a:t>.NET API</a:t>
            </a:r>
            <a:endParaRPr lang="en-US" sz="1800" dirty="0"/>
          </a:p>
        </p:txBody>
      </p:sp>
      <p:sp>
        <p:nvSpPr>
          <p:cNvPr id="15" name="Shape 13"/>
          <p:cNvSpPr/>
          <p:nvPr/>
        </p:nvSpPr>
        <p:spPr>
          <a:xfrm>
            <a:off x="10040112" y="2084832"/>
            <a:ext cx="411480" cy="292608"/>
          </a:xfrm>
          <a:prstGeom prst="chevron">
            <a:avLst/>
          </a:prstGeom>
          <a:solidFill>
            <a:srgbClr val="64748B"/>
          </a:solidFill>
          <a:ln w="12700">
            <a:solidFill>
              <a:srgbClr val="64748B"/>
            </a:solidFill>
            <a:prstDash val="solid"/>
          </a:ln>
        </p:spPr>
      </p:sp>
      <p:sp>
        <p:nvSpPr>
          <p:cNvPr id="16" name="Shape 14"/>
          <p:cNvSpPr/>
          <p:nvPr/>
        </p:nvSpPr>
        <p:spPr>
          <a:xfrm>
            <a:off x="10561320" y="1828800"/>
            <a:ext cx="868680" cy="777240"/>
          </a:xfrm>
          <a:prstGeom prst="roundRect">
            <a:avLst>
              <a:gd name="adj" fmla="val 7059"/>
            </a:avLst>
          </a:prstGeom>
          <a:solidFill>
            <a:srgbClr val="CCFBF1"/>
          </a:solidFill>
          <a:ln w="12700">
            <a:solidFill>
              <a:srgbClr val="14B8A6"/>
            </a:solidFill>
            <a:prstDash val="solid"/>
          </a:ln>
        </p:spPr>
      </p:sp>
      <p:sp>
        <p:nvSpPr>
          <p:cNvPr id="17" name="Text 15"/>
          <p:cNvSpPr/>
          <p:nvPr/>
        </p:nvSpPr>
        <p:spPr>
          <a:xfrm>
            <a:off x="10561320" y="2103120"/>
            <a:ext cx="868680" cy="146304"/>
          </a:xfrm>
          <a:prstGeom prst="rect">
            <a:avLst/>
          </a:prstGeom>
          <a:noFill/>
          <a:ln/>
        </p:spPr>
        <p:txBody>
          <a:bodyPr wrap="square" lIns="0" tIns="0" rIns="0" bIns="0" rtlCol="0" anchor="ctr"/>
          <a:lstStyle/>
          <a:p>
            <a:pPr marL="0" indent="0" algn="ctr">
              <a:buNone/>
            </a:pPr>
            <a:r>
              <a:rPr lang="en-US" sz="1800" b="1" dirty="0">
                <a:solidFill>
                  <a:srgbClr val="0F172A"/>
                </a:solidFill>
              </a:rPr>
              <a:t>DB</a:t>
            </a:r>
            <a:endParaRPr lang="en-US" sz="1800" dirty="0"/>
          </a:p>
        </p:txBody>
      </p:sp>
      <p:sp>
        <p:nvSpPr>
          <p:cNvPr id="18" name="Text 16"/>
          <p:cNvSpPr/>
          <p:nvPr/>
        </p:nvSpPr>
        <p:spPr>
          <a:xfrm>
            <a:off x="5257800" y="3154680"/>
            <a:ext cx="5303520" cy="201168"/>
          </a:xfrm>
          <a:prstGeom prst="rect">
            <a:avLst/>
          </a:prstGeom>
          <a:noFill/>
          <a:ln/>
        </p:spPr>
        <p:txBody>
          <a:bodyPr wrap="square" lIns="0" tIns="0" rIns="0" bIns="0" rtlCol="0" anchor="ctr"/>
          <a:lstStyle/>
          <a:p>
            <a:pPr marL="0" indent="0">
              <a:buNone/>
            </a:pPr>
            <a:r>
              <a:rPr lang="en-US" sz="1900" b="1" dirty="0">
                <a:solidFill>
                  <a:srgbClr val="0F172A"/>
                </a:solidFill>
              </a:rPr>
              <a:t>Why this project works well for a mixed-level team</a:t>
            </a:r>
            <a:endParaRPr lang="en-US" sz="1900" dirty="0"/>
          </a:p>
        </p:txBody>
      </p:sp>
      <p:sp>
        <p:nvSpPr>
          <p:cNvPr id="19" name="Text 17"/>
          <p:cNvSpPr/>
          <p:nvPr/>
        </p:nvSpPr>
        <p:spPr>
          <a:xfrm>
            <a:off x="5303520" y="3547872"/>
            <a:ext cx="5486400" cy="2057400"/>
          </a:xfrm>
          <a:prstGeom prst="rect">
            <a:avLst/>
          </a:prstGeom>
          <a:noFill/>
          <a:ln/>
        </p:spPr>
        <p:txBody>
          <a:bodyPr wrap="square" lIns="0" tIns="0" rIns="0" bIns="0" rtlCol="0" anchor="ctr"/>
          <a:lstStyle/>
          <a:p>
            <a:pPr marL="0" indent="0">
              <a:buNone/>
            </a:pPr>
            <a:r>
              <a:rPr lang="en-US" sz="1600" b="1" dirty="0">
                <a:solidFill>
                  <a:srgbClr val="2563EB"/>
                </a:solidFill>
              </a:rPr>
              <a:t>• </a:t>
            </a:r>
            <a:r>
              <a:rPr lang="en-US" sz="1600" dirty="0">
                <a:solidFill>
                  <a:srgbClr val="334155"/>
                </a:solidFill>
              </a:rPr>
              <a:t>Simple domain: everyone understands tasks quickly.
</a:t>
            </a:r>
            <a:r>
              <a:rPr lang="en-US" sz="1600" b="1" dirty="0">
                <a:solidFill>
                  <a:srgbClr val="2563EB"/>
                </a:solidFill>
              </a:rPr>
              <a:t>• </a:t>
            </a:r>
            <a:r>
              <a:rPr lang="en-US" sz="1600" dirty="0">
                <a:solidFill>
                  <a:srgbClr val="334155"/>
                </a:solidFill>
              </a:rPr>
              <a:t>Useful CRUD surface: enough for controllers, Minimal APIs, and React integration.
</a:t>
            </a:r>
            <a:r>
              <a:rPr lang="en-US" sz="1600" b="1" dirty="0">
                <a:solidFill>
                  <a:srgbClr val="2563EB"/>
                </a:solidFill>
              </a:rPr>
              <a:t>• </a:t>
            </a:r>
            <a:r>
              <a:rPr lang="en-US" sz="1600" dirty="0">
                <a:solidFill>
                  <a:srgbClr val="334155"/>
                </a:solidFill>
              </a:rPr>
              <a:t>Natural validation, status changes, and error scenarios.
</a:t>
            </a:r>
            <a:r>
              <a:rPr lang="en-US" sz="1600" b="1" dirty="0">
                <a:solidFill>
                  <a:srgbClr val="2563EB"/>
                </a:solidFill>
              </a:rPr>
              <a:t>• </a:t>
            </a:r>
            <a:r>
              <a:rPr lang="en-US" sz="1600" dirty="0">
                <a:solidFill>
                  <a:srgbClr val="334155"/>
                </a:solidFill>
              </a:rPr>
              <a:t>Easy to explain from user action to stored data and back.</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76656" y="253800"/>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STACK</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The stack we will use</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Each part of the stack teaches a different engineering responsibility.</a:t>
            </a:r>
            <a:endParaRPr lang="en-US" sz="1400" b="1" dirty="0"/>
          </a:p>
        </p:txBody>
      </p:sp>
      <p:sp>
        <p:nvSpPr>
          <p:cNvPr id="5" name="Shape 3"/>
          <p:cNvSpPr/>
          <p:nvPr/>
        </p:nvSpPr>
        <p:spPr>
          <a:xfrm>
            <a:off x="9509760" y="502920"/>
            <a:ext cx="1828800" cy="164592"/>
          </a:xfrm>
          <a:prstGeom prst="roundRect">
            <a:avLst>
              <a:gd name="adj" fmla="val 22222"/>
            </a:avLst>
          </a:prstGeom>
          <a:solidFill>
            <a:srgbClr val="2563EB"/>
          </a:solidFill>
          <a:ln w="12700">
            <a:solidFill>
              <a:srgbClr val="2563EB"/>
            </a:solidFill>
            <a:prstDash val="solid"/>
          </a:ln>
        </p:spPr>
      </p:sp>
      <p:sp>
        <p:nvSpPr>
          <p:cNvPr id="6" name="Shape 4"/>
          <p:cNvSpPr/>
          <p:nvPr/>
        </p:nvSpPr>
        <p:spPr>
          <a:xfrm>
            <a:off x="914400" y="1554480"/>
            <a:ext cx="3749040" cy="640080"/>
          </a:xfrm>
          <a:prstGeom prst="roundRect">
            <a:avLst>
              <a:gd name="adj" fmla="val 7143"/>
            </a:avLst>
          </a:prstGeom>
          <a:solidFill>
            <a:srgbClr val="DBEAFE"/>
          </a:solidFill>
          <a:ln w="12700">
            <a:solidFill>
              <a:srgbClr val="2563EB"/>
            </a:solidFill>
            <a:prstDash val="solid"/>
          </a:ln>
        </p:spPr>
      </p:sp>
      <p:sp>
        <p:nvSpPr>
          <p:cNvPr id="7" name="Text 5"/>
          <p:cNvSpPr/>
          <p:nvPr/>
        </p:nvSpPr>
        <p:spPr>
          <a:xfrm>
            <a:off x="1078992" y="1719072"/>
            <a:ext cx="3246120" cy="201168"/>
          </a:xfrm>
          <a:prstGeom prst="rect">
            <a:avLst/>
          </a:prstGeom>
          <a:noFill/>
          <a:ln/>
        </p:spPr>
        <p:txBody>
          <a:bodyPr wrap="square" lIns="0" tIns="0" rIns="0" bIns="0" rtlCol="0" anchor="ctr"/>
          <a:lstStyle/>
          <a:p>
            <a:pPr marL="0" indent="0">
              <a:buNone/>
            </a:pPr>
            <a:r>
              <a:rPr lang="en-US" sz="1460" b="1" dirty="0">
                <a:solidFill>
                  <a:srgbClr val="0F172A"/>
                </a:solidFill>
              </a:rPr>
              <a:t>.NET 10 — </a:t>
            </a:r>
            <a:r>
              <a:rPr lang="en-US" sz="1460" dirty="0">
                <a:solidFill>
                  <a:srgbClr val="334155"/>
                </a:solidFill>
              </a:rPr>
              <a:t>Backend runtime and modern ASP.NET Core platform</a:t>
            </a:r>
            <a:endParaRPr lang="en-US" sz="1460" dirty="0"/>
          </a:p>
        </p:txBody>
      </p:sp>
      <p:sp>
        <p:nvSpPr>
          <p:cNvPr id="8" name="Shape 6"/>
          <p:cNvSpPr/>
          <p:nvPr/>
        </p:nvSpPr>
        <p:spPr>
          <a:xfrm>
            <a:off x="914400" y="2487168"/>
            <a:ext cx="3749040" cy="640080"/>
          </a:xfrm>
          <a:prstGeom prst="roundRect">
            <a:avLst>
              <a:gd name="adj" fmla="val 7143"/>
            </a:avLst>
          </a:prstGeom>
          <a:solidFill>
            <a:srgbClr val="E0F2FE"/>
          </a:solidFill>
          <a:ln w="12700">
            <a:solidFill>
              <a:srgbClr val="06B6D4"/>
            </a:solidFill>
            <a:prstDash val="solid"/>
          </a:ln>
        </p:spPr>
      </p:sp>
      <p:sp>
        <p:nvSpPr>
          <p:cNvPr id="9" name="Text 7"/>
          <p:cNvSpPr/>
          <p:nvPr/>
        </p:nvSpPr>
        <p:spPr>
          <a:xfrm>
            <a:off x="1078992" y="2651760"/>
            <a:ext cx="3246120" cy="201168"/>
          </a:xfrm>
          <a:prstGeom prst="rect">
            <a:avLst/>
          </a:prstGeom>
          <a:noFill/>
          <a:ln/>
        </p:spPr>
        <p:txBody>
          <a:bodyPr wrap="square" lIns="0" tIns="0" rIns="0" bIns="0" rtlCol="0" anchor="ctr"/>
          <a:lstStyle/>
          <a:p>
            <a:pPr marL="0" indent="0">
              <a:buNone/>
            </a:pPr>
            <a:r>
              <a:rPr lang="en-US" sz="1460" b="1" dirty="0">
                <a:solidFill>
                  <a:srgbClr val="0F172A"/>
                </a:solidFill>
              </a:rPr>
              <a:t>Controllers — </a:t>
            </a:r>
            <a:r>
              <a:rPr lang="en-US" sz="1460" dirty="0">
                <a:solidFill>
                  <a:srgbClr val="334155"/>
                </a:solidFill>
              </a:rPr>
              <a:t>Structured API design and clear responsibility boundaries</a:t>
            </a:r>
            <a:endParaRPr lang="en-US" sz="1460" dirty="0"/>
          </a:p>
        </p:txBody>
      </p:sp>
      <p:sp>
        <p:nvSpPr>
          <p:cNvPr id="10" name="Shape 8"/>
          <p:cNvSpPr/>
          <p:nvPr/>
        </p:nvSpPr>
        <p:spPr>
          <a:xfrm>
            <a:off x="914400" y="3419856"/>
            <a:ext cx="3749040" cy="640080"/>
          </a:xfrm>
          <a:prstGeom prst="roundRect">
            <a:avLst>
              <a:gd name="adj" fmla="val 7143"/>
            </a:avLst>
          </a:prstGeom>
          <a:solidFill>
            <a:srgbClr val="CCFBF1"/>
          </a:solidFill>
          <a:ln w="12700">
            <a:solidFill>
              <a:srgbClr val="14B8A6"/>
            </a:solidFill>
            <a:prstDash val="solid"/>
          </a:ln>
        </p:spPr>
      </p:sp>
      <p:sp>
        <p:nvSpPr>
          <p:cNvPr id="11" name="Text 9"/>
          <p:cNvSpPr/>
          <p:nvPr/>
        </p:nvSpPr>
        <p:spPr>
          <a:xfrm>
            <a:off x="1078992" y="3584448"/>
            <a:ext cx="3246120" cy="201168"/>
          </a:xfrm>
          <a:prstGeom prst="rect">
            <a:avLst/>
          </a:prstGeom>
          <a:noFill/>
          <a:ln/>
        </p:spPr>
        <p:txBody>
          <a:bodyPr wrap="square" lIns="0" tIns="0" rIns="0" bIns="0" rtlCol="0" anchor="ctr"/>
          <a:lstStyle/>
          <a:p>
            <a:pPr marL="0" indent="0">
              <a:buNone/>
            </a:pPr>
            <a:r>
              <a:rPr lang="en-US" sz="1460" b="1" dirty="0">
                <a:solidFill>
                  <a:srgbClr val="0F172A"/>
                </a:solidFill>
              </a:rPr>
              <a:t>Minimal APIs — </a:t>
            </a:r>
            <a:r>
              <a:rPr lang="en-US" sz="1460" dirty="0">
                <a:solidFill>
                  <a:srgbClr val="334155"/>
                </a:solidFill>
              </a:rPr>
              <a:t>Lean endpoint design for focused scenarios</a:t>
            </a:r>
            <a:endParaRPr lang="en-US" sz="1460" dirty="0"/>
          </a:p>
        </p:txBody>
      </p:sp>
      <p:sp>
        <p:nvSpPr>
          <p:cNvPr id="12" name="Shape 10"/>
          <p:cNvSpPr/>
          <p:nvPr/>
        </p:nvSpPr>
        <p:spPr>
          <a:xfrm>
            <a:off x="914400" y="4352544"/>
            <a:ext cx="3749040" cy="640080"/>
          </a:xfrm>
          <a:prstGeom prst="roundRect">
            <a:avLst>
              <a:gd name="adj" fmla="val 7143"/>
            </a:avLst>
          </a:prstGeom>
          <a:solidFill>
            <a:srgbClr val="FEF3C7"/>
          </a:solidFill>
          <a:ln w="12700">
            <a:solidFill>
              <a:srgbClr val="F59E0B"/>
            </a:solidFill>
            <a:prstDash val="solid"/>
          </a:ln>
        </p:spPr>
      </p:sp>
      <p:sp>
        <p:nvSpPr>
          <p:cNvPr id="13" name="Text 11"/>
          <p:cNvSpPr/>
          <p:nvPr/>
        </p:nvSpPr>
        <p:spPr>
          <a:xfrm>
            <a:off x="1078992" y="4517136"/>
            <a:ext cx="3246120" cy="201168"/>
          </a:xfrm>
          <a:prstGeom prst="rect">
            <a:avLst/>
          </a:prstGeom>
          <a:noFill/>
          <a:ln/>
        </p:spPr>
        <p:txBody>
          <a:bodyPr wrap="square" lIns="0" tIns="0" rIns="0" bIns="0" rtlCol="0" anchor="ctr"/>
          <a:lstStyle/>
          <a:p>
            <a:pPr marL="0" indent="0">
              <a:buNone/>
            </a:pPr>
            <a:r>
              <a:rPr lang="en-US" sz="1460" b="1" dirty="0">
                <a:solidFill>
                  <a:srgbClr val="0F172A"/>
                </a:solidFill>
              </a:rPr>
              <a:t>MongoDB — </a:t>
            </a:r>
            <a:r>
              <a:rPr lang="en-US" sz="1460" dirty="0">
                <a:solidFill>
                  <a:srgbClr val="334155"/>
                </a:solidFill>
              </a:rPr>
              <a:t>Document storage, CRUD, and query thinking</a:t>
            </a:r>
            <a:endParaRPr lang="en-US" sz="1460" dirty="0"/>
          </a:p>
        </p:txBody>
      </p:sp>
      <p:sp>
        <p:nvSpPr>
          <p:cNvPr id="14" name="Shape 12"/>
          <p:cNvSpPr/>
          <p:nvPr/>
        </p:nvSpPr>
        <p:spPr>
          <a:xfrm>
            <a:off x="914400" y="5285232"/>
            <a:ext cx="3749040" cy="640080"/>
          </a:xfrm>
          <a:prstGeom prst="roundRect">
            <a:avLst>
              <a:gd name="adj" fmla="val 7143"/>
            </a:avLst>
          </a:prstGeom>
          <a:solidFill>
            <a:srgbClr val="DCFCE7"/>
          </a:solidFill>
          <a:ln w="12700">
            <a:solidFill>
              <a:srgbClr val="16A34A"/>
            </a:solidFill>
            <a:prstDash val="solid"/>
          </a:ln>
        </p:spPr>
      </p:sp>
      <p:sp>
        <p:nvSpPr>
          <p:cNvPr id="15" name="Text 13"/>
          <p:cNvSpPr/>
          <p:nvPr/>
        </p:nvSpPr>
        <p:spPr>
          <a:xfrm>
            <a:off x="1078992" y="5449824"/>
            <a:ext cx="3246120" cy="201168"/>
          </a:xfrm>
          <a:prstGeom prst="rect">
            <a:avLst/>
          </a:prstGeom>
          <a:noFill/>
          <a:ln/>
        </p:spPr>
        <p:txBody>
          <a:bodyPr wrap="square" lIns="0" tIns="0" rIns="0" bIns="0" rtlCol="0" anchor="ctr"/>
          <a:lstStyle/>
          <a:p>
            <a:pPr marL="0" indent="0">
              <a:buNone/>
            </a:pPr>
            <a:r>
              <a:rPr lang="en-US" sz="1460" b="1" dirty="0">
                <a:solidFill>
                  <a:srgbClr val="0F172A"/>
                </a:solidFill>
              </a:rPr>
              <a:t>React — </a:t>
            </a:r>
            <a:r>
              <a:rPr lang="en-US" sz="1460" dirty="0">
                <a:solidFill>
                  <a:srgbClr val="334155"/>
                </a:solidFill>
              </a:rPr>
              <a:t>UI state, events, forms, and API consumption</a:t>
            </a:r>
            <a:endParaRPr lang="en-US" sz="1460" dirty="0"/>
          </a:p>
        </p:txBody>
      </p:sp>
      <p:sp>
        <p:nvSpPr>
          <p:cNvPr id="16" name="Shape 14"/>
          <p:cNvSpPr/>
          <p:nvPr/>
        </p:nvSpPr>
        <p:spPr>
          <a:xfrm>
            <a:off x="5486400" y="1600200"/>
            <a:ext cx="5486400" cy="4526280"/>
          </a:xfrm>
          <a:prstGeom prst="roundRect">
            <a:avLst>
              <a:gd name="adj" fmla="val 1616"/>
            </a:avLst>
          </a:prstGeom>
          <a:solidFill>
            <a:srgbClr val="FFFFFF"/>
          </a:solidFill>
          <a:ln w="12700">
            <a:solidFill>
              <a:srgbClr val="CBD5E1"/>
            </a:solidFill>
            <a:prstDash val="solid"/>
          </a:ln>
        </p:spPr>
      </p:sp>
      <p:sp>
        <p:nvSpPr>
          <p:cNvPr id="17" name="Text 15"/>
          <p:cNvSpPr/>
          <p:nvPr/>
        </p:nvSpPr>
        <p:spPr>
          <a:xfrm>
            <a:off x="5806440" y="1901952"/>
            <a:ext cx="2743200" cy="201168"/>
          </a:xfrm>
          <a:prstGeom prst="rect">
            <a:avLst/>
          </a:prstGeom>
          <a:noFill/>
          <a:ln/>
        </p:spPr>
        <p:txBody>
          <a:bodyPr wrap="square" lIns="0" tIns="0" rIns="0" bIns="0" rtlCol="0" anchor="ctr"/>
          <a:lstStyle/>
          <a:p>
            <a:pPr marL="0" indent="0">
              <a:buNone/>
            </a:pPr>
            <a:r>
              <a:rPr lang="en-US" sz="1900" b="1" dirty="0">
                <a:solidFill>
                  <a:srgbClr val="0F172A"/>
                </a:solidFill>
              </a:rPr>
              <a:t>Teaching stance for this bootcamp</a:t>
            </a:r>
            <a:endParaRPr lang="en-US" sz="1900" dirty="0"/>
          </a:p>
        </p:txBody>
      </p:sp>
      <p:sp>
        <p:nvSpPr>
          <p:cNvPr id="18" name="Text 16"/>
          <p:cNvSpPr/>
          <p:nvPr/>
        </p:nvSpPr>
        <p:spPr>
          <a:xfrm>
            <a:off x="5779008" y="2304288"/>
            <a:ext cx="4709160" cy="2377440"/>
          </a:xfrm>
          <a:prstGeom prst="rect">
            <a:avLst/>
          </a:prstGeom>
          <a:noFill/>
          <a:ln/>
        </p:spPr>
        <p:txBody>
          <a:bodyPr wrap="square" lIns="0" tIns="0" rIns="0" bIns="0" rtlCol="0" anchor="ctr"/>
          <a:lstStyle/>
          <a:p>
            <a:pPr marL="0" indent="0">
              <a:buNone/>
            </a:pPr>
            <a:r>
              <a:rPr lang="en-US" sz="1600" b="1" dirty="0">
                <a:solidFill>
                  <a:srgbClr val="14B8A6"/>
                </a:solidFill>
              </a:rPr>
              <a:t>• </a:t>
            </a:r>
            <a:r>
              <a:rPr lang="en-US" sz="1600" dirty="0">
                <a:solidFill>
                  <a:srgbClr val="334155"/>
                </a:solidFill>
              </a:rPr>
              <a:t>Controllers teach structure and are the default baseline for team discipline.
</a:t>
            </a:r>
            <a:r>
              <a:rPr lang="en-US" sz="1600" b="1" dirty="0">
                <a:solidFill>
                  <a:srgbClr val="14B8A6"/>
                </a:solidFill>
              </a:rPr>
              <a:t>• </a:t>
            </a:r>
            <a:r>
              <a:rPr lang="en-US" sz="1600" dirty="0">
                <a:solidFill>
                  <a:srgbClr val="334155"/>
                </a:solidFill>
              </a:rPr>
              <a:t>Minimal APIs show a leaner modern style without replacing the need for good design.
</a:t>
            </a:r>
            <a:r>
              <a:rPr lang="en-US" sz="1600" b="1" dirty="0">
                <a:solidFill>
                  <a:srgbClr val="14B8A6"/>
                </a:solidFill>
              </a:rPr>
              <a:t>• </a:t>
            </a:r>
            <a:r>
              <a:rPr lang="en-US" sz="1600" dirty="0">
                <a:solidFill>
                  <a:srgbClr val="334155"/>
                </a:solidFill>
              </a:rPr>
              <a:t>MongoDB adds practical persistence without overwhelming the room with infrastructure.
</a:t>
            </a:r>
            <a:r>
              <a:rPr lang="en-US" sz="1600" b="1" dirty="0">
                <a:solidFill>
                  <a:srgbClr val="14B8A6"/>
                </a:solidFill>
              </a:rPr>
              <a:t>• </a:t>
            </a:r>
            <a:r>
              <a:rPr lang="en-US" sz="1600" dirty="0">
                <a:solidFill>
                  <a:srgbClr val="334155"/>
                </a:solidFill>
              </a:rPr>
              <a:t>React makes backend quality visible through contracts, forms, and UI feedback.</a:t>
            </a:r>
            <a:endParaRPr lang="en-US" sz="1600" dirty="0"/>
          </a:p>
        </p:txBody>
      </p:sp>
      <p:sp>
        <p:nvSpPr>
          <p:cNvPr id="19" name="Shape 17"/>
          <p:cNvSpPr/>
          <p:nvPr/>
        </p:nvSpPr>
        <p:spPr>
          <a:xfrm>
            <a:off x="5833872" y="5074920"/>
            <a:ext cx="4572000" cy="566928"/>
          </a:xfrm>
          <a:prstGeom prst="roundRect">
            <a:avLst>
              <a:gd name="adj" fmla="val 8065"/>
            </a:avLst>
          </a:prstGeom>
          <a:solidFill>
            <a:srgbClr val="0F172A"/>
          </a:solidFill>
          <a:ln w="12700">
            <a:solidFill>
              <a:srgbClr val="0F172A"/>
            </a:solidFill>
            <a:prstDash val="solid"/>
          </a:ln>
        </p:spPr>
      </p:sp>
      <p:sp>
        <p:nvSpPr>
          <p:cNvPr id="20" name="Text 18"/>
          <p:cNvSpPr/>
          <p:nvPr/>
        </p:nvSpPr>
        <p:spPr>
          <a:xfrm>
            <a:off x="6035040" y="5285232"/>
            <a:ext cx="4160520" cy="146304"/>
          </a:xfrm>
          <a:prstGeom prst="rect">
            <a:avLst/>
          </a:prstGeom>
          <a:noFill/>
          <a:ln/>
        </p:spPr>
        <p:txBody>
          <a:bodyPr wrap="square" lIns="0" tIns="0" rIns="0" bIns="0" rtlCol="0" anchor="ctr"/>
          <a:lstStyle/>
          <a:p>
            <a:pPr marL="0" indent="0" algn="ctr">
              <a:buNone/>
            </a:pPr>
            <a:r>
              <a:rPr lang="en-US" sz="1550" b="1" dirty="0">
                <a:solidFill>
                  <a:srgbClr val="FFFFFF"/>
                </a:solidFill>
              </a:rPr>
              <a:t>The stack is a vehicle for better habits, not an excuse for topic overload.</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76656" y="253800"/>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ROADMAP</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What happens each day</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Show the journey clearly so people know where today fits.</a:t>
            </a:r>
            <a:endParaRPr lang="en-US" sz="1400" b="1" dirty="0"/>
          </a:p>
        </p:txBody>
      </p:sp>
      <p:sp>
        <p:nvSpPr>
          <p:cNvPr id="5" name="Shape 3"/>
          <p:cNvSpPr/>
          <p:nvPr/>
        </p:nvSpPr>
        <p:spPr>
          <a:xfrm>
            <a:off x="9646920" y="502920"/>
            <a:ext cx="1691640" cy="164592"/>
          </a:xfrm>
          <a:prstGeom prst="roundRect">
            <a:avLst>
              <a:gd name="adj" fmla="val 22222"/>
            </a:avLst>
          </a:prstGeom>
          <a:solidFill>
            <a:srgbClr val="14B8A6"/>
          </a:solidFill>
          <a:ln w="12700">
            <a:solidFill>
              <a:srgbClr val="14B8A6"/>
            </a:solidFill>
            <a:prstDash val="solid"/>
          </a:ln>
        </p:spPr>
      </p:sp>
      <p:sp>
        <p:nvSpPr>
          <p:cNvPr id="6" name="Shape 4"/>
          <p:cNvSpPr/>
          <p:nvPr/>
        </p:nvSpPr>
        <p:spPr>
          <a:xfrm>
            <a:off x="1188720" y="3154680"/>
            <a:ext cx="9692640" cy="0"/>
          </a:xfrm>
          <a:prstGeom prst="line">
            <a:avLst/>
          </a:prstGeom>
          <a:noFill/>
          <a:ln w="12700">
            <a:solidFill>
              <a:srgbClr val="CBD5E1"/>
            </a:solidFill>
            <a:prstDash val="solid"/>
          </a:ln>
        </p:spPr>
      </p:sp>
      <p:sp>
        <p:nvSpPr>
          <p:cNvPr id="7" name="Shape 5"/>
          <p:cNvSpPr/>
          <p:nvPr/>
        </p:nvSpPr>
        <p:spPr>
          <a:xfrm>
            <a:off x="1307592" y="2770632"/>
            <a:ext cx="512064" cy="512064"/>
          </a:xfrm>
          <a:prstGeom prst="ellipse">
            <a:avLst/>
          </a:prstGeom>
          <a:solidFill>
            <a:srgbClr val="DBEAFE"/>
          </a:solidFill>
          <a:ln w="12700">
            <a:solidFill>
              <a:srgbClr val="2563EB"/>
            </a:solidFill>
            <a:prstDash val="solid"/>
          </a:ln>
        </p:spPr>
      </p:sp>
      <p:sp>
        <p:nvSpPr>
          <p:cNvPr id="8" name="Text 6"/>
          <p:cNvSpPr/>
          <p:nvPr/>
        </p:nvSpPr>
        <p:spPr>
          <a:xfrm>
            <a:off x="1307592" y="2926080"/>
            <a:ext cx="512064" cy="109728"/>
          </a:xfrm>
          <a:prstGeom prst="rect">
            <a:avLst/>
          </a:prstGeom>
          <a:noFill/>
          <a:ln/>
        </p:spPr>
        <p:txBody>
          <a:bodyPr wrap="square" lIns="0" tIns="0" rIns="0" bIns="0" rtlCol="0" anchor="ctr"/>
          <a:lstStyle/>
          <a:p>
            <a:pPr marL="0" indent="0" algn="ctr">
              <a:buNone/>
            </a:pPr>
            <a:r>
              <a:rPr lang="en-US" sz="1400" b="1" dirty="0">
                <a:solidFill>
                  <a:srgbClr val="2563EB"/>
                </a:solidFill>
              </a:rPr>
              <a:t>1</a:t>
            </a:r>
            <a:endParaRPr lang="en-US" sz="1400" dirty="0"/>
          </a:p>
        </p:txBody>
      </p:sp>
      <p:sp>
        <p:nvSpPr>
          <p:cNvPr id="9" name="Shape 7"/>
          <p:cNvSpPr/>
          <p:nvPr/>
        </p:nvSpPr>
        <p:spPr>
          <a:xfrm>
            <a:off x="868680" y="1783080"/>
            <a:ext cx="1783080" cy="685800"/>
          </a:xfrm>
          <a:prstGeom prst="roundRect">
            <a:avLst>
              <a:gd name="adj" fmla="val 6667"/>
            </a:avLst>
          </a:prstGeom>
          <a:solidFill>
            <a:srgbClr val="DBEAFE"/>
          </a:solidFill>
          <a:ln w="12700">
            <a:solidFill>
              <a:srgbClr val="2563EB"/>
            </a:solidFill>
            <a:prstDash val="solid"/>
          </a:ln>
        </p:spPr>
      </p:sp>
      <p:sp>
        <p:nvSpPr>
          <p:cNvPr id="10" name="Text 8"/>
          <p:cNvSpPr/>
          <p:nvPr/>
        </p:nvSpPr>
        <p:spPr>
          <a:xfrm>
            <a:off x="868680" y="2002536"/>
            <a:ext cx="1783080" cy="146304"/>
          </a:xfrm>
          <a:prstGeom prst="rect">
            <a:avLst/>
          </a:prstGeom>
          <a:noFill/>
          <a:ln/>
        </p:spPr>
        <p:txBody>
          <a:bodyPr wrap="square" lIns="0" tIns="0" rIns="0" bIns="0" rtlCol="0" anchor="ctr"/>
          <a:lstStyle/>
          <a:p>
            <a:pPr marL="0" indent="0" algn="ctr">
              <a:buNone/>
            </a:pPr>
            <a:r>
              <a:rPr lang="en-US" sz="1700" b="1" dirty="0">
                <a:solidFill>
                  <a:srgbClr val="0F172A"/>
                </a:solidFill>
              </a:rPr>
              <a:t>Day 1</a:t>
            </a:r>
            <a:endParaRPr lang="en-US" sz="1700" dirty="0"/>
          </a:p>
        </p:txBody>
      </p:sp>
      <p:sp>
        <p:nvSpPr>
          <p:cNvPr id="11" name="Text 9"/>
          <p:cNvSpPr/>
          <p:nvPr/>
        </p:nvSpPr>
        <p:spPr>
          <a:xfrm>
            <a:off x="731520" y="3520440"/>
            <a:ext cx="2057400" cy="566928"/>
          </a:xfrm>
          <a:prstGeom prst="rect">
            <a:avLst/>
          </a:prstGeom>
          <a:noFill/>
          <a:ln/>
        </p:spPr>
        <p:txBody>
          <a:bodyPr wrap="square" lIns="0" tIns="0" rIns="0" bIns="0" rtlCol="0" anchor="ctr"/>
          <a:lstStyle/>
          <a:p>
            <a:pPr marL="0" indent="0" algn="ctr">
              <a:buNone/>
            </a:pPr>
            <a:r>
              <a:rPr lang="en-US" sz="1270" dirty="0">
                <a:solidFill>
                  <a:srgbClr val="334155"/>
                </a:solidFill>
              </a:rPr>
              <a:t>Mindset, flow, setup</a:t>
            </a:r>
            <a:endParaRPr lang="en-US" sz="1270" dirty="0"/>
          </a:p>
        </p:txBody>
      </p:sp>
      <p:sp>
        <p:nvSpPr>
          <p:cNvPr id="12" name="Shape 10"/>
          <p:cNvSpPr/>
          <p:nvPr/>
        </p:nvSpPr>
        <p:spPr>
          <a:xfrm>
            <a:off x="3520440" y="2770632"/>
            <a:ext cx="512064" cy="512064"/>
          </a:xfrm>
          <a:prstGeom prst="ellipse">
            <a:avLst/>
          </a:prstGeom>
          <a:solidFill>
            <a:srgbClr val="E0F2FE"/>
          </a:solidFill>
          <a:ln w="12700">
            <a:solidFill>
              <a:srgbClr val="06B6D4"/>
            </a:solidFill>
            <a:prstDash val="solid"/>
          </a:ln>
        </p:spPr>
      </p:sp>
      <p:sp>
        <p:nvSpPr>
          <p:cNvPr id="13" name="Text 11"/>
          <p:cNvSpPr/>
          <p:nvPr/>
        </p:nvSpPr>
        <p:spPr>
          <a:xfrm>
            <a:off x="3520440" y="2926080"/>
            <a:ext cx="512064" cy="109728"/>
          </a:xfrm>
          <a:prstGeom prst="rect">
            <a:avLst/>
          </a:prstGeom>
          <a:noFill/>
          <a:ln/>
        </p:spPr>
        <p:txBody>
          <a:bodyPr wrap="square" lIns="0" tIns="0" rIns="0" bIns="0" rtlCol="0" anchor="ctr"/>
          <a:lstStyle/>
          <a:p>
            <a:pPr marL="0" indent="0" algn="ctr">
              <a:buNone/>
            </a:pPr>
            <a:r>
              <a:rPr lang="en-US" sz="1400" b="1" dirty="0">
                <a:solidFill>
                  <a:srgbClr val="06B6D4"/>
                </a:solidFill>
              </a:rPr>
              <a:t>2</a:t>
            </a:r>
            <a:endParaRPr lang="en-US" sz="1400" dirty="0"/>
          </a:p>
        </p:txBody>
      </p:sp>
      <p:sp>
        <p:nvSpPr>
          <p:cNvPr id="14" name="Shape 12"/>
          <p:cNvSpPr/>
          <p:nvPr/>
        </p:nvSpPr>
        <p:spPr>
          <a:xfrm>
            <a:off x="3081528" y="1783080"/>
            <a:ext cx="1783080" cy="685800"/>
          </a:xfrm>
          <a:prstGeom prst="roundRect">
            <a:avLst>
              <a:gd name="adj" fmla="val 6667"/>
            </a:avLst>
          </a:prstGeom>
          <a:solidFill>
            <a:srgbClr val="E0F2FE"/>
          </a:solidFill>
          <a:ln w="12700">
            <a:solidFill>
              <a:srgbClr val="06B6D4"/>
            </a:solidFill>
            <a:prstDash val="solid"/>
          </a:ln>
        </p:spPr>
      </p:sp>
      <p:sp>
        <p:nvSpPr>
          <p:cNvPr id="15" name="Text 13"/>
          <p:cNvSpPr/>
          <p:nvPr/>
        </p:nvSpPr>
        <p:spPr>
          <a:xfrm>
            <a:off x="3081528" y="2002536"/>
            <a:ext cx="1783080" cy="146304"/>
          </a:xfrm>
          <a:prstGeom prst="rect">
            <a:avLst/>
          </a:prstGeom>
          <a:noFill/>
          <a:ln/>
        </p:spPr>
        <p:txBody>
          <a:bodyPr wrap="square" lIns="0" tIns="0" rIns="0" bIns="0" rtlCol="0" anchor="ctr"/>
          <a:lstStyle/>
          <a:p>
            <a:pPr marL="0" indent="0" algn="ctr">
              <a:buNone/>
            </a:pPr>
            <a:r>
              <a:rPr lang="en-US" sz="1700" b="1" dirty="0">
                <a:solidFill>
                  <a:srgbClr val="0F172A"/>
                </a:solidFill>
              </a:rPr>
              <a:t>Day 2</a:t>
            </a:r>
            <a:endParaRPr lang="en-US" sz="1700" dirty="0"/>
          </a:p>
        </p:txBody>
      </p:sp>
      <p:sp>
        <p:nvSpPr>
          <p:cNvPr id="16" name="Text 14"/>
          <p:cNvSpPr/>
          <p:nvPr/>
        </p:nvSpPr>
        <p:spPr>
          <a:xfrm>
            <a:off x="2944368" y="3520440"/>
            <a:ext cx="2057400" cy="566928"/>
          </a:xfrm>
          <a:prstGeom prst="rect">
            <a:avLst/>
          </a:prstGeom>
          <a:noFill/>
          <a:ln/>
        </p:spPr>
        <p:txBody>
          <a:bodyPr wrap="square" lIns="0" tIns="0" rIns="0" bIns="0" rtlCol="0" anchor="ctr"/>
          <a:lstStyle/>
          <a:p>
            <a:pPr marL="0" indent="0" algn="ctr">
              <a:buNone/>
            </a:pPr>
            <a:r>
              <a:rPr lang="en-US" sz="1270" dirty="0">
                <a:solidFill>
                  <a:srgbClr val="334155"/>
                </a:solidFill>
              </a:rPr>
              <a:t>Controllers, DTOs, validation</a:t>
            </a:r>
            <a:endParaRPr lang="en-US" sz="1270" dirty="0"/>
          </a:p>
        </p:txBody>
      </p:sp>
      <p:sp>
        <p:nvSpPr>
          <p:cNvPr id="17" name="Shape 15"/>
          <p:cNvSpPr/>
          <p:nvPr/>
        </p:nvSpPr>
        <p:spPr>
          <a:xfrm>
            <a:off x="5733288" y="2770632"/>
            <a:ext cx="512064" cy="512064"/>
          </a:xfrm>
          <a:prstGeom prst="ellipse">
            <a:avLst/>
          </a:prstGeom>
          <a:solidFill>
            <a:srgbClr val="CCFBF1"/>
          </a:solidFill>
          <a:ln w="12700">
            <a:solidFill>
              <a:srgbClr val="14B8A6"/>
            </a:solidFill>
            <a:prstDash val="solid"/>
          </a:ln>
        </p:spPr>
      </p:sp>
      <p:sp>
        <p:nvSpPr>
          <p:cNvPr id="18" name="Text 16"/>
          <p:cNvSpPr/>
          <p:nvPr/>
        </p:nvSpPr>
        <p:spPr>
          <a:xfrm>
            <a:off x="5733288" y="2926080"/>
            <a:ext cx="512064" cy="109728"/>
          </a:xfrm>
          <a:prstGeom prst="rect">
            <a:avLst/>
          </a:prstGeom>
          <a:noFill/>
          <a:ln/>
        </p:spPr>
        <p:txBody>
          <a:bodyPr wrap="square" lIns="0" tIns="0" rIns="0" bIns="0" rtlCol="0" anchor="ctr"/>
          <a:lstStyle/>
          <a:p>
            <a:pPr marL="0" indent="0" algn="ctr">
              <a:buNone/>
            </a:pPr>
            <a:r>
              <a:rPr lang="en-US" sz="1400" b="1" dirty="0">
                <a:solidFill>
                  <a:srgbClr val="14B8A6"/>
                </a:solidFill>
              </a:rPr>
              <a:t>3</a:t>
            </a:r>
            <a:endParaRPr lang="en-US" sz="1400" dirty="0"/>
          </a:p>
        </p:txBody>
      </p:sp>
      <p:sp>
        <p:nvSpPr>
          <p:cNvPr id="19" name="Shape 17"/>
          <p:cNvSpPr/>
          <p:nvPr/>
        </p:nvSpPr>
        <p:spPr>
          <a:xfrm>
            <a:off x="5294376" y="1783080"/>
            <a:ext cx="1783080" cy="685800"/>
          </a:xfrm>
          <a:prstGeom prst="roundRect">
            <a:avLst>
              <a:gd name="adj" fmla="val 6667"/>
            </a:avLst>
          </a:prstGeom>
          <a:solidFill>
            <a:srgbClr val="CCFBF1"/>
          </a:solidFill>
          <a:ln w="12700">
            <a:solidFill>
              <a:srgbClr val="14B8A6"/>
            </a:solidFill>
            <a:prstDash val="solid"/>
          </a:ln>
        </p:spPr>
      </p:sp>
      <p:sp>
        <p:nvSpPr>
          <p:cNvPr id="20" name="Text 18"/>
          <p:cNvSpPr/>
          <p:nvPr/>
        </p:nvSpPr>
        <p:spPr>
          <a:xfrm>
            <a:off x="5294376" y="2002536"/>
            <a:ext cx="1783080" cy="146304"/>
          </a:xfrm>
          <a:prstGeom prst="rect">
            <a:avLst/>
          </a:prstGeom>
          <a:noFill/>
          <a:ln/>
        </p:spPr>
        <p:txBody>
          <a:bodyPr wrap="square" lIns="0" tIns="0" rIns="0" bIns="0" rtlCol="0" anchor="ctr"/>
          <a:lstStyle/>
          <a:p>
            <a:pPr marL="0" indent="0" algn="ctr">
              <a:buNone/>
            </a:pPr>
            <a:r>
              <a:rPr lang="en-US" sz="1700" b="1" dirty="0">
                <a:solidFill>
                  <a:srgbClr val="0F172A"/>
                </a:solidFill>
              </a:rPr>
              <a:t>Day 3</a:t>
            </a:r>
            <a:endParaRPr lang="en-US" sz="1700" dirty="0"/>
          </a:p>
        </p:txBody>
      </p:sp>
      <p:sp>
        <p:nvSpPr>
          <p:cNvPr id="21" name="Text 19"/>
          <p:cNvSpPr/>
          <p:nvPr/>
        </p:nvSpPr>
        <p:spPr>
          <a:xfrm>
            <a:off x="5157216" y="3520440"/>
            <a:ext cx="2057400" cy="566928"/>
          </a:xfrm>
          <a:prstGeom prst="rect">
            <a:avLst/>
          </a:prstGeom>
          <a:noFill/>
          <a:ln/>
        </p:spPr>
        <p:txBody>
          <a:bodyPr wrap="square" lIns="0" tIns="0" rIns="0" bIns="0" rtlCol="0" anchor="ctr"/>
          <a:lstStyle/>
          <a:p>
            <a:pPr marL="0" indent="0" algn="ctr">
              <a:buNone/>
            </a:pPr>
            <a:r>
              <a:rPr lang="en-US" sz="1270" dirty="0">
                <a:solidFill>
                  <a:srgbClr val="334155"/>
                </a:solidFill>
              </a:rPr>
              <a:t>Minimal APIs and MongoDB</a:t>
            </a:r>
            <a:endParaRPr lang="en-US" sz="1270" dirty="0"/>
          </a:p>
        </p:txBody>
      </p:sp>
      <p:sp>
        <p:nvSpPr>
          <p:cNvPr id="22" name="Shape 20"/>
          <p:cNvSpPr/>
          <p:nvPr/>
        </p:nvSpPr>
        <p:spPr>
          <a:xfrm>
            <a:off x="7946136" y="2770632"/>
            <a:ext cx="512064" cy="512064"/>
          </a:xfrm>
          <a:prstGeom prst="ellipse">
            <a:avLst/>
          </a:prstGeom>
          <a:solidFill>
            <a:srgbClr val="DCFCE7"/>
          </a:solidFill>
          <a:ln w="12700">
            <a:solidFill>
              <a:srgbClr val="16A34A"/>
            </a:solidFill>
            <a:prstDash val="solid"/>
          </a:ln>
        </p:spPr>
      </p:sp>
      <p:sp>
        <p:nvSpPr>
          <p:cNvPr id="23" name="Text 21"/>
          <p:cNvSpPr/>
          <p:nvPr/>
        </p:nvSpPr>
        <p:spPr>
          <a:xfrm>
            <a:off x="7946136" y="2926080"/>
            <a:ext cx="512064" cy="109728"/>
          </a:xfrm>
          <a:prstGeom prst="rect">
            <a:avLst/>
          </a:prstGeom>
          <a:noFill/>
          <a:ln/>
        </p:spPr>
        <p:txBody>
          <a:bodyPr wrap="square" lIns="0" tIns="0" rIns="0" bIns="0" rtlCol="0" anchor="ctr"/>
          <a:lstStyle/>
          <a:p>
            <a:pPr marL="0" indent="0" algn="ctr">
              <a:buNone/>
            </a:pPr>
            <a:r>
              <a:rPr lang="en-US" sz="1400" b="1" dirty="0">
                <a:solidFill>
                  <a:srgbClr val="16A34A"/>
                </a:solidFill>
              </a:rPr>
              <a:t>4</a:t>
            </a:r>
            <a:endParaRPr lang="en-US" sz="1400" dirty="0"/>
          </a:p>
        </p:txBody>
      </p:sp>
      <p:sp>
        <p:nvSpPr>
          <p:cNvPr id="24" name="Shape 22"/>
          <p:cNvSpPr/>
          <p:nvPr/>
        </p:nvSpPr>
        <p:spPr>
          <a:xfrm>
            <a:off x="7507224" y="1783080"/>
            <a:ext cx="1783080" cy="685800"/>
          </a:xfrm>
          <a:prstGeom prst="roundRect">
            <a:avLst>
              <a:gd name="adj" fmla="val 6667"/>
            </a:avLst>
          </a:prstGeom>
          <a:solidFill>
            <a:srgbClr val="DCFCE7"/>
          </a:solidFill>
          <a:ln w="12700">
            <a:solidFill>
              <a:srgbClr val="16A34A"/>
            </a:solidFill>
            <a:prstDash val="solid"/>
          </a:ln>
        </p:spPr>
      </p:sp>
      <p:sp>
        <p:nvSpPr>
          <p:cNvPr id="25" name="Text 23"/>
          <p:cNvSpPr/>
          <p:nvPr/>
        </p:nvSpPr>
        <p:spPr>
          <a:xfrm>
            <a:off x="7507224" y="2002536"/>
            <a:ext cx="1783080" cy="146304"/>
          </a:xfrm>
          <a:prstGeom prst="rect">
            <a:avLst/>
          </a:prstGeom>
          <a:noFill/>
          <a:ln/>
        </p:spPr>
        <p:txBody>
          <a:bodyPr wrap="square" lIns="0" tIns="0" rIns="0" bIns="0" rtlCol="0" anchor="ctr"/>
          <a:lstStyle/>
          <a:p>
            <a:pPr marL="0" indent="0" algn="ctr">
              <a:buNone/>
            </a:pPr>
            <a:r>
              <a:rPr lang="en-US" sz="1700" b="1" dirty="0">
                <a:solidFill>
                  <a:srgbClr val="0F172A"/>
                </a:solidFill>
              </a:rPr>
              <a:t>Day 4</a:t>
            </a:r>
            <a:endParaRPr lang="en-US" sz="1700" dirty="0"/>
          </a:p>
        </p:txBody>
      </p:sp>
      <p:sp>
        <p:nvSpPr>
          <p:cNvPr id="26" name="Text 24"/>
          <p:cNvSpPr/>
          <p:nvPr/>
        </p:nvSpPr>
        <p:spPr>
          <a:xfrm>
            <a:off x="7370064" y="3520440"/>
            <a:ext cx="2057400" cy="566928"/>
          </a:xfrm>
          <a:prstGeom prst="rect">
            <a:avLst/>
          </a:prstGeom>
          <a:noFill/>
          <a:ln/>
        </p:spPr>
        <p:txBody>
          <a:bodyPr wrap="square" lIns="0" tIns="0" rIns="0" bIns="0" rtlCol="0" anchor="ctr"/>
          <a:lstStyle/>
          <a:p>
            <a:pPr marL="0" indent="0" algn="ctr">
              <a:buNone/>
            </a:pPr>
            <a:r>
              <a:rPr lang="en-US" sz="1270" dirty="0">
                <a:solidFill>
                  <a:srgbClr val="334155"/>
                </a:solidFill>
              </a:rPr>
              <a:t>React integration</a:t>
            </a:r>
            <a:endParaRPr lang="en-US" sz="1270" dirty="0"/>
          </a:p>
        </p:txBody>
      </p:sp>
      <p:sp>
        <p:nvSpPr>
          <p:cNvPr id="27" name="Shape 25"/>
          <p:cNvSpPr/>
          <p:nvPr/>
        </p:nvSpPr>
        <p:spPr>
          <a:xfrm>
            <a:off x="10158984" y="2770632"/>
            <a:ext cx="512064" cy="512064"/>
          </a:xfrm>
          <a:prstGeom prst="ellipse">
            <a:avLst/>
          </a:prstGeom>
          <a:solidFill>
            <a:srgbClr val="FEF3C7"/>
          </a:solidFill>
          <a:ln w="12700">
            <a:solidFill>
              <a:srgbClr val="F59E0B"/>
            </a:solidFill>
            <a:prstDash val="solid"/>
          </a:ln>
        </p:spPr>
      </p:sp>
      <p:sp>
        <p:nvSpPr>
          <p:cNvPr id="28" name="Text 26"/>
          <p:cNvSpPr/>
          <p:nvPr/>
        </p:nvSpPr>
        <p:spPr>
          <a:xfrm>
            <a:off x="10158984" y="2926080"/>
            <a:ext cx="512064" cy="109728"/>
          </a:xfrm>
          <a:prstGeom prst="rect">
            <a:avLst/>
          </a:prstGeom>
          <a:noFill/>
          <a:ln/>
        </p:spPr>
        <p:txBody>
          <a:bodyPr wrap="square" lIns="0" tIns="0" rIns="0" bIns="0" rtlCol="0" anchor="ctr"/>
          <a:lstStyle/>
          <a:p>
            <a:pPr marL="0" indent="0" algn="ctr">
              <a:buNone/>
            </a:pPr>
            <a:r>
              <a:rPr lang="en-US" sz="1400" b="1" dirty="0">
                <a:solidFill>
                  <a:srgbClr val="F59E0B"/>
                </a:solidFill>
              </a:rPr>
              <a:t>5</a:t>
            </a:r>
            <a:endParaRPr lang="en-US" sz="1400" dirty="0"/>
          </a:p>
        </p:txBody>
      </p:sp>
      <p:sp>
        <p:nvSpPr>
          <p:cNvPr id="29" name="Shape 27"/>
          <p:cNvSpPr/>
          <p:nvPr/>
        </p:nvSpPr>
        <p:spPr>
          <a:xfrm>
            <a:off x="9720072" y="1783080"/>
            <a:ext cx="1783080" cy="685800"/>
          </a:xfrm>
          <a:prstGeom prst="roundRect">
            <a:avLst>
              <a:gd name="adj" fmla="val 6667"/>
            </a:avLst>
          </a:prstGeom>
          <a:solidFill>
            <a:srgbClr val="FEF3C7"/>
          </a:solidFill>
          <a:ln w="12700">
            <a:solidFill>
              <a:srgbClr val="F59E0B"/>
            </a:solidFill>
            <a:prstDash val="solid"/>
          </a:ln>
        </p:spPr>
      </p:sp>
      <p:sp>
        <p:nvSpPr>
          <p:cNvPr id="30" name="Text 28"/>
          <p:cNvSpPr/>
          <p:nvPr/>
        </p:nvSpPr>
        <p:spPr>
          <a:xfrm>
            <a:off x="9720072" y="2002536"/>
            <a:ext cx="1783080" cy="146304"/>
          </a:xfrm>
          <a:prstGeom prst="rect">
            <a:avLst/>
          </a:prstGeom>
          <a:noFill/>
          <a:ln/>
        </p:spPr>
        <p:txBody>
          <a:bodyPr wrap="square" lIns="0" tIns="0" rIns="0" bIns="0" rtlCol="0" anchor="ctr"/>
          <a:lstStyle/>
          <a:p>
            <a:pPr marL="0" indent="0" algn="ctr">
              <a:buNone/>
            </a:pPr>
            <a:r>
              <a:rPr lang="en-US" sz="1700" b="1" dirty="0">
                <a:solidFill>
                  <a:srgbClr val="0F172A"/>
                </a:solidFill>
              </a:rPr>
              <a:t>Day 5</a:t>
            </a:r>
            <a:endParaRPr lang="en-US" sz="1700" dirty="0"/>
          </a:p>
        </p:txBody>
      </p:sp>
      <p:sp>
        <p:nvSpPr>
          <p:cNvPr id="31" name="Text 29"/>
          <p:cNvSpPr/>
          <p:nvPr/>
        </p:nvSpPr>
        <p:spPr>
          <a:xfrm>
            <a:off x="9582912" y="3520440"/>
            <a:ext cx="2057400" cy="566928"/>
          </a:xfrm>
          <a:prstGeom prst="rect">
            <a:avLst/>
          </a:prstGeom>
          <a:noFill/>
          <a:ln/>
        </p:spPr>
        <p:txBody>
          <a:bodyPr wrap="square" lIns="0" tIns="0" rIns="0" bIns="0" rtlCol="0" anchor="ctr"/>
          <a:lstStyle/>
          <a:p>
            <a:pPr marL="0" indent="0" algn="ctr">
              <a:buNone/>
            </a:pPr>
            <a:r>
              <a:rPr lang="en-US" sz="1270" dirty="0">
                <a:solidFill>
                  <a:srgbClr val="334155"/>
                </a:solidFill>
              </a:rPr>
              <a:t>Configuration, deployment basics, capstone</a:t>
            </a:r>
            <a:endParaRPr lang="en-US" sz="1270" dirty="0"/>
          </a:p>
        </p:txBody>
      </p:sp>
      <p:sp>
        <p:nvSpPr>
          <p:cNvPr id="32" name="Shape 30"/>
          <p:cNvSpPr/>
          <p:nvPr/>
        </p:nvSpPr>
        <p:spPr>
          <a:xfrm>
            <a:off x="914400" y="4892040"/>
            <a:ext cx="10378440" cy="749808"/>
          </a:xfrm>
          <a:prstGeom prst="roundRect">
            <a:avLst>
              <a:gd name="adj" fmla="val 6098"/>
            </a:avLst>
          </a:prstGeom>
          <a:solidFill>
            <a:srgbClr val="FFFFFF"/>
          </a:solidFill>
          <a:ln w="12700">
            <a:solidFill>
              <a:srgbClr val="CBD5E1"/>
            </a:solidFill>
            <a:prstDash val="solid"/>
          </a:ln>
        </p:spPr>
      </p:sp>
      <p:sp>
        <p:nvSpPr>
          <p:cNvPr id="33" name="Text 31"/>
          <p:cNvSpPr/>
          <p:nvPr/>
        </p:nvSpPr>
        <p:spPr>
          <a:xfrm>
            <a:off x="1207008" y="5138928"/>
            <a:ext cx="9829800" cy="164592"/>
          </a:xfrm>
          <a:prstGeom prst="rect">
            <a:avLst/>
          </a:prstGeom>
          <a:noFill/>
          <a:ln/>
        </p:spPr>
        <p:txBody>
          <a:bodyPr wrap="square" lIns="0" tIns="0" rIns="0" bIns="0" rtlCol="0" anchor="ctr"/>
          <a:lstStyle/>
          <a:p>
            <a:pPr marL="0" indent="0" algn="ctr">
              <a:buNone/>
            </a:pPr>
            <a:r>
              <a:rPr lang="en-US" sz="1700" b="1" dirty="0">
                <a:solidFill>
                  <a:srgbClr val="0F172A"/>
                </a:solidFill>
              </a:rPr>
              <a:t>Today is foundation day: if the mental model is weak, every later topic feels fragmented.</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76656" y="253800"/>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THINKING</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Questions every developer should ask before coding</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Better software begins with better questions.</a:t>
            </a:r>
            <a:endParaRPr lang="en-US" sz="1400" b="1" dirty="0"/>
          </a:p>
        </p:txBody>
      </p:sp>
      <p:sp>
        <p:nvSpPr>
          <p:cNvPr id="5" name="Shape 3"/>
          <p:cNvSpPr/>
          <p:nvPr/>
        </p:nvSpPr>
        <p:spPr>
          <a:xfrm>
            <a:off x="9528048" y="502920"/>
            <a:ext cx="1828800" cy="164592"/>
          </a:xfrm>
          <a:prstGeom prst="roundRect">
            <a:avLst>
              <a:gd name="adj" fmla="val 22222"/>
            </a:avLst>
          </a:prstGeom>
          <a:solidFill>
            <a:srgbClr val="06B6D4"/>
          </a:solidFill>
          <a:ln w="12700">
            <a:solidFill>
              <a:srgbClr val="06B6D4"/>
            </a:solidFill>
            <a:prstDash val="solid"/>
          </a:ln>
        </p:spPr>
      </p:sp>
      <p:sp>
        <p:nvSpPr>
          <p:cNvPr id="6" name="Shape 4"/>
          <p:cNvSpPr/>
          <p:nvPr/>
        </p:nvSpPr>
        <p:spPr>
          <a:xfrm>
            <a:off x="868680" y="1554480"/>
            <a:ext cx="3657600" cy="4526280"/>
          </a:xfrm>
          <a:prstGeom prst="roundRect">
            <a:avLst>
              <a:gd name="adj" fmla="val 2000"/>
            </a:avLst>
          </a:prstGeom>
          <a:solidFill>
            <a:srgbClr val="0F172A"/>
          </a:solidFill>
          <a:ln w="12700">
            <a:solidFill>
              <a:srgbClr val="0F172A"/>
            </a:solidFill>
            <a:prstDash val="solid"/>
          </a:ln>
        </p:spPr>
      </p:sp>
      <p:sp>
        <p:nvSpPr>
          <p:cNvPr id="7" name="Text 5"/>
          <p:cNvSpPr/>
          <p:nvPr/>
        </p:nvSpPr>
        <p:spPr>
          <a:xfrm>
            <a:off x="1170432" y="1901952"/>
            <a:ext cx="1645920" cy="201168"/>
          </a:xfrm>
          <a:prstGeom prst="rect">
            <a:avLst/>
          </a:prstGeom>
          <a:noFill/>
          <a:ln/>
        </p:spPr>
        <p:txBody>
          <a:bodyPr wrap="square" lIns="0" tIns="0" rIns="0" bIns="0" rtlCol="0" anchor="ctr"/>
          <a:lstStyle/>
          <a:p>
            <a:pPr marL="0" indent="0">
              <a:buNone/>
            </a:pPr>
            <a:r>
              <a:rPr lang="en-US" sz="2200" b="1" dirty="0">
                <a:solidFill>
                  <a:srgbClr val="FFFFFF"/>
                </a:solidFill>
              </a:rPr>
              <a:t>Think first</a:t>
            </a:r>
            <a:endParaRPr lang="en-US" sz="2200" dirty="0"/>
          </a:p>
        </p:txBody>
      </p:sp>
      <p:sp>
        <p:nvSpPr>
          <p:cNvPr id="8" name="Text 6"/>
          <p:cNvSpPr/>
          <p:nvPr/>
        </p:nvSpPr>
        <p:spPr>
          <a:xfrm>
            <a:off x="1170432" y="2312316"/>
            <a:ext cx="2834640" cy="685800"/>
          </a:xfrm>
          <a:prstGeom prst="rect">
            <a:avLst/>
          </a:prstGeom>
          <a:noFill/>
          <a:ln/>
        </p:spPr>
        <p:txBody>
          <a:bodyPr wrap="square" lIns="0" tIns="0" rIns="0" bIns="0" rtlCol="0" anchor="ctr"/>
          <a:lstStyle/>
          <a:p>
            <a:pPr marL="0" indent="0">
              <a:buNone/>
            </a:pPr>
            <a:r>
              <a:rPr lang="en-US" sz="1550" dirty="0">
                <a:solidFill>
                  <a:srgbClr val="CBD5E1"/>
                </a:solidFill>
              </a:rPr>
              <a:t>A strong developer does not jump straight into code. They reduce ambiguity before they add complexity.</a:t>
            </a:r>
            <a:endParaRPr lang="en-US" sz="1550" dirty="0"/>
          </a:p>
        </p:txBody>
      </p:sp>
      <p:sp>
        <p:nvSpPr>
          <p:cNvPr id="9" name="Text 7"/>
          <p:cNvSpPr/>
          <p:nvPr/>
        </p:nvSpPr>
        <p:spPr>
          <a:xfrm>
            <a:off x="1143000" y="3108960"/>
            <a:ext cx="2743200" cy="2377440"/>
          </a:xfrm>
          <a:prstGeom prst="rect">
            <a:avLst/>
          </a:prstGeom>
          <a:noFill/>
          <a:ln/>
        </p:spPr>
        <p:txBody>
          <a:bodyPr wrap="square" lIns="0" tIns="0" rIns="0" bIns="0" rtlCol="0" anchor="ctr"/>
          <a:lstStyle/>
          <a:p>
            <a:pPr marL="0" indent="0">
              <a:buNone/>
            </a:pPr>
            <a:r>
              <a:rPr lang="en-US" sz="1700" b="1" dirty="0">
                <a:solidFill>
                  <a:srgbClr val="93C5FD"/>
                </a:solidFill>
              </a:rPr>
              <a:t>• </a:t>
            </a:r>
            <a:r>
              <a:rPr lang="en-US" sz="1700" dirty="0">
                <a:solidFill>
                  <a:srgbClr val="FFFFFF"/>
                </a:solidFill>
              </a:rPr>
              <a:t>What is the input?
</a:t>
            </a:r>
            <a:r>
              <a:rPr lang="en-US" sz="1700" b="1" dirty="0">
                <a:solidFill>
                  <a:srgbClr val="93C5FD"/>
                </a:solidFill>
              </a:rPr>
              <a:t>• </a:t>
            </a:r>
            <a:r>
              <a:rPr lang="en-US" sz="1700" dirty="0">
                <a:solidFill>
                  <a:srgbClr val="FFFFFF"/>
                </a:solidFill>
              </a:rPr>
              <a:t>What is the output?
</a:t>
            </a:r>
            <a:r>
              <a:rPr lang="en-US" sz="1700" b="1" dirty="0">
                <a:solidFill>
                  <a:srgbClr val="93C5FD"/>
                </a:solidFill>
              </a:rPr>
              <a:t>• </a:t>
            </a:r>
            <a:r>
              <a:rPr lang="en-US" sz="1700" dirty="0">
                <a:solidFill>
                  <a:srgbClr val="FFFFFF"/>
                </a:solidFill>
              </a:rPr>
              <a:t>What should be validated?
</a:t>
            </a:r>
            <a:r>
              <a:rPr lang="en-US" sz="1700" b="1" dirty="0">
                <a:solidFill>
                  <a:srgbClr val="93C5FD"/>
                </a:solidFill>
              </a:rPr>
              <a:t>• </a:t>
            </a:r>
            <a:r>
              <a:rPr lang="en-US" sz="1700" dirty="0">
                <a:solidFill>
                  <a:srgbClr val="FFFFFF"/>
                </a:solidFill>
              </a:rPr>
              <a:t>Where should this logic live?
</a:t>
            </a:r>
            <a:r>
              <a:rPr lang="en-US" sz="1700" b="1" dirty="0">
                <a:solidFill>
                  <a:srgbClr val="93C5FD"/>
                </a:solidFill>
              </a:rPr>
              <a:t>• </a:t>
            </a:r>
            <a:r>
              <a:rPr lang="en-US" sz="1700" dirty="0">
                <a:solidFill>
                  <a:srgbClr val="FFFFFF"/>
                </a:solidFill>
              </a:rPr>
              <a:t>What can fail?
</a:t>
            </a:r>
            <a:r>
              <a:rPr lang="en-US" sz="1700" b="1" dirty="0">
                <a:solidFill>
                  <a:srgbClr val="93C5FD"/>
                </a:solidFill>
              </a:rPr>
              <a:t>• </a:t>
            </a:r>
            <a:r>
              <a:rPr lang="en-US" sz="1700" dirty="0">
                <a:solidFill>
                  <a:srgbClr val="FFFFFF"/>
                </a:solidFill>
              </a:rPr>
              <a:t>How will the frontend use this response?</a:t>
            </a:r>
            <a:endParaRPr lang="en-US" sz="1700" dirty="0"/>
          </a:p>
        </p:txBody>
      </p:sp>
      <p:sp>
        <p:nvSpPr>
          <p:cNvPr id="10" name="Text 8"/>
          <p:cNvSpPr/>
          <p:nvPr/>
        </p:nvSpPr>
        <p:spPr>
          <a:xfrm>
            <a:off x="4983480" y="1783080"/>
            <a:ext cx="2926080" cy="201168"/>
          </a:xfrm>
          <a:prstGeom prst="rect">
            <a:avLst/>
          </a:prstGeom>
          <a:noFill/>
          <a:ln/>
        </p:spPr>
        <p:txBody>
          <a:bodyPr wrap="square" lIns="0" tIns="0" rIns="0" bIns="0" rtlCol="0" anchor="ctr"/>
          <a:lstStyle/>
          <a:p>
            <a:pPr marL="0" indent="0">
              <a:buNone/>
            </a:pPr>
            <a:r>
              <a:rPr lang="en-US" sz="2000" b="1" dirty="0">
                <a:solidFill>
                  <a:srgbClr val="0F172A"/>
                </a:solidFill>
              </a:rPr>
              <a:t>Turn ambiguity into a checklist</a:t>
            </a:r>
            <a:endParaRPr lang="en-US" sz="2000" dirty="0"/>
          </a:p>
        </p:txBody>
      </p:sp>
      <p:sp>
        <p:nvSpPr>
          <p:cNvPr id="11" name="Shape 9"/>
          <p:cNvSpPr/>
          <p:nvPr/>
        </p:nvSpPr>
        <p:spPr>
          <a:xfrm>
            <a:off x="4983480" y="2331720"/>
            <a:ext cx="1325880" cy="731520"/>
          </a:xfrm>
          <a:prstGeom prst="roundRect">
            <a:avLst>
              <a:gd name="adj" fmla="val 6250"/>
            </a:avLst>
          </a:prstGeom>
          <a:solidFill>
            <a:srgbClr val="DBEAFE"/>
          </a:solidFill>
          <a:ln w="12700">
            <a:solidFill>
              <a:srgbClr val="2563EB"/>
            </a:solidFill>
            <a:prstDash val="solid"/>
          </a:ln>
        </p:spPr>
      </p:sp>
      <p:sp>
        <p:nvSpPr>
          <p:cNvPr id="12" name="Text 10"/>
          <p:cNvSpPr/>
          <p:nvPr/>
        </p:nvSpPr>
        <p:spPr>
          <a:xfrm>
            <a:off x="4983480" y="2587752"/>
            <a:ext cx="1325880" cy="128016"/>
          </a:xfrm>
          <a:prstGeom prst="rect">
            <a:avLst/>
          </a:prstGeom>
          <a:noFill/>
          <a:ln/>
        </p:spPr>
        <p:txBody>
          <a:bodyPr wrap="square" lIns="0" tIns="0" rIns="0" bIns="0" rtlCol="0" anchor="ctr"/>
          <a:lstStyle/>
          <a:p>
            <a:pPr marL="0" indent="0" algn="ctr">
              <a:buNone/>
            </a:pPr>
            <a:r>
              <a:rPr lang="en-US" sz="1550" b="1" dirty="0">
                <a:solidFill>
                  <a:srgbClr val="0F172A"/>
                </a:solidFill>
              </a:rPr>
              <a:t>Input</a:t>
            </a:r>
            <a:endParaRPr lang="en-US" sz="1550" dirty="0"/>
          </a:p>
        </p:txBody>
      </p:sp>
      <p:sp>
        <p:nvSpPr>
          <p:cNvPr id="13" name="Shape 11"/>
          <p:cNvSpPr/>
          <p:nvPr/>
        </p:nvSpPr>
        <p:spPr>
          <a:xfrm>
            <a:off x="6629400" y="2331720"/>
            <a:ext cx="1325880" cy="731520"/>
          </a:xfrm>
          <a:prstGeom prst="roundRect">
            <a:avLst>
              <a:gd name="adj" fmla="val 6250"/>
            </a:avLst>
          </a:prstGeom>
          <a:solidFill>
            <a:srgbClr val="E0F2FE"/>
          </a:solidFill>
          <a:ln w="12700">
            <a:solidFill>
              <a:srgbClr val="06B6D4"/>
            </a:solidFill>
            <a:prstDash val="solid"/>
          </a:ln>
        </p:spPr>
      </p:sp>
      <p:sp>
        <p:nvSpPr>
          <p:cNvPr id="14" name="Text 12"/>
          <p:cNvSpPr/>
          <p:nvPr/>
        </p:nvSpPr>
        <p:spPr>
          <a:xfrm>
            <a:off x="6629400" y="2587752"/>
            <a:ext cx="1325880" cy="128016"/>
          </a:xfrm>
          <a:prstGeom prst="rect">
            <a:avLst/>
          </a:prstGeom>
          <a:noFill/>
          <a:ln/>
        </p:spPr>
        <p:txBody>
          <a:bodyPr wrap="square" lIns="0" tIns="0" rIns="0" bIns="0" rtlCol="0" anchor="ctr"/>
          <a:lstStyle/>
          <a:p>
            <a:pPr marL="0" indent="0" algn="ctr">
              <a:buNone/>
            </a:pPr>
            <a:r>
              <a:rPr lang="en-US" sz="1550" b="1" dirty="0">
                <a:solidFill>
                  <a:srgbClr val="0F172A"/>
                </a:solidFill>
              </a:rPr>
              <a:t>Output</a:t>
            </a:r>
            <a:endParaRPr lang="en-US" sz="1550" dirty="0"/>
          </a:p>
        </p:txBody>
      </p:sp>
      <p:sp>
        <p:nvSpPr>
          <p:cNvPr id="15" name="Shape 13"/>
          <p:cNvSpPr/>
          <p:nvPr/>
        </p:nvSpPr>
        <p:spPr>
          <a:xfrm>
            <a:off x="8275320" y="2331720"/>
            <a:ext cx="1325880" cy="731520"/>
          </a:xfrm>
          <a:prstGeom prst="roundRect">
            <a:avLst>
              <a:gd name="adj" fmla="val 6250"/>
            </a:avLst>
          </a:prstGeom>
          <a:solidFill>
            <a:srgbClr val="DCFCE7"/>
          </a:solidFill>
          <a:ln w="12700">
            <a:solidFill>
              <a:srgbClr val="16A34A"/>
            </a:solidFill>
            <a:prstDash val="solid"/>
          </a:ln>
        </p:spPr>
      </p:sp>
      <p:sp>
        <p:nvSpPr>
          <p:cNvPr id="16" name="Text 14"/>
          <p:cNvSpPr/>
          <p:nvPr/>
        </p:nvSpPr>
        <p:spPr>
          <a:xfrm>
            <a:off x="8275320" y="2587752"/>
            <a:ext cx="1325880" cy="128016"/>
          </a:xfrm>
          <a:prstGeom prst="rect">
            <a:avLst/>
          </a:prstGeom>
          <a:noFill/>
          <a:ln/>
        </p:spPr>
        <p:txBody>
          <a:bodyPr wrap="square" lIns="0" tIns="0" rIns="0" bIns="0" rtlCol="0" anchor="ctr"/>
          <a:lstStyle/>
          <a:p>
            <a:pPr marL="0" indent="0" algn="ctr">
              <a:buNone/>
            </a:pPr>
            <a:r>
              <a:rPr lang="en-US" sz="1550" b="1" dirty="0">
                <a:solidFill>
                  <a:srgbClr val="0F172A"/>
                </a:solidFill>
              </a:rPr>
              <a:t>Validation</a:t>
            </a:r>
            <a:endParaRPr lang="en-US" sz="1550" dirty="0"/>
          </a:p>
        </p:txBody>
      </p:sp>
      <p:sp>
        <p:nvSpPr>
          <p:cNvPr id="17" name="Shape 15"/>
          <p:cNvSpPr/>
          <p:nvPr/>
        </p:nvSpPr>
        <p:spPr>
          <a:xfrm>
            <a:off x="4983480" y="3703320"/>
            <a:ext cx="1325880" cy="731520"/>
          </a:xfrm>
          <a:prstGeom prst="roundRect">
            <a:avLst>
              <a:gd name="adj" fmla="val 6250"/>
            </a:avLst>
          </a:prstGeom>
          <a:solidFill>
            <a:srgbClr val="CCFBF1"/>
          </a:solidFill>
          <a:ln w="12700">
            <a:solidFill>
              <a:srgbClr val="14B8A6"/>
            </a:solidFill>
            <a:prstDash val="solid"/>
          </a:ln>
        </p:spPr>
      </p:sp>
      <p:sp>
        <p:nvSpPr>
          <p:cNvPr id="18" name="Text 16"/>
          <p:cNvSpPr/>
          <p:nvPr/>
        </p:nvSpPr>
        <p:spPr>
          <a:xfrm>
            <a:off x="4983480" y="3959352"/>
            <a:ext cx="1325880" cy="128016"/>
          </a:xfrm>
          <a:prstGeom prst="rect">
            <a:avLst/>
          </a:prstGeom>
          <a:noFill/>
          <a:ln/>
        </p:spPr>
        <p:txBody>
          <a:bodyPr wrap="square" lIns="0" tIns="0" rIns="0" bIns="0" rtlCol="0" anchor="ctr"/>
          <a:lstStyle/>
          <a:p>
            <a:pPr marL="0" indent="0" algn="ctr">
              <a:buNone/>
            </a:pPr>
            <a:r>
              <a:rPr lang="en-US" sz="1550" b="1" dirty="0">
                <a:solidFill>
                  <a:srgbClr val="0F172A"/>
                </a:solidFill>
              </a:rPr>
              <a:t>Logic</a:t>
            </a:r>
            <a:endParaRPr lang="en-US" sz="1550" dirty="0"/>
          </a:p>
        </p:txBody>
      </p:sp>
      <p:sp>
        <p:nvSpPr>
          <p:cNvPr id="19" name="Shape 17"/>
          <p:cNvSpPr/>
          <p:nvPr/>
        </p:nvSpPr>
        <p:spPr>
          <a:xfrm>
            <a:off x="6629400" y="3703320"/>
            <a:ext cx="1325880" cy="731520"/>
          </a:xfrm>
          <a:prstGeom prst="roundRect">
            <a:avLst>
              <a:gd name="adj" fmla="val 6250"/>
            </a:avLst>
          </a:prstGeom>
          <a:solidFill>
            <a:srgbClr val="FEF3C7"/>
          </a:solidFill>
          <a:ln w="12700">
            <a:solidFill>
              <a:srgbClr val="F59E0B"/>
            </a:solidFill>
            <a:prstDash val="solid"/>
          </a:ln>
        </p:spPr>
      </p:sp>
      <p:sp>
        <p:nvSpPr>
          <p:cNvPr id="20" name="Text 18"/>
          <p:cNvSpPr/>
          <p:nvPr/>
        </p:nvSpPr>
        <p:spPr>
          <a:xfrm>
            <a:off x="6629400" y="3959352"/>
            <a:ext cx="1325880" cy="128016"/>
          </a:xfrm>
          <a:prstGeom prst="rect">
            <a:avLst/>
          </a:prstGeom>
          <a:noFill/>
          <a:ln/>
        </p:spPr>
        <p:txBody>
          <a:bodyPr wrap="square" lIns="0" tIns="0" rIns="0" bIns="0" rtlCol="0" anchor="ctr"/>
          <a:lstStyle/>
          <a:p>
            <a:pPr marL="0" indent="0" algn="ctr">
              <a:buNone/>
            </a:pPr>
            <a:r>
              <a:rPr lang="en-US" sz="1550" b="1" dirty="0">
                <a:solidFill>
                  <a:srgbClr val="0F172A"/>
                </a:solidFill>
              </a:rPr>
              <a:t>Failure</a:t>
            </a:r>
            <a:endParaRPr lang="en-US" sz="1550" dirty="0"/>
          </a:p>
        </p:txBody>
      </p:sp>
      <p:sp>
        <p:nvSpPr>
          <p:cNvPr id="21" name="Shape 19"/>
          <p:cNvSpPr/>
          <p:nvPr/>
        </p:nvSpPr>
        <p:spPr>
          <a:xfrm>
            <a:off x="8275320" y="3703320"/>
            <a:ext cx="1325880" cy="731520"/>
          </a:xfrm>
          <a:prstGeom prst="roundRect">
            <a:avLst>
              <a:gd name="adj" fmla="val 6250"/>
            </a:avLst>
          </a:prstGeom>
          <a:solidFill>
            <a:srgbClr val="E2E8F0"/>
          </a:solidFill>
          <a:ln w="12700">
            <a:solidFill>
              <a:srgbClr val="64748B"/>
            </a:solidFill>
            <a:prstDash val="solid"/>
          </a:ln>
        </p:spPr>
      </p:sp>
      <p:sp>
        <p:nvSpPr>
          <p:cNvPr id="22" name="Text 20"/>
          <p:cNvSpPr/>
          <p:nvPr/>
        </p:nvSpPr>
        <p:spPr>
          <a:xfrm>
            <a:off x="8275320" y="3959352"/>
            <a:ext cx="1325880" cy="128016"/>
          </a:xfrm>
          <a:prstGeom prst="rect">
            <a:avLst/>
          </a:prstGeom>
          <a:noFill/>
          <a:ln/>
        </p:spPr>
        <p:txBody>
          <a:bodyPr wrap="square" lIns="0" tIns="0" rIns="0" bIns="0" rtlCol="0" anchor="ctr"/>
          <a:lstStyle/>
          <a:p>
            <a:pPr marL="0" indent="0" algn="ctr">
              <a:buNone/>
            </a:pPr>
            <a:r>
              <a:rPr lang="en-US" sz="1550" b="1" dirty="0">
                <a:solidFill>
                  <a:srgbClr val="0F172A"/>
                </a:solidFill>
              </a:rPr>
              <a:t>Frontend use</a:t>
            </a:r>
            <a:endParaRPr lang="en-US" sz="1550" dirty="0"/>
          </a:p>
        </p:txBody>
      </p:sp>
      <p:sp>
        <p:nvSpPr>
          <p:cNvPr id="23" name="Shape 21"/>
          <p:cNvSpPr/>
          <p:nvPr/>
        </p:nvSpPr>
        <p:spPr>
          <a:xfrm>
            <a:off x="5047488" y="5074920"/>
            <a:ext cx="4572000" cy="594360"/>
          </a:xfrm>
          <a:prstGeom prst="roundRect">
            <a:avLst>
              <a:gd name="adj" fmla="val 7692"/>
            </a:avLst>
          </a:prstGeom>
          <a:solidFill>
            <a:srgbClr val="FFFFFF"/>
          </a:solidFill>
          <a:ln w="12700">
            <a:solidFill>
              <a:srgbClr val="CBD5E1"/>
            </a:solidFill>
            <a:prstDash val="solid"/>
          </a:ln>
        </p:spPr>
      </p:sp>
      <p:sp>
        <p:nvSpPr>
          <p:cNvPr id="24" name="Text 22"/>
          <p:cNvSpPr/>
          <p:nvPr/>
        </p:nvSpPr>
        <p:spPr>
          <a:xfrm>
            <a:off x="5285232" y="5285232"/>
            <a:ext cx="4069080" cy="128016"/>
          </a:xfrm>
          <a:prstGeom prst="rect">
            <a:avLst/>
          </a:prstGeom>
          <a:noFill/>
          <a:ln/>
        </p:spPr>
        <p:txBody>
          <a:bodyPr wrap="square" lIns="0" tIns="0" rIns="0" bIns="0" rtlCol="0" anchor="ctr"/>
          <a:lstStyle/>
          <a:p>
            <a:pPr marL="0" indent="0" algn="ctr">
              <a:buNone/>
            </a:pPr>
            <a:r>
              <a:rPr lang="en-US" sz="1550" b="1" dirty="0">
                <a:solidFill>
                  <a:srgbClr val="0F172A"/>
                </a:solidFill>
              </a:rPr>
              <a:t>Good questioning reduces rework before coding even begins.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76656" y="253800"/>
            <a:ext cx="1645920" cy="164592"/>
          </a:xfrm>
          <a:prstGeom prst="rect">
            <a:avLst/>
          </a:prstGeom>
          <a:noFill/>
          <a:ln/>
        </p:spPr>
        <p:txBody>
          <a:bodyPr wrap="square" lIns="0" tIns="0" rIns="0" bIns="0" rtlCol="0" anchor="ctr"/>
          <a:lstStyle/>
          <a:p>
            <a:pPr marL="0" indent="0">
              <a:buNone/>
            </a:pPr>
            <a:r>
              <a:rPr lang="en-US" sz="950" b="1" dirty="0">
                <a:solidFill>
                  <a:srgbClr val="2563EB"/>
                </a:solidFill>
                <a:latin typeface="Aptos" pitchFamily="34" charset="0"/>
                <a:ea typeface="Aptos" pitchFamily="34" charset="-122"/>
                <a:cs typeface="Aptos" pitchFamily="34" charset="-120"/>
              </a:rPr>
              <a:t>SUCCESS</a:t>
            </a:r>
            <a:endParaRPr lang="en-US" sz="950" dirty="0"/>
          </a:p>
        </p:txBody>
      </p:sp>
      <p:sp>
        <p:nvSpPr>
          <p:cNvPr id="3" name="Text 1"/>
          <p:cNvSpPr/>
          <p:nvPr/>
        </p:nvSpPr>
        <p:spPr>
          <a:xfrm>
            <a:off x="658368" y="411480"/>
            <a:ext cx="8046720" cy="502920"/>
          </a:xfrm>
          <a:prstGeom prst="rect">
            <a:avLst/>
          </a:prstGeom>
          <a:noFill/>
          <a:ln/>
        </p:spPr>
        <p:txBody>
          <a:bodyPr wrap="square" lIns="0" tIns="0" rIns="0" bIns="0" rtlCol="0" anchor="ctr"/>
          <a:lstStyle/>
          <a:p>
            <a:pPr marL="0" indent="0">
              <a:buNone/>
            </a:pPr>
            <a:r>
              <a:rPr lang="en-US" sz="2800" b="1" dirty="0">
                <a:solidFill>
                  <a:srgbClr val="0F172A"/>
                </a:solidFill>
                <a:latin typeface="Aptos Display" pitchFamily="34" charset="0"/>
                <a:ea typeface="Aptos Display" pitchFamily="34" charset="-122"/>
                <a:cs typeface="Aptos Display" pitchFamily="34" charset="-120"/>
              </a:rPr>
              <a:t>What success looks like today</a:t>
            </a:r>
            <a:endParaRPr lang="en-US" sz="2800" dirty="0"/>
          </a:p>
        </p:txBody>
      </p:sp>
      <p:sp>
        <p:nvSpPr>
          <p:cNvPr id="4" name="Text 2"/>
          <p:cNvSpPr/>
          <p:nvPr/>
        </p:nvSpPr>
        <p:spPr>
          <a:xfrm>
            <a:off x="676656" y="941832"/>
            <a:ext cx="7863840" cy="310896"/>
          </a:xfrm>
          <a:prstGeom prst="rect">
            <a:avLst/>
          </a:prstGeom>
          <a:noFill/>
          <a:ln/>
        </p:spPr>
        <p:txBody>
          <a:bodyPr wrap="square" lIns="0" tIns="0" rIns="0" bIns="0" rtlCol="0" anchor="ctr"/>
          <a:lstStyle/>
          <a:p>
            <a:pPr marL="0" indent="0">
              <a:buNone/>
            </a:pPr>
            <a:r>
              <a:rPr lang="en-US" sz="1400" b="1" dirty="0">
                <a:solidFill>
                  <a:srgbClr val="64748B"/>
                </a:solidFill>
                <a:latin typeface="Aptos" pitchFamily="34" charset="0"/>
                <a:ea typeface="Aptos" pitchFamily="34" charset="-122"/>
                <a:cs typeface="Aptos" pitchFamily="34" charset="-120"/>
              </a:rPr>
              <a:t>Day 1 is about clarity, not feature volume.</a:t>
            </a:r>
            <a:endParaRPr lang="en-US" sz="1400" b="1" dirty="0"/>
          </a:p>
        </p:txBody>
      </p:sp>
      <p:sp>
        <p:nvSpPr>
          <p:cNvPr id="5" name="Shape 3"/>
          <p:cNvSpPr/>
          <p:nvPr/>
        </p:nvSpPr>
        <p:spPr>
          <a:xfrm>
            <a:off x="9738360" y="502920"/>
            <a:ext cx="1508760" cy="164592"/>
          </a:xfrm>
          <a:prstGeom prst="roundRect">
            <a:avLst>
              <a:gd name="adj" fmla="val 22222"/>
            </a:avLst>
          </a:prstGeom>
          <a:solidFill>
            <a:srgbClr val="2563EB"/>
          </a:solidFill>
          <a:ln w="12700">
            <a:solidFill>
              <a:srgbClr val="2563EB"/>
            </a:solidFill>
            <a:prstDash val="solid"/>
          </a:ln>
        </p:spPr>
      </p:sp>
      <p:sp>
        <p:nvSpPr>
          <p:cNvPr id="6" name="Shape 4"/>
          <p:cNvSpPr/>
          <p:nvPr/>
        </p:nvSpPr>
        <p:spPr>
          <a:xfrm>
            <a:off x="868680" y="1572768"/>
            <a:ext cx="4983480" cy="4434840"/>
          </a:xfrm>
          <a:prstGeom prst="roundRect">
            <a:avLst>
              <a:gd name="adj" fmla="val 1649"/>
            </a:avLst>
          </a:prstGeom>
          <a:solidFill>
            <a:srgbClr val="FFFFFF"/>
          </a:solidFill>
          <a:ln w="12700">
            <a:solidFill>
              <a:srgbClr val="CBD5E1"/>
            </a:solidFill>
            <a:prstDash val="solid"/>
          </a:ln>
        </p:spPr>
      </p:sp>
      <p:sp>
        <p:nvSpPr>
          <p:cNvPr id="7" name="Text 5"/>
          <p:cNvSpPr/>
          <p:nvPr/>
        </p:nvSpPr>
        <p:spPr>
          <a:xfrm>
            <a:off x="1170432" y="1856232"/>
            <a:ext cx="4206240" cy="201168"/>
          </a:xfrm>
          <a:prstGeom prst="rect">
            <a:avLst/>
          </a:prstGeom>
          <a:noFill/>
          <a:ln/>
        </p:spPr>
        <p:txBody>
          <a:bodyPr wrap="square" lIns="0" tIns="0" rIns="0" bIns="0" rtlCol="0" anchor="ctr"/>
          <a:lstStyle/>
          <a:p>
            <a:pPr marL="0" indent="0">
              <a:buNone/>
            </a:pPr>
            <a:r>
              <a:rPr lang="en-US" sz="2000" b="1" dirty="0">
                <a:solidFill>
                  <a:srgbClr val="0F172A"/>
                </a:solidFill>
              </a:rPr>
              <a:t>By end of session, the team should be able to:</a:t>
            </a:r>
            <a:endParaRPr lang="en-US" sz="2000" dirty="0"/>
          </a:p>
        </p:txBody>
      </p:sp>
      <p:sp>
        <p:nvSpPr>
          <p:cNvPr id="8" name="Shape 6"/>
          <p:cNvSpPr/>
          <p:nvPr/>
        </p:nvSpPr>
        <p:spPr>
          <a:xfrm>
            <a:off x="1170432" y="2331720"/>
            <a:ext cx="256032" cy="256032"/>
          </a:xfrm>
          <a:prstGeom prst="ellipse">
            <a:avLst/>
          </a:prstGeom>
          <a:solidFill>
            <a:srgbClr val="CCFBF1"/>
          </a:solidFill>
          <a:ln w="12700">
            <a:solidFill>
              <a:srgbClr val="14B8A6"/>
            </a:solidFill>
            <a:prstDash val="solid"/>
          </a:ln>
        </p:spPr>
      </p:sp>
      <p:sp>
        <p:nvSpPr>
          <p:cNvPr id="9" name="Text 7"/>
          <p:cNvSpPr/>
          <p:nvPr/>
        </p:nvSpPr>
        <p:spPr>
          <a:xfrm>
            <a:off x="1170432" y="2386584"/>
            <a:ext cx="256032" cy="91440"/>
          </a:xfrm>
          <a:prstGeom prst="rect">
            <a:avLst/>
          </a:prstGeom>
          <a:noFill/>
          <a:ln/>
        </p:spPr>
        <p:txBody>
          <a:bodyPr wrap="square" lIns="0" tIns="0" rIns="0" bIns="0" rtlCol="0" anchor="ctr"/>
          <a:lstStyle/>
          <a:p>
            <a:pPr marL="0" indent="0" algn="ctr">
              <a:buNone/>
            </a:pPr>
            <a:r>
              <a:rPr lang="en-US" sz="1200" b="1" dirty="0">
                <a:solidFill>
                  <a:srgbClr val="14B8A6"/>
                </a:solidFill>
              </a:rPr>
              <a:t>✓</a:t>
            </a:r>
            <a:endParaRPr lang="en-US" sz="1200" dirty="0"/>
          </a:p>
        </p:txBody>
      </p:sp>
      <p:sp>
        <p:nvSpPr>
          <p:cNvPr id="10" name="Text 8"/>
          <p:cNvSpPr/>
          <p:nvPr/>
        </p:nvSpPr>
        <p:spPr>
          <a:xfrm>
            <a:off x="1536192" y="2313432"/>
            <a:ext cx="3794760" cy="201168"/>
          </a:xfrm>
          <a:prstGeom prst="rect">
            <a:avLst/>
          </a:prstGeom>
          <a:noFill/>
          <a:ln/>
        </p:spPr>
        <p:txBody>
          <a:bodyPr wrap="square" lIns="0" tIns="0" rIns="0" bIns="0" rtlCol="0" anchor="ctr"/>
          <a:lstStyle/>
          <a:p>
            <a:pPr marL="0" indent="0">
              <a:buNone/>
            </a:pPr>
            <a:r>
              <a:rPr lang="en-US" sz="1550" dirty="0">
                <a:solidFill>
                  <a:srgbClr val="334155"/>
                </a:solidFill>
              </a:rPr>
              <a:t>Explain the system flow in plain language</a:t>
            </a:r>
            <a:endParaRPr lang="en-US" sz="1550" dirty="0"/>
          </a:p>
        </p:txBody>
      </p:sp>
      <p:sp>
        <p:nvSpPr>
          <p:cNvPr id="11" name="Shape 9"/>
          <p:cNvSpPr/>
          <p:nvPr/>
        </p:nvSpPr>
        <p:spPr>
          <a:xfrm>
            <a:off x="1170432" y="2971800"/>
            <a:ext cx="256032" cy="256032"/>
          </a:xfrm>
          <a:prstGeom prst="ellipse">
            <a:avLst/>
          </a:prstGeom>
          <a:solidFill>
            <a:srgbClr val="CCFBF1"/>
          </a:solidFill>
          <a:ln w="12700">
            <a:solidFill>
              <a:srgbClr val="14B8A6"/>
            </a:solidFill>
            <a:prstDash val="solid"/>
          </a:ln>
        </p:spPr>
      </p:sp>
      <p:sp>
        <p:nvSpPr>
          <p:cNvPr id="12" name="Text 10"/>
          <p:cNvSpPr/>
          <p:nvPr/>
        </p:nvSpPr>
        <p:spPr>
          <a:xfrm>
            <a:off x="1170432" y="3026664"/>
            <a:ext cx="256032" cy="91440"/>
          </a:xfrm>
          <a:prstGeom prst="rect">
            <a:avLst/>
          </a:prstGeom>
          <a:noFill/>
          <a:ln/>
        </p:spPr>
        <p:txBody>
          <a:bodyPr wrap="square" lIns="0" tIns="0" rIns="0" bIns="0" rtlCol="0" anchor="ctr"/>
          <a:lstStyle/>
          <a:p>
            <a:pPr marL="0" indent="0" algn="ctr">
              <a:buNone/>
            </a:pPr>
            <a:r>
              <a:rPr lang="en-US" sz="1200" b="1" dirty="0">
                <a:solidFill>
                  <a:srgbClr val="14B8A6"/>
                </a:solidFill>
              </a:rPr>
              <a:t>✓</a:t>
            </a:r>
            <a:endParaRPr lang="en-US" sz="1200" dirty="0"/>
          </a:p>
        </p:txBody>
      </p:sp>
      <p:sp>
        <p:nvSpPr>
          <p:cNvPr id="13" name="Text 11"/>
          <p:cNvSpPr/>
          <p:nvPr/>
        </p:nvSpPr>
        <p:spPr>
          <a:xfrm>
            <a:off x="1536192" y="2953512"/>
            <a:ext cx="3794760" cy="201168"/>
          </a:xfrm>
          <a:prstGeom prst="rect">
            <a:avLst/>
          </a:prstGeom>
          <a:noFill/>
          <a:ln/>
        </p:spPr>
        <p:txBody>
          <a:bodyPr wrap="square" lIns="0" tIns="0" rIns="0" bIns="0" rtlCol="0" anchor="ctr"/>
          <a:lstStyle/>
          <a:p>
            <a:pPr marL="0" indent="0">
              <a:buNone/>
            </a:pPr>
            <a:r>
              <a:rPr lang="en-US" sz="1550" dirty="0">
                <a:solidFill>
                  <a:srgbClr val="334155"/>
                </a:solidFill>
              </a:rPr>
              <a:t>Name the major layers and their responsibilities</a:t>
            </a:r>
            <a:endParaRPr lang="en-US" sz="1550" dirty="0"/>
          </a:p>
        </p:txBody>
      </p:sp>
      <p:sp>
        <p:nvSpPr>
          <p:cNvPr id="14" name="Shape 12"/>
          <p:cNvSpPr/>
          <p:nvPr/>
        </p:nvSpPr>
        <p:spPr>
          <a:xfrm>
            <a:off x="1170432" y="3611880"/>
            <a:ext cx="256032" cy="256032"/>
          </a:xfrm>
          <a:prstGeom prst="ellipse">
            <a:avLst/>
          </a:prstGeom>
          <a:solidFill>
            <a:srgbClr val="CCFBF1"/>
          </a:solidFill>
          <a:ln w="12700">
            <a:solidFill>
              <a:srgbClr val="14B8A6"/>
            </a:solidFill>
            <a:prstDash val="solid"/>
          </a:ln>
        </p:spPr>
      </p:sp>
      <p:sp>
        <p:nvSpPr>
          <p:cNvPr id="15" name="Text 13"/>
          <p:cNvSpPr/>
          <p:nvPr/>
        </p:nvSpPr>
        <p:spPr>
          <a:xfrm>
            <a:off x="1170432" y="3666744"/>
            <a:ext cx="256032" cy="91440"/>
          </a:xfrm>
          <a:prstGeom prst="rect">
            <a:avLst/>
          </a:prstGeom>
          <a:noFill/>
          <a:ln/>
        </p:spPr>
        <p:txBody>
          <a:bodyPr wrap="square" lIns="0" tIns="0" rIns="0" bIns="0" rtlCol="0" anchor="ctr"/>
          <a:lstStyle/>
          <a:p>
            <a:pPr marL="0" indent="0" algn="ctr">
              <a:buNone/>
            </a:pPr>
            <a:r>
              <a:rPr lang="en-US" sz="1200" b="1" dirty="0">
                <a:solidFill>
                  <a:srgbClr val="14B8A6"/>
                </a:solidFill>
              </a:rPr>
              <a:t>✓</a:t>
            </a:r>
            <a:endParaRPr lang="en-US" sz="1200" dirty="0"/>
          </a:p>
        </p:txBody>
      </p:sp>
      <p:sp>
        <p:nvSpPr>
          <p:cNvPr id="16" name="Text 14"/>
          <p:cNvSpPr/>
          <p:nvPr/>
        </p:nvSpPr>
        <p:spPr>
          <a:xfrm>
            <a:off x="1536192" y="3593592"/>
            <a:ext cx="3794760" cy="201168"/>
          </a:xfrm>
          <a:prstGeom prst="rect">
            <a:avLst/>
          </a:prstGeom>
          <a:noFill/>
          <a:ln/>
        </p:spPr>
        <p:txBody>
          <a:bodyPr wrap="square" lIns="0" tIns="0" rIns="0" bIns="0" rtlCol="0" anchor="ctr"/>
          <a:lstStyle/>
          <a:p>
            <a:pPr marL="0" indent="0">
              <a:buNone/>
            </a:pPr>
            <a:r>
              <a:rPr lang="en-US" sz="1550" dirty="0">
                <a:solidFill>
                  <a:srgbClr val="334155"/>
                </a:solidFill>
              </a:rPr>
              <a:t>Run the project locally and see the end-to-end request path</a:t>
            </a:r>
            <a:endParaRPr lang="en-US" sz="1550" dirty="0"/>
          </a:p>
        </p:txBody>
      </p:sp>
      <p:sp>
        <p:nvSpPr>
          <p:cNvPr id="17" name="Shape 15"/>
          <p:cNvSpPr/>
          <p:nvPr/>
        </p:nvSpPr>
        <p:spPr>
          <a:xfrm>
            <a:off x="1170432" y="4251960"/>
            <a:ext cx="256032" cy="256032"/>
          </a:xfrm>
          <a:prstGeom prst="ellipse">
            <a:avLst/>
          </a:prstGeom>
          <a:solidFill>
            <a:srgbClr val="CCFBF1"/>
          </a:solidFill>
          <a:ln w="12700">
            <a:solidFill>
              <a:srgbClr val="14B8A6"/>
            </a:solidFill>
            <a:prstDash val="solid"/>
          </a:ln>
        </p:spPr>
      </p:sp>
      <p:sp>
        <p:nvSpPr>
          <p:cNvPr id="18" name="Text 16"/>
          <p:cNvSpPr/>
          <p:nvPr/>
        </p:nvSpPr>
        <p:spPr>
          <a:xfrm>
            <a:off x="1170432" y="4306824"/>
            <a:ext cx="256032" cy="91440"/>
          </a:xfrm>
          <a:prstGeom prst="rect">
            <a:avLst/>
          </a:prstGeom>
          <a:noFill/>
          <a:ln/>
        </p:spPr>
        <p:txBody>
          <a:bodyPr wrap="square" lIns="0" tIns="0" rIns="0" bIns="0" rtlCol="0" anchor="ctr"/>
          <a:lstStyle/>
          <a:p>
            <a:pPr marL="0" indent="0" algn="ctr">
              <a:buNone/>
            </a:pPr>
            <a:r>
              <a:rPr lang="en-US" sz="1200" b="1" dirty="0">
                <a:solidFill>
                  <a:srgbClr val="14B8A6"/>
                </a:solidFill>
              </a:rPr>
              <a:t>✓</a:t>
            </a:r>
            <a:endParaRPr lang="en-US" sz="1200" dirty="0"/>
          </a:p>
        </p:txBody>
      </p:sp>
      <p:sp>
        <p:nvSpPr>
          <p:cNvPr id="19" name="Text 17"/>
          <p:cNvSpPr/>
          <p:nvPr/>
        </p:nvSpPr>
        <p:spPr>
          <a:xfrm>
            <a:off x="1536192" y="4233672"/>
            <a:ext cx="3794760" cy="201168"/>
          </a:xfrm>
          <a:prstGeom prst="rect">
            <a:avLst/>
          </a:prstGeom>
          <a:noFill/>
          <a:ln/>
        </p:spPr>
        <p:txBody>
          <a:bodyPr wrap="square" lIns="0" tIns="0" rIns="0" bIns="0" rtlCol="0" anchor="ctr"/>
          <a:lstStyle/>
          <a:p>
            <a:pPr marL="0" indent="0">
              <a:buNone/>
            </a:pPr>
            <a:r>
              <a:rPr lang="en-US" sz="1550" dirty="0">
                <a:solidFill>
                  <a:srgbClr val="334155"/>
                </a:solidFill>
              </a:rPr>
              <a:t>Recognize bad structure and common team mistakes</a:t>
            </a:r>
            <a:endParaRPr lang="en-US" sz="1550" dirty="0"/>
          </a:p>
        </p:txBody>
      </p:sp>
      <p:sp>
        <p:nvSpPr>
          <p:cNvPr id="20" name="Shape 18"/>
          <p:cNvSpPr/>
          <p:nvPr/>
        </p:nvSpPr>
        <p:spPr>
          <a:xfrm>
            <a:off x="1170432" y="4892040"/>
            <a:ext cx="256032" cy="256032"/>
          </a:xfrm>
          <a:prstGeom prst="ellipse">
            <a:avLst/>
          </a:prstGeom>
          <a:solidFill>
            <a:srgbClr val="CCFBF1"/>
          </a:solidFill>
          <a:ln w="12700">
            <a:solidFill>
              <a:srgbClr val="14B8A6"/>
            </a:solidFill>
            <a:prstDash val="solid"/>
          </a:ln>
        </p:spPr>
      </p:sp>
      <p:sp>
        <p:nvSpPr>
          <p:cNvPr id="21" name="Text 19"/>
          <p:cNvSpPr/>
          <p:nvPr/>
        </p:nvSpPr>
        <p:spPr>
          <a:xfrm>
            <a:off x="1170432" y="4946904"/>
            <a:ext cx="256032" cy="91440"/>
          </a:xfrm>
          <a:prstGeom prst="rect">
            <a:avLst/>
          </a:prstGeom>
          <a:noFill/>
          <a:ln/>
        </p:spPr>
        <p:txBody>
          <a:bodyPr wrap="square" lIns="0" tIns="0" rIns="0" bIns="0" rtlCol="0" anchor="ctr"/>
          <a:lstStyle/>
          <a:p>
            <a:pPr marL="0" indent="0" algn="ctr">
              <a:buNone/>
            </a:pPr>
            <a:r>
              <a:rPr lang="en-US" sz="1200" b="1" dirty="0">
                <a:solidFill>
                  <a:srgbClr val="14B8A6"/>
                </a:solidFill>
              </a:rPr>
              <a:t>✓</a:t>
            </a:r>
            <a:endParaRPr lang="en-US" sz="1200" dirty="0"/>
          </a:p>
        </p:txBody>
      </p:sp>
      <p:sp>
        <p:nvSpPr>
          <p:cNvPr id="22" name="Text 20"/>
          <p:cNvSpPr/>
          <p:nvPr/>
        </p:nvSpPr>
        <p:spPr>
          <a:xfrm>
            <a:off x="1536192" y="4873752"/>
            <a:ext cx="3794760" cy="201168"/>
          </a:xfrm>
          <a:prstGeom prst="rect">
            <a:avLst/>
          </a:prstGeom>
          <a:noFill/>
          <a:ln/>
        </p:spPr>
        <p:txBody>
          <a:bodyPr wrap="square" lIns="0" tIns="0" rIns="0" bIns="0" rtlCol="0" anchor="ctr"/>
          <a:lstStyle/>
          <a:p>
            <a:pPr marL="0" indent="0">
              <a:buNone/>
            </a:pPr>
            <a:r>
              <a:rPr lang="en-US" sz="1550" dirty="0">
                <a:solidFill>
                  <a:srgbClr val="334155"/>
                </a:solidFill>
              </a:rPr>
              <a:t>Understand how the rest of the week builds from today</a:t>
            </a:r>
            <a:endParaRPr lang="en-US" sz="1550" dirty="0"/>
          </a:p>
        </p:txBody>
      </p:sp>
      <p:sp>
        <p:nvSpPr>
          <p:cNvPr id="23" name="Shape 21"/>
          <p:cNvSpPr/>
          <p:nvPr/>
        </p:nvSpPr>
        <p:spPr>
          <a:xfrm>
            <a:off x="6327648" y="1572768"/>
            <a:ext cx="4937760" cy="4434840"/>
          </a:xfrm>
          <a:prstGeom prst="roundRect">
            <a:avLst>
              <a:gd name="adj" fmla="val 1649"/>
            </a:avLst>
          </a:prstGeom>
          <a:solidFill>
            <a:srgbClr val="0F172A"/>
          </a:solidFill>
          <a:ln w="12700">
            <a:solidFill>
              <a:srgbClr val="0F172A"/>
            </a:solidFill>
            <a:prstDash val="solid"/>
          </a:ln>
        </p:spPr>
        <p:txBody>
          <a:bodyPr/>
          <a:lstStyle/>
          <a:p>
            <a:endParaRPr lang="en-US" dirty="0"/>
          </a:p>
        </p:txBody>
      </p:sp>
      <p:sp>
        <p:nvSpPr>
          <p:cNvPr id="24" name="Text 22"/>
          <p:cNvSpPr/>
          <p:nvPr/>
        </p:nvSpPr>
        <p:spPr>
          <a:xfrm>
            <a:off x="6675120" y="1719072"/>
            <a:ext cx="3383280" cy="623574"/>
          </a:xfrm>
          <a:prstGeom prst="rect">
            <a:avLst/>
          </a:prstGeom>
          <a:noFill/>
          <a:ln/>
        </p:spPr>
        <p:txBody>
          <a:bodyPr wrap="square" lIns="0" tIns="0" rIns="0" bIns="0" rtlCol="0" anchor="ctr"/>
          <a:lstStyle/>
          <a:p>
            <a:pPr marL="0" indent="0">
              <a:buNone/>
            </a:pPr>
            <a:r>
              <a:rPr lang="en-US" sz="2000" b="1" dirty="0">
                <a:solidFill>
                  <a:srgbClr val="FFFFFF"/>
                </a:solidFill>
              </a:rPr>
              <a:t>Three Success Signals</a:t>
            </a:r>
            <a:endParaRPr lang="en-US" sz="2000" dirty="0"/>
          </a:p>
        </p:txBody>
      </p:sp>
      <p:sp>
        <p:nvSpPr>
          <p:cNvPr id="25" name="Shape 23"/>
          <p:cNvSpPr/>
          <p:nvPr/>
        </p:nvSpPr>
        <p:spPr>
          <a:xfrm>
            <a:off x="6693408" y="2580390"/>
            <a:ext cx="841248" cy="384048"/>
          </a:xfrm>
          <a:prstGeom prst="roundRect">
            <a:avLst>
              <a:gd name="adj" fmla="val 11905"/>
            </a:avLst>
          </a:prstGeom>
          <a:solidFill>
            <a:srgbClr val="DBEAFE"/>
          </a:solidFill>
          <a:ln w="12700">
            <a:solidFill>
              <a:srgbClr val="2563EB"/>
            </a:solidFill>
            <a:prstDash val="solid"/>
          </a:ln>
        </p:spPr>
      </p:sp>
      <p:sp>
        <p:nvSpPr>
          <p:cNvPr id="26" name="Text 24"/>
          <p:cNvSpPr/>
          <p:nvPr/>
        </p:nvSpPr>
        <p:spPr>
          <a:xfrm>
            <a:off x="6693408" y="2699262"/>
            <a:ext cx="841248" cy="91440"/>
          </a:xfrm>
          <a:prstGeom prst="rect">
            <a:avLst/>
          </a:prstGeom>
          <a:noFill/>
          <a:ln/>
        </p:spPr>
        <p:txBody>
          <a:bodyPr wrap="square" lIns="0" tIns="0" rIns="0" bIns="0" rtlCol="0" anchor="ctr"/>
          <a:lstStyle/>
          <a:p>
            <a:pPr marL="0" indent="0" algn="ctr">
              <a:buNone/>
            </a:pPr>
            <a:r>
              <a:rPr lang="en-US" sz="1250" b="1" dirty="0">
                <a:solidFill>
                  <a:srgbClr val="0F172A"/>
                </a:solidFill>
              </a:rPr>
              <a:t>Clarity</a:t>
            </a:r>
            <a:endParaRPr lang="en-US" sz="1250" dirty="0"/>
          </a:p>
        </p:txBody>
      </p:sp>
      <p:sp>
        <p:nvSpPr>
          <p:cNvPr id="27" name="Text 25"/>
          <p:cNvSpPr/>
          <p:nvPr/>
        </p:nvSpPr>
        <p:spPr>
          <a:xfrm>
            <a:off x="7754112" y="2662686"/>
            <a:ext cx="2880360" cy="201168"/>
          </a:xfrm>
          <a:prstGeom prst="rect">
            <a:avLst/>
          </a:prstGeom>
          <a:noFill/>
          <a:ln/>
        </p:spPr>
        <p:txBody>
          <a:bodyPr wrap="square" lIns="0" tIns="0" rIns="0" bIns="0" rtlCol="0" anchor="ctr"/>
          <a:lstStyle/>
          <a:p>
            <a:pPr marL="0" indent="0">
              <a:buNone/>
            </a:pPr>
            <a:r>
              <a:rPr lang="en-US" sz="1500" dirty="0">
                <a:solidFill>
                  <a:srgbClr val="CBD5E1"/>
                </a:solidFill>
              </a:rPr>
              <a:t>People can explain the application flow.</a:t>
            </a:r>
            <a:endParaRPr lang="en-US" sz="1500" dirty="0"/>
          </a:p>
        </p:txBody>
      </p:sp>
      <p:sp>
        <p:nvSpPr>
          <p:cNvPr id="28" name="Shape 26"/>
          <p:cNvSpPr/>
          <p:nvPr/>
        </p:nvSpPr>
        <p:spPr>
          <a:xfrm>
            <a:off x="6693408" y="3586230"/>
            <a:ext cx="841248" cy="384048"/>
          </a:xfrm>
          <a:prstGeom prst="roundRect">
            <a:avLst>
              <a:gd name="adj" fmla="val 11905"/>
            </a:avLst>
          </a:prstGeom>
          <a:solidFill>
            <a:srgbClr val="CCFBF1"/>
          </a:solidFill>
          <a:ln w="12700">
            <a:solidFill>
              <a:srgbClr val="14B8A6"/>
            </a:solidFill>
            <a:prstDash val="solid"/>
          </a:ln>
        </p:spPr>
      </p:sp>
      <p:sp>
        <p:nvSpPr>
          <p:cNvPr id="29" name="Text 27"/>
          <p:cNvSpPr/>
          <p:nvPr/>
        </p:nvSpPr>
        <p:spPr>
          <a:xfrm>
            <a:off x="6693408" y="3705102"/>
            <a:ext cx="841248" cy="91440"/>
          </a:xfrm>
          <a:prstGeom prst="rect">
            <a:avLst/>
          </a:prstGeom>
          <a:noFill/>
          <a:ln/>
        </p:spPr>
        <p:txBody>
          <a:bodyPr wrap="square" lIns="0" tIns="0" rIns="0" bIns="0" rtlCol="0" anchor="ctr"/>
          <a:lstStyle/>
          <a:p>
            <a:pPr marL="0" indent="0" algn="ctr">
              <a:buNone/>
            </a:pPr>
            <a:r>
              <a:rPr lang="en-US" sz="1250" b="1" dirty="0">
                <a:solidFill>
                  <a:srgbClr val="0F172A"/>
                </a:solidFill>
              </a:rPr>
              <a:t>Language</a:t>
            </a:r>
            <a:endParaRPr lang="en-US" sz="1250" dirty="0"/>
          </a:p>
        </p:txBody>
      </p:sp>
      <p:sp>
        <p:nvSpPr>
          <p:cNvPr id="30" name="Text 28"/>
          <p:cNvSpPr/>
          <p:nvPr/>
        </p:nvSpPr>
        <p:spPr>
          <a:xfrm>
            <a:off x="7754112" y="3668526"/>
            <a:ext cx="2880360" cy="201168"/>
          </a:xfrm>
          <a:prstGeom prst="rect">
            <a:avLst/>
          </a:prstGeom>
          <a:noFill/>
          <a:ln/>
        </p:spPr>
        <p:txBody>
          <a:bodyPr wrap="square" lIns="0" tIns="0" rIns="0" bIns="0" rtlCol="0" anchor="ctr"/>
          <a:lstStyle/>
          <a:p>
            <a:pPr marL="0" indent="0">
              <a:buNone/>
            </a:pPr>
            <a:r>
              <a:rPr lang="en-US" sz="1500" dirty="0">
                <a:solidFill>
                  <a:srgbClr val="CBD5E1"/>
                </a:solidFill>
              </a:rPr>
              <a:t>People start using shared engineering vocabulary.</a:t>
            </a:r>
            <a:endParaRPr lang="en-US" sz="1500" dirty="0"/>
          </a:p>
        </p:txBody>
      </p:sp>
      <p:sp>
        <p:nvSpPr>
          <p:cNvPr id="31" name="Shape 29"/>
          <p:cNvSpPr/>
          <p:nvPr/>
        </p:nvSpPr>
        <p:spPr>
          <a:xfrm>
            <a:off x="6693408" y="4592070"/>
            <a:ext cx="841248" cy="384048"/>
          </a:xfrm>
          <a:prstGeom prst="roundRect">
            <a:avLst>
              <a:gd name="adj" fmla="val 11905"/>
            </a:avLst>
          </a:prstGeom>
          <a:solidFill>
            <a:srgbClr val="FEF3C7"/>
          </a:solidFill>
          <a:ln w="12700">
            <a:solidFill>
              <a:srgbClr val="F59E0B"/>
            </a:solidFill>
            <a:prstDash val="solid"/>
          </a:ln>
        </p:spPr>
      </p:sp>
      <p:sp>
        <p:nvSpPr>
          <p:cNvPr id="32" name="Text 30"/>
          <p:cNvSpPr/>
          <p:nvPr/>
        </p:nvSpPr>
        <p:spPr>
          <a:xfrm>
            <a:off x="6693408" y="4710942"/>
            <a:ext cx="841248" cy="91440"/>
          </a:xfrm>
          <a:prstGeom prst="rect">
            <a:avLst/>
          </a:prstGeom>
          <a:noFill/>
          <a:ln/>
        </p:spPr>
        <p:txBody>
          <a:bodyPr wrap="square" lIns="0" tIns="0" rIns="0" bIns="0" rtlCol="0" anchor="ctr"/>
          <a:lstStyle/>
          <a:p>
            <a:pPr marL="0" indent="0" algn="ctr">
              <a:buNone/>
            </a:pPr>
            <a:r>
              <a:rPr lang="en-US" sz="1250" b="1" dirty="0">
                <a:solidFill>
                  <a:srgbClr val="0F172A"/>
                </a:solidFill>
              </a:rPr>
              <a:t>Momentum</a:t>
            </a:r>
            <a:endParaRPr lang="en-US" sz="1250" dirty="0"/>
          </a:p>
        </p:txBody>
      </p:sp>
      <p:sp>
        <p:nvSpPr>
          <p:cNvPr id="33" name="Text 31"/>
          <p:cNvSpPr/>
          <p:nvPr/>
        </p:nvSpPr>
        <p:spPr>
          <a:xfrm>
            <a:off x="7754112" y="4674366"/>
            <a:ext cx="2880360" cy="201168"/>
          </a:xfrm>
          <a:prstGeom prst="rect">
            <a:avLst/>
          </a:prstGeom>
          <a:noFill/>
          <a:ln/>
        </p:spPr>
        <p:txBody>
          <a:bodyPr wrap="square" lIns="0" tIns="0" rIns="0" bIns="0" rtlCol="0" anchor="ctr"/>
          <a:lstStyle/>
          <a:p>
            <a:pPr marL="0" indent="0">
              <a:buNone/>
            </a:pPr>
            <a:r>
              <a:rPr lang="en-US" sz="1500" dirty="0">
                <a:solidFill>
                  <a:srgbClr val="CBD5E1"/>
                </a:solidFill>
              </a:rPr>
              <a:t>People are ready to build with more discipline tomorrow.</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a:off x="749808" y="749808"/>
            <a:ext cx="10698480" cy="5303520"/>
          </a:xfrm>
          <a:prstGeom prst="roundRect">
            <a:avLst>
              <a:gd name="adj" fmla="val 2069"/>
            </a:avLst>
          </a:prstGeom>
          <a:solidFill>
            <a:srgbClr val="0F172A"/>
          </a:solidFill>
          <a:ln w="12700">
            <a:solidFill>
              <a:srgbClr val="0F172A"/>
            </a:solidFill>
            <a:prstDash val="solid"/>
          </a:ln>
        </p:spPr>
      </p:sp>
      <p:sp>
        <p:nvSpPr>
          <p:cNvPr id="4" name="Text 2"/>
          <p:cNvSpPr/>
          <p:nvPr/>
        </p:nvSpPr>
        <p:spPr>
          <a:xfrm>
            <a:off x="1115568" y="1261872"/>
            <a:ext cx="5486400" cy="411480"/>
          </a:xfrm>
          <a:prstGeom prst="rect">
            <a:avLst/>
          </a:prstGeom>
          <a:noFill/>
          <a:ln/>
        </p:spPr>
        <p:txBody>
          <a:bodyPr wrap="square" lIns="0" tIns="0" rIns="0" bIns="0" rtlCol="0" anchor="ct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Let’s see the flow in action</a:t>
            </a:r>
            <a:endParaRPr lang="en-US" sz="2800" dirty="0"/>
          </a:p>
        </p:txBody>
      </p:sp>
      <p:sp>
        <p:nvSpPr>
          <p:cNvPr id="5" name="Text 3"/>
          <p:cNvSpPr/>
          <p:nvPr/>
        </p:nvSpPr>
        <p:spPr>
          <a:xfrm>
            <a:off x="1143000" y="1920240"/>
            <a:ext cx="2743200" cy="201168"/>
          </a:xfrm>
          <a:prstGeom prst="rect">
            <a:avLst/>
          </a:prstGeom>
          <a:noFill/>
          <a:ln/>
        </p:spPr>
        <p:txBody>
          <a:bodyPr wrap="square" lIns="0" tIns="0" rIns="0" bIns="0" rtlCol="0" anchor="ctr"/>
          <a:lstStyle/>
          <a:p>
            <a:pPr marL="0" indent="0">
              <a:buNone/>
            </a:pPr>
            <a:r>
              <a:rPr lang="en-US" sz="1700" b="1" dirty="0">
                <a:solidFill>
                  <a:srgbClr val="CBD5E1"/>
                </a:solidFill>
              </a:rPr>
              <a:t>Demo goals for the next segment</a:t>
            </a:r>
            <a:endParaRPr lang="en-US" sz="1700" dirty="0"/>
          </a:p>
        </p:txBody>
      </p:sp>
      <p:sp>
        <p:nvSpPr>
          <p:cNvPr id="6" name="Text 4"/>
          <p:cNvSpPr/>
          <p:nvPr/>
        </p:nvSpPr>
        <p:spPr>
          <a:xfrm>
            <a:off x="1143000" y="2240280"/>
            <a:ext cx="4343400" cy="2194560"/>
          </a:xfrm>
          <a:prstGeom prst="rect">
            <a:avLst/>
          </a:prstGeom>
          <a:noFill/>
          <a:ln/>
        </p:spPr>
        <p:txBody>
          <a:bodyPr wrap="square" lIns="0" tIns="0" rIns="0" bIns="0" rtlCol="0" anchor="ctr"/>
          <a:lstStyle/>
          <a:p>
            <a:pPr marL="0" indent="0">
              <a:buNone/>
            </a:pPr>
            <a:r>
              <a:rPr lang="en-US" sz="1700" b="1" dirty="0">
                <a:solidFill>
                  <a:srgbClr val="93C5FD"/>
                </a:solidFill>
              </a:rPr>
              <a:t>• </a:t>
            </a:r>
            <a:r>
              <a:rPr lang="en-US" sz="1700" dirty="0">
                <a:solidFill>
                  <a:srgbClr val="FFFFFF"/>
                </a:solidFill>
              </a:rPr>
              <a:t>Open the solution structure
</a:t>
            </a:r>
            <a:r>
              <a:rPr lang="en-US" sz="1700" b="1" dirty="0">
                <a:solidFill>
                  <a:srgbClr val="93C5FD"/>
                </a:solidFill>
              </a:rPr>
              <a:t>• </a:t>
            </a:r>
            <a:r>
              <a:rPr lang="en-US" sz="1700" dirty="0">
                <a:solidFill>
                  <a:srgbClr val="FFFFFF"/>
                </a:solidFill>
              </a:rPr>
              <a:t>Run backend and frontend
</a:t>
            </a:r>
            <a:r>
              <a:rPr lang="en-US" sz="1700" b="1" dirty="0">
                <a:solidFill>
                  <a:srgbClr val="93C5FD"/>
                </a:solidFill>
              </a:rPr>
              <a:t>• </a:t>
            </a:r>
            <a:r>
              <a:rPr lang="en-US" sz="1700" dirty="0">
                <a:solidFill>
                  <a:srgbClr val="FFFFFF"/>
                </a:solidFill>
              </a:rPr>
              <a:t>Create one task and trace the request
</a:t>
            </a:r>
            <a:r>
              <a:rPr lang="en-US" sz="1700" b="1" dirty="0">
                <a:solidFill>
                  <a:srgbClr val="93C5FD"/>
                </a:solidFill>
              </a:rPr>
              <a:t>• </a:t>
            </a:r>
            <a:r>
              <a:rPr lang="en-US" sz="1700" dirty="0">
                <a:solidFill>
                  <a:srgbClr val="FFFFFF"/>
                </a:solidFill>
              </a:rPr>
              <a:t>Inspect the API payload and response
</a:t>
            </a:r>
            <a:r>
              <a:rPr lang="en-US" sz="1700" b="1" dirty="0">
                <a:solidFill>
                  <a:srgbClr val="93C5FD"/>
                </a:solidFill>
              </a:rPr>
              <a:t>• </a:t>
            </a:r>
            <a:r>
              <a:rPr lang="en-US" sz="1700" dirty="0">
                <a:solidFill>
                  <a:srgbClr val="FFFFFF"/>
                </a:solidFill>
              </a:rPr>
              <a:t>Show what happens when input is invalid</a:t>
            </a:r>
            <a:endParaRPr lang="en-US" sz="1700" dirty="0"/>
          </a:p>
        </p:txBody>
      </p:sp>
      <p:sp>
        <p:nvSpPr>
          <p:cNvPr id="7" name="Shape 5"/>
          <p:cNvSpPr/>
          <p:nvPr/>
        </p:nvSpPr>
        <p:spPr>
          <a:xfrm>
            <a:off x="6675120" y="1600200"/>
            <a:ext cx="3840480" cy="3611880"/>
          </a:xfrm>
          <a:prstGeom prst="roundRect">
            <a:avLst>
              <a:gd name="adj" fmla="val 2025"/>
            </a:avLst>
          </a:prstGeom>
          <a:solidFill>
            <a:srgbClr val="172554"/>
          </a:solidFill>
          <a:ln w="12700">
            <a:solidFill>
              <a:srgbClr val="2563EB"/>
            </a:solidFill>
            <a:prstDash val="solid"/>
          </a:ln>
        </p:spPr>
      </p:sp>
      <p:sp>
        <p:nvSpPr>
          <p:cNvPr id="8" name="Text 6"/>
          <p:cNvSpPr/>
          <p:nvPr/>
        </p:nvSpPr>
        <p:spPr>
          <a:xfrm>
            <a:off x="6995160" y="1965960"/>
            <a:ext cx="2560320" cy="201168"/>
          </a:xfrm>
          <a:prstGeom prst="rect">
            <a:avLst/>
          </a:prstGeom>
          <a:noFill/>
          <a:ln/>
        </p:spPr>
        <p:txBody>
          <a:bodyPr wrap="square" lIns="0" tIns="0" rIns="0" bIns="0" rtlCol="0" anchor="ctr"/>
          <a:lstStyle/>
          <a:p>
            <a:pPr marL="0" indent="0">
              <a:buNone/>
            </a:pPr>
            <a:r>
              <a:rPr lang="en-US" sz="1900" b="1" dirty="0">
                <a:solidFill>
                  <a:srgbClr val="FFFFFF"/>
                </a:solidFill>
              </a:rPr>
              <a:t>Watch for these three things</a:t>
            </a:r>
            <a:endParaRPr lang="en-US" sz="1900" dirty="0"/>
          </a:p>
        </p:txBody>
      </p:sp>
      <p:sp>
        <p:nvSpPr>
          <p:cNvPr id="9" name="Shape 7"/>
          <p:cNvSpPr/>
          <p:nvPr/>
        </p:nvSpPr>
        <p:spPr>
          <a:xfrm>
            <a:off x="6986016" y="2487168"/>
            <a:ext cx="841248" cy="347472"/>
          </a:xfrm>
          <a:prstGeom prst="roundRect">
            <a:avLst>
              <a:gd name="adj" fmla="val 13158"/>
            </a:avLst>
          </a:prstGeom>
          <a:solidFill>
            <a:srgbClr val="DBEAFE"/>
          </a:solidFill>
          <a:ln w="12700">
            <a:solidFill>
              <a:srgbClr val="2563EB"/>
            </a:solidFill>
            <a:prstDash val="solid"/>
          </a:ln>
        </p:spPr>
      </p:sp>
      <p:sp>
        <p:nvSpPr>
          <p:cNvPr id="10" name="Text 8"/>
          <p:cNvSpPr/>
          <p:nvPr/>
        </p:nvSpPr>
        <p:spPr>
          <a:xfrm>
            <a:off x="6986016" y="2587752"/>
            <a:ext cx="841248" cy="91440"/>
          </a:xfrm>
          <a:prstGeom prst="rect">
            <a:avLst/>
          </a:prstGeom>
          <a:noFill/>
          <a:ln/>
        </p:spPr>
        <p:txBody>
          <a:bodyPr wrap="square" lIns="0" tIns="0" rIns="0" bIns="0" rtlCol="0" anchor="ctr"/>
          <a:lstStyle/>
          <a:p>
            <a:pPr marL="0" indent="0" algn="ctr">
              <a:buNone/>
            </a:pPr>
            <a:r>
              <a:rPr lang="en-US" sz="1250" b="1" dirty="0">
                <a:solidFill>
                  <a:srgbClr val="0F172A"/>
                </a:solidFill>
              </a:rPr>
              <a:t>Flow</a:t>
            </a:r>
            <a:endParaRPr lang="en-US" sz="1250" dirty="0"/>
          </a:p>
        </p:txBody>
      </p:sp>
      <p:sp>
        <p:nvSpPr>
          <p:cNvPr id="11" name="Text 9"/>
          <p:cNvSpPr/>
          <p:nvPr/>
        </p:nvSpPr>
        <p:spPr>
          <a:xfrm>
            <a:off x="8028432" y="2569464"/>
            <a:ext cx="2103120" cy="164592"/>
          </a:xfrm>
          <a:prstGeom prst="rect">
            <a:avLst/>
          </a:prstGeom>
          <a:noFill/>
          <a:ln/>
        </p:spPr>
        <p:txBody>
          <a:bodyPr wrap="square" lIns="0" tIns="0" rIns="0" bIns="0" rtlCol="0" anchor="ctr"/>
          <a:lstStyle/>
          <a:p>
            <a:pPr marL="0" indent="0">
              <a:buNone/>
            </a:pPr>
            <a:r>
              <a:rPr lang="en-US" sz="1450" dirty="0">
                <a:solidFill>
                  <a:srgbClr val="CBD5E1"/>
                </a:solidFill>
              </a:rPr>
              <a:t>Where does the request move?</a:t>
            </a:r>
            <a:endParaRPr lang="en-US" sz="1450" dirty="0"/>
          </a:p>
        </p:txBody>
      </p:sp>
      <p:sp>
        <p:nvSpPr>
          <p:cNvPr id="12" name="Shape 10"/>
          <p:cNvSpPr/>
          <p:nvPr/>
        </p:nvSpPr>
        <p:spPr>
          <a:xfrm>
            <a:off x="6986016" y="3328416"/>
            <a:ext cx="841248" cy="347472"/>
          </a:xfrm>
          <a:prstGeom prst="roundRect">
            <a:avLst>
              <a:gd name="adj" fmla="val 13158"/>
            </a:avLst>
          </a:prstGeom>
          <a:solidFill>
            <a:srgbClr val="CCFBF1"/>
          </a:solidFill>
          <a:ln w="12700">
            <a:solidFill>
              <a:srgbClr val="14B8A6"/>
            </a:solidFill>
            <a:prstDash val="solid"/>
          </a:ln>
        </p:spPr>
      </p:sp>
      <p:sp>
        <p:nvSpPr>
          <p:cNvPr id="13" name="Text 11"/>
          <p:cNvSpPr/>
          <p:nvPr/>
        </p:nvSpPr>
        <p:spPr>
          <a:xfrm>
            <a:off x="6986016" y="3429000"/>
            <a:ext cx="841248" cy="91440"/>
          </a:xfrm>
          <a:prstGeom prst="rect">
            <a:avLst/>
          </a:prstGeom>
          <a:noFill/>
          <a:ln/>
        </p:spPr>
        <p:txBody>
          <a:bodyPr wrap="square" lIns="0" tIns="0" rIns="0" bIns="0" rtlCol="0" anchor="ctr"/>
          <a:lstStyle/>
          <a:p>
            <a:pPr marL="0" indent="0" algn="ctr">
              <a:buNone/>
            </a:pPr>
            <a:r>
              <a:rPr lang="en-US" sz="1250" b="1" dirty="0">
                <a:solidFill>
                  <a:srgbClr val="0F172A"/>
                </a:solidFill>
              </a:rPr>
              <a:t>Responsibility</a:t>
            </a:r>
            <a:endParaRPr lang="en-US" sz="1250" dirty="0"/>
          </a:p>
        </p:txBody>
      </p:sp>
      <p:sp>
        <p:nvSpPr>
          <p:cNvPr id="14" name="Text 12"/>
          <p:cNvSpPr/>
          <p:nvPr/>
        </p:nvSpPr>
        <p:spPr>
          <a:xfrm>
            <a:off x="8028432" y="3410712"/>
            <a:ext cx="2103120" cy="164592"/>
          </a:xfrm>
          <a:prstGeom prst="rect">
            <a:avLst/>
          </a:prstGeom>
          <a:noFill/>
          <a:ln/>
        </p:spPr>
        <p:txBody>
          <a:bodyPr wrap="square" lIns="0" tIns="0" rIns="0" bIns="0" rtlCol="0" anchor="ctr"/>
          <a:lstStyle/>
          <a:p>
            <a:pPr marL="0" indent="0">
              <a:buNone/>
            </a:pPr>
            <a:r>
              <a:rPr lang="en-US" sz="1450" dirty="0">
                <a:solidFill>
                  <a:srgbClr val="CBD5E1"/>
                </a:solidFill>
              </a:rPr>
              <a:t>What layer does what?</a:t>
            </a:r>
            <a:endParaRPr lang="en-US" sz="1450" dirty="0"/>
          </a:p>
        </p:txBody>
      </p:sp>
      <p:sp>
        <p:nvSpPr>
          <p:cNvPr id="15" name="Shape 13"/>
          <p:cNvSpPr/>
          <p:nvPr/>
        </p:nvSpPr>
        <p:spPr>
          <a:xfrm>
            <a:off x="6986016" y="4169664"/>
            <a:ext cx="841248" cy="347472"/>
          </a:xfrm>
          <a:prstGeom prst="roundRect">
            <a:avLst>
              <a:gd name="adj" fmla="val 13158"/>
            </a:avLst>
          </a:prstGeom>
          <a:solidFill>
            <a:srgbClr val="FEF3C7"/>
          </a:solidFill>
          <a:ln w="12700">
            <a:solidFill>
              <a:srgbClr val="F59E0B"/>
            </a:solidFill>
            <a:prstDash val="solid"/>
          </a:ln>
        </p:spPr>
      </p:sp>
      <p:sp>
        <p:nvSpPr>
          <p:cNvPr id="16" name="Text 14"/>
          <p:cNvSpPr/>
          <p:nvPr/>
        </p:nvSpPr>
        <p:spPr>
          <a:xfrm>
            <a:off x="6986016" y="4270248"/>
            <a:ext cx="841248" cy="91440"/>
          </a:xfrm>
          <a:prstGeom prst="rect">
            <a:avLst/>
          </a:prstGeom>
          <a:noFill/>
          <a:ln/>
        </p:spPr>
        <p:txBody>
          <a:bodyPr wrap="square" lIns="0" tIns="0" rIns="0" bIns="0" rtlCol="0" anchor="ctr"/>
          <a:lstStyle/>
          <a:p>
            <a:pPr marL="0" indent="0" algn="ctr">
              <a:buNone/>
            </a:pPr>
            <a:r>
              <a:rPr lang="en-US" sz="1250" b="1" dirty="0">
                <a:solidFill>
                  <a:srgbClr val="0F172A"/>
                </a:solidFill>
              </a:rPr>
              <a:t>Failure</a:t>
            </a:r>
            <a:endParaRPr lang="en-US" sz="1250" dirty="0"/>
          </a:p>
        </p:txBody>
      </p:sp>
      <p:sp>
        <p:nvSpPr>
          <p:cNvPr id="17" name="Text 15"/>
          <p:cNvSpPr/>
          <p:nvPr/>
        </p:nvSpPr>
        <p:spPr>
          <a:xfrm>
            <a:off x="8028432" y="4251960"/>
            <a:ext cx="2103120" cy="164592"/>
          </a:xfrm>
          <a:prstGeom prst="rect">
            <a:avLst/>
          </a:prstGeom>
          <a:noFill/>
          <a:ln/>
        </p:spPr>
        <p:txBody>
          <a:bodyPr wrap="square" lIns="0" tIns="0" rIns="0" bIns="0" rtlCol="0" anchor="ctr"/>
          <a:lstStyle/>
          <a:p>
            <a:pPr marL="0" indent="0">
              <a:buNone/>
            </a:pPr>
            <a:r>
              <a:rPr lang="en-US" sz="1450" dirty="0">
                <a:solidFill>
                  <a:srgbClr val="CBD5E1"/>
                </a:solidFill>
              </a:rPr>
              <a:t>What happens when input is bad?</a:t>
            </a:r>
            <a:endParaRPr lang="en-US" sz="1450" dirty="0"/>
          </a:p>
        </p:txBody>
      </p:sp>
      <p:sp>
        <p:nvSpPr>
          <p:cNvPr id="18" name="Text 16"/>
          <p:cNvSpPr/>
          <p:nvPr/>
        </p:nvSpPr>
        <p:spPr>
          <a:xfrm>
            <a:off x="777240" y="6336792"/>
            <a:ext cx="10652760" cy="164592"/>
          </a:xfrm>
          <a:prstGeom prst="rect">
            <a:avLst/>
          </a:prstGeom>
          <a:noFill/>
          <a:ln/>
        </p:spPr>
        <p:txBody>
          <a:bodyPr wrap="square" lIns="0" tIns="0" rIns="0" bIns="0" rtlCol="0" anchor="ctr"/>
          <a:lstStyle/>
          <a:p>
            <a:pPr marL="0" indent="0" algn="ctr">
              <a:buNone/>
            </a:pPr>
            <a:r>
              <a:rPr lang="en-US" sz="1200" dirty="0">
                <a:solidFill>
                  <a:srgbClr val="64748B"/>
                </a:solidFill>
              </a:rPr>
              <a:t>Day 2 next: Controllers, DTOs, validation, and service separation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2132</Words>
  <Application>Microsoft Office PowerPoint</Application>
  <PresentationFormat>Widescreen</PresentationFormat>
  <Paragraphs>237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 – Think Like a Full-Stack Engineer</dc:title>
  <dc:subject>Day 1 Full-Stack .NET 10 Bootcamp</dc:subject>
  <dc:creator>OpenAI</dc:creator>
  <cp:lastModifiedBy>Abdul  Rehman</cp:lastModifiedBy>
  <cp:revision>2</cp:revision>
  <dcterms:created xsi:type="dcterms:W3CDTF">2026-03-29T15:11:17Z</dcterms:created>
  <dcterms:modified xsi:type="dcterms:W3CDTF">2026-03-29T17:28:53Z</dcterms:modified>
</cp:coreProperties>
</file>